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8229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888888"/>
                </a:solidFill>
                <a:latin typeface="Times New Roman"/>
              </a:rPr>
              <a:t>MANAGEMENT INFORMATION SYSTEMS ·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14300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888888"/>
                </a:solidFill>
                <a:latin typeface="PMingLiU"/>
              </a:rPr>
              <a:t>資訊管理導論　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60320"/>
            <a:ext cx="96313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rFonts eastAsia="PMingLiU"/>
                <a:solidFill>
                  <a:srgbClr val="1A1A1A"/>
                </a:solidFill>
                <a:latin typeface="PMingLiU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40480"/>
            <a:ext cx="9631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1">
                <a:rFonts eastAsia="PMingLiU"/>
                <a:solidFill>
                  <a:srgbClr val="444444"/>
                </a:solidFill>
                <a:latin typeface="PMingLiU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846320"/>
            <a:ext cx="1097280" cy="635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502920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3949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林聿平　組員 A　組員 B　組員 C　組員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80644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1">
                <a:rFonts eastAsia="PMingLiU"/>
                <a:solidFill>
                  <a:srgbClr val="888888"/>
                </a:solidFill>
                <a:latin typeface="PMingLiU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目錄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21488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560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5603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管理層看不見「正在發生什麼」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443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443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944368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三個模組對應三個問題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2841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32841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員工負載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2841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把分散訊號加總為一個分數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124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712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組織健康度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1246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六維體檢看哪邊凹下去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965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9651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決策影響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096512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扣掉大盤，看真實貢獻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80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方法論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整合管理層意見 → 等價關係 → 弱先驗 → 校準 → 敏感度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646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VII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864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亮點功能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864608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智能搜尋 · What-if · 部門網絡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486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VIII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24865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競品分析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24865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為什麼不用 Asana / Notion / Viva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6327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6327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效益與限制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563270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誠實揭露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管理層每天面對的問題其實只有三個。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rFonts eastAsia="PMingLiU"/>
                <a:solidFill>
                  <a:srgbClr val="1A1A1A"/>
                </a:solidFill>
                <a:latin typeface="PMingLiU"/>
              </a:rPr>
              <a:t>誰快撐不住了？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42900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員工負載靠主管「感覺」，沒有客觀指標。資深主管報喜不報憂、新手主管把正常忙誤判成爆掉。每個主管的「忙」標準不同，導致資源無法跨部門公平分配。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20624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rFonts eastAsia="PMingLiU"/>
                <a:solidFill>
                  <a:srgbClr val="1A1A1A"/>
                </a:solidFill>
                <a:latin typeface="PMingLiU"/>
              </a:rPr>
              <a:t>組織哪裡卡住了？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61772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跨部門卡點分散在週報、Email、Line 群組裡。管理層必須逐一追問才能拼出全貌，往往發現時已經拖了四週。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3949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rFonts eastAsia="PMingLiU"/>
                <a:solidFill>
                  <a:srgbClr val="1A1A1A"/>
                </a:solidFill>
                <a:latin typeface="PMingLiU"/>
              </a:rPr>
              <a:t>我這個決策有效嗎？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管理層每週做出大量決策，但事後幾乎沒有評估流程。下次遇到類似情況又憑直覺做一次，組織學不到任何東西。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三個問題拆成三個模組，每個都有可解釋的數據產出。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rFonts eastAsia="PMingLiU"/>
                <a:solidFill>
                  <a:srgbClr val="1A1A1A"/>
                </a:solidFill>
                <a:latin typeface="PMingLiU"/>
              </a:rPr>
              <a:t>員工負載分析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rFonts eastAsia="PMingLiU"/>
                <a:solidFill>
                  <a:srgbClr val="1E40AF"/>
                </a:solidFill>
                <a:latin typeface="PMingLiU"/>
              </a:rPr>
              <a:t>— 誰快撐不住了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31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把卡點、案件、交接、被提及四種訊號加權合計，配合時間衰減算分。產出是一張彩色長條圖，三秒看完全公司負載。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6908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rFonts eastAsia="PMingLiU"/>
                <a:solidFill>
                  <a:srgbClr val="888888"/>
                </a:solidFill>
                <a:latin typeface="PMingLiU"/>
              </a:rPr>
              <a:t>演算法　經驗百分位 · 時間衰減 · Gini 不均度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4348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rFonts eastAsia="PMingLiU"/>
                <a:solidFill>
                  <a:srgbClr val="1A1A1A"/>
                </a:solidFill>
                <a:latin typeface="PMingLiU"/>
              </a:rPr>
              <a:t>組織健康度雷達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44348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rFonts eastAsia="PMingLiU"/>
                <a:solidFill>
                  <a:srgbClr val="1E40AF"/>
                </a:solidFill>
                <a:latin typeface="PMingLiU"/>
              </a:rPr>
              <a:t>— 哪裡卡住了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800600"/>
            <a:ext cx="9631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六個面向同時體檢（流動、卡點、決策、健康、負載、溝通），加權加總。產出是一張雷達圖加本週優先改善清單。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4864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rFonts eastAsia="PMingLiU"/>
                <a:solidFill>
                  <a:srgbClr val="888888"/>
                </a:solidFill>
                <a:latin typeface="PMingLiU"/>
              </a:rPr>
              <a:t>演算法　六維加權評分 · 不對稱偵測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8521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rFonts eastAsia="PMingLiU"/>
                <a:solidFill>
                  <a:srgbClr val="1A1A1A"/>
                </a:solidFill>
                <a:latin typeface="PMingLiU"/>
              </a:rPr>
              <a:t>決策影響評估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852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rFonts eastAsia="PMingLiU"/>
                <a:solidFill>
                  <a:srgbClr val="1E40AF"/>
                </a:solidFill>
                <a:latin typeface="PMingLiU"/>
              </a:rPr>
              <a:t>— 決策有效嗎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6217920"/>
            <a:ext cx="9631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決策前後拍快照，扣掉「同期大盤本來會走到的位置」，得到相對表現。對應經濟學的 Difference-in-Differences 方法。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90372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rFonts eastAsia="PMingLiU"/>
                <a:solidFill>
                  <a:srgbClr val="888888"/>
                </a:solidFill>
                <a:latin typeface="PMingLiU"/>
              </a:rPr>
              <a:t>演算法　同期校準 (DiD) · 線性回歸基準漂移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III.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員工負載分析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把分散在週報與交接中的工作訊號，加總為一個可比較的分數。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rFonts eastAsia="PMingLiU"/>
                <a:solidFill>
                  <a:srgbClr val="1E40AF"/>
                </a:solidFill>
                <a:latin typeface="Times New Roman"/>
              </a:rPr>
              <a:t>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08960"/>
            <a:ext cx="90827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rFonts eastAsia="PMingLiU"/>
                <a:solidFill>
                  <a:srgbClr val="555555"/>
                </a:solidFill>
                <a:latin typeface="PMingLiU"/>
              </a:rPr>
              <a:t>我們組 17 個人，到底誰最操？我問了一圈，每個人都說自己很忙。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888888"/>
                </a:solidFill>
                <a:latin typeface="PMingLiU"/>
              </a:rPr>
              <a:t>— 林經理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0624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5262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rFonts eastAsia="PMingLiU"/>
                <a:solidFill>
                  <a:srgbClr val="1A1A1A"/>
                </a:solidFill>
                <a:latin typeface="Times New Roman"/>
              </a:rPr>
              <a:t>Load  =  Σᵢ  wᵢ · Countᵢ · e^(−tᵢ/14)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02920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每件事 × 重要性權重 × 時間衰減（半衰期 14 天，源自 Andy Grove 管理週期）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55778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A1A1A"/>
                </a:solidFill>
                <a:latin typeface="PMingLiU"/>
              </a:rPr>
              <a:t>時間衰減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760720"/>
            <a:ext cx="7345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本週 1.0、1 週前 0.7、2 週前 0.4、3 週前 0.15、4 週後歸零。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6263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A1A1A"/>
                </a:solidFill>
                <a:latin typeface="PMingLiU"/>
              </a:rPr>
              <a:t>經驗百分位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6263640"/>
            <a:ext cx="7345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把絕對分數換成全公司排名百分比 — 林聿平 10.5 分對應 percentile 100%。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766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A1A1A"/>
                </a:solidFill>
                <a:latin typeface="PMingLiU"/>
              </a:rPr>
              <a:t>Gini 不均度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6766560"/>
            <a:ext cx="7345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全員負載分佈的不平均程度，&gt; 0.35 觸發「分配不均」警示。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IV.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組織健康度雷達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把六個獨立指標加權成單一健康度分數，雷達圖視覺呈現。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業績是落後指標，等財報出來再修就晚了。我們提前看『過程指標』——流動性、卡點密度、決策效率、成員健康、負載均衡、溝通對稱六個面向，用加權平均算出 0-100 的組織健康度分數。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48056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DIMENSIONS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流動性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846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工作能否流轉的核心指標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212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成員健康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5212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5212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員工負載分佈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7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卡點密度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577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18%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5778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P95+ 卡點越少越健康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943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溝通對稱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部門互動雙向程度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6309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決策效率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63093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6309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逾期決策越少越好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66751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負載均衡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6675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E40AF"/>
                </a:solidFill>
                <a:latin typeface="Times New Roman"/>
              </a:rPr>
              <a:t>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6751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Gini + 過載人數複合警示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決策影響評估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扣掉「大盤本來會走到的位置」，得到該決策的真實貢獻。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rFonts eastAsia="PMingLiU"/>
                <a:solidFill>
                  <a:srgbClr val="1E40AF"/>
                </a:solidFill>
                <a:latin typeface="Times New Roman"/>
              </a:rPr>
              <a:t>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08960"/>
            <a:ext cx="90827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rFonts eastAsia="PMingLiU"/>
                <a:solidFill>
                  <a:srgbClr val="555555"/>
                </a:solidFill>
                <a:latin typeface="PMingLiU"/>
              </a:rPr>
              <a:t>我做了 5 個決策，系統說影響都是負的？可是這季大盤本來就跌啊。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888888"/>
                </a:solidFill>
                <a:latin typeface="PMingLiU"/>
              </a:rPr>
              <a:t>— 部門主管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0624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FORMULA · DIFFERENCE-IN-DIFFERENCES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5262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rFonts eastAsia="PMingLiU"/>
                <a:solidFill>
                  <a:srgbClr val="1A1A1A"/>
                </a:solidFill>
                <a:latin typeface="Times New Roman"/>
              </a:rPr>
              <a:t>adjustedΔ  =  (after − before)  −  β ·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02920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β 來自過去 12 週健康度的線性回歸斜率，t 是決策期間天數。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562356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80644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EXAMPLE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6126480"/>
            <a:ext cx="963137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PMingLiU"/>
              </a:rPr>
              <a:t>主管 A 健康度從 72 → 68，原始差 −4 看似糟糕。但同期大盤下滑 −13.5。adjustedΔ = −4 − (−13.5) = +9.5。大環境該讓你掉 13.5 分，你只掉 4 分，這 9.5 分的差距就是你的真實貢獻。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VI.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為什麼我們的人工參數不是憑空捏的 — 五階段反推校準。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E40AF"/>
                </a:solidFill>
                <a:latin typeface="Times New Roman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17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整合管理層意見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017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rFonts eastAsia="PMingLiU"/>
                <a:solidFill>
                  <a:srgbClr val="444444"/>
                </a:solidFill>
                <a:latin typeface="PMingLiU"/>
              </a:rPr>
              <a:t>— 決定方向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83280"/>
            <a:ext cx="90827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透過與管理層的訪談與業界文獻交叉驗證，整合出訊號重要性排序。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9319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E40AF"/>
                </a:solidFill>
                <a:latin typeface="Times New Roman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等價關係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rFonts eastAsia="PMingLiU"/>
                <a:solidFill>
                  <a:srgbClr val="444444"/>
                </a:solidFill>
                <a:latin typeface="PMingLiU"/>
              </a:rPr>
              <a:t>— 決定初始尺度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90827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把抽象重要性翻成可比較的比例（如「一件卡點 ≈ 2.5 件案件」）。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E40AF"/>
                </a:solidFill>
                <a:latin typeface="Times New Roman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弱先驗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rFonts eastAsia="PMingLiU"/>
                <a:solidFill>
                  <a:srgbClr val="444444"/>
                </a:solidFill>
                <a:latin typeface="PMingLiU"/>
              </a:rPr>
              <a:t>— 不要一開始放大膽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212080"/>
            <a:ext cx="90827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依排序給小差距（1.3 : 1.2 : 1.1 : 1.0），保留資料校準空間。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760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E40AF"/>
                </a:solidFill>
                <a:latin typeface="Times New Roman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60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測資校準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760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rFonts eastAsia="PMingLiU"/>
                <a:solidFill>
                  <a:srgbClr val="444444"/>
                </a:solidFill>
                <a:latin typeface="PMingLiU"/>
              </a:rPr>
              <a:t>— 決定調整幅度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126480"/>
            <a:ext cx="90827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用 SEED 與極端測資跑排序，看哪些案例被低估／高估，反推調整。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66751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E40AF"/>
                </a:solidFill>
                <a:latin typeface="Times New Roman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675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敏感度確認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675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rFonts eastAsia="PMingLiU"/>
                <a:solidFill>
                  <a:srgbClr val="444444"/>
                </a:solidFill>
                <a:latin typeface="PMingLiU"/>
              </a:rPr>
              <a:t>— 確認穩定性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7040880"/>
            <a:ext cx="90827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權重 ±20% 隨機擾動 500 次，Top-3 穩定 93.4%、Spearman ρ = 0.995。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VII.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智能搜尋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輸入「太洋」找得到「太洋證券法律意見書」— BM25F 加中文特化。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搜尋的核心是 BM25F — 資訊檢索領域 50 年標準演算法，業界 Elasticsearch、Lucene、Notion 全用這套。我們在上面加了三層中文特化：n-gram 多粒度斷詞、子字串加成、同義詞合併。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1148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FORMULA · BM25F (SIMPLIFIED)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348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rFonts eastAsia="PMingLiU"/>
                <a:solidFill>
                  <a:srgbClr val="1A1A1A"/>
                </a:solidFill>
                <a:latin typeface="Times New Roman"/>
              </a:rPr>
              <a:t>score  =  Σ  wᶠ · IDF · TF / (TF + k₁(1 − b + b · dl/avgdl))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9377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欄位加權 × 詞稀有度 × 詞頻飽和 × 長度修正　·　k₁ = 1.5, b = 0.75 (Lucene 預設)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553212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7150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FIELD WEIGHTS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03504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rFonts eastAsia="PMingLiU"/>
                <a:solidFill>
                  <a:srgbClr val="1A1A1A"/>
                </a:solidFill>
                <a:latin typeface="PMingLiU"/>
              </a:rPr>
              <a:t>標題 5 · 標籤 4 · 摘要 2 · 結論 1.5 · 負責人 1 · 內文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640080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比例反映「資訊密度」— 標題濃縮整個案件意圖，留言通常離題。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VIII.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What-if 模擬器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在不影響實際資料的情況下，預先試算各種介入的健康度影響。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管理層常面臨「不知道做了之後會不會更好」的決策困境。What-if 模擬器讓使用者調整四種介入，即時看到模擬後的健康度雷達圖對比，決定值不值得真的去執行。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1148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FOUR LEVERS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5262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526280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勾選哪些卡點假設已解決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9377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加速決策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937760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勾選哪些逾期決策假設立刻完成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3492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簽收交接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349240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勾選哪些交接假設立刻簽收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760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rFonts eastAsia="PMingLiU"/>
                <a:solidFill>
                  <a:srgbClr val="1A1A1A"/>
                </a:solidFill>
                <a:latin typeface="PMingLiU"/>
              </a:rPr>
              <a:t>降低負載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760720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對特定員工拉滑桿減 0-80%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62636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644652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VERDICT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766560"/>
            <a:ext cx="9631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Δ &gt; 5 「強烈建議執行」 ·  0 ~ 5 「微改善」 ·  Δ &lt; −5 「不建議」。技術上用 React 19 useDeferredValue 確保拖滑桿時不卡 UI。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部門互動網絡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從圖論看「誰在單方面追著誰跑」— 不對稱互動即組織卡點訊號。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300" b="0" i="0">
                <a:rFonts eastAsia="PMingLiU"/>
                <a:solidFill>
                  <a:srgbClr val="444444"/>
                </a:solidFill>
                <a:latin typeface="PMingLiU"/>
              </a:rPr>
              <a:t>健康的部門互動是雙向的（A 問 B 五次、B 也回 A 五次）。不健康的長這樣：A 問 B 九次、B 只回 A 一次 — A 在追、B 在躲。我們用統計閾值自動標出這類關係。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1148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348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rFonts eastAsia="PMingLiU"/>
                <a:solidFill>
                  <a:srgbClr val="1A1A1A"/>
                </a:solidFill>
                <a:latin typeface="Times New Roman"/>
              </a:rPr>
              <a:t>Δ  =  (A → B)  −  (B → A)　·　閾值  =  1σ  ≈  5 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9377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rFonts eastAsia="PMingLiU"/>
                <a:solidFill>
                  <a:srgbClr val="444444"/>
                </a:solidFill>
                <a:latin typeface="PMingLiU"/>
              </a:rPr>
              <a:t>經驗分佈標準差 σ ≈ 4.8，取 5 抓 top 16% 不平衡（對應 z-score &gt; 1）。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553212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71500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rFonts eastAsia="PMingLiU"/>
                <a:solidFill>
                  <a:srgbClr val="1E40AF"/>
                </a:solidFill>
                <a:latin typeface="Times New Roman"/>
              </a:rPr>
              <a:t>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03504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主管心中有 3 對「卡」的部門，系統自動抓出 2 對（Recall 67%）。抓到的全部正確（Precision 100%）。學理對標 Burt《Structural Holes》(1992)。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競品分析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現成工具解任務，卻不解「決策」— 為什麼不用 Asana / Notion / Viva。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1089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1089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rFonts eastAsia="PMingLiU"/>
                <a:solidFill>
                  <a:srgbClr val="1E40AF"/>
                </a:solidFill>
                <a:latin typeface="PMingLiU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1089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1089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089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1089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1089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rFonts eastAsia="PMingLiU"/>
                <a:solidFill>
                  <a:srgbClr val="444444"/>
                </a:solidFill>
                <a:latin typeface="PMingLiU"/>
              </a:rPr>
              <a:t>Excel +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520440"/>
            <a:ext cx="9631375" cy="63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657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657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4041648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114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114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1148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1148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1148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1148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114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4498848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572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5720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45720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5720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5720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572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0160" y="4956048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5029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029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50292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50292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0292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50292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5029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80160" y="5413248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80160" y="5486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160" y="54864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5486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52160" y="5486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5486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5486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54864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80160" y="5870448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80160" y="5943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A1A1A"/>
                </a:solidFill>
                <a:latin typeface="PMingLiU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943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rFonts eastAsia="PMingLiU"/>
                <a:solidFill>
                  <a:srgbClr val="1E40AF"/>
                </a:solidFill>
                <a:latin typeface="Times New Roman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5943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5943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5943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5943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5943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444444"/>
                </a:solidFill>
                <a:latin typeface="Times New Roman"/>
              </a:rPr>
              <a:t>免費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658368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00" b="0" i="1">
                <a:rFonts eastAsia="PMingLiU"/>
                <a:solidFill>
                  <a:srgbClr val="888888"/>
                </a:solidFill>
                <a:latin typeface="PMingLiU"/>
              </a:rPr>
              <a:t>●  完整支援　 ◐  部分支援　 ○  不支援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XI.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技術架構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前端即時 · 後端輕量 · 雲端託管。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1752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1A1A1A"/>
                </a:solidFill>
                <a:latin typeface="PMingLiU"/>
              </a:rPr>
              <a:t>React 19  ·  TypeScript  ·  Vite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33756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444444"/>
                </a:solidFill>
                <a:latin typeface="PMingLiU"/>
              </a:rPr>
              <a:t>Tailwind v4  ·  Recharts  ·  Framer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Data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88620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1A1A1A"/>
                </a:solidFill>
                <a:latin typeface="PMingLiU"/>
              </a:rPr>
              <a:t>Firebase Auth  ·  Cloud Firestore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0624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444444"/>
                </a:solidFill>
                <a:latin typeface="PMingLiU"/>
              </a:rPr>
              <a:t>即時訂閱 · 離線同步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754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Algorithms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5488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1A1A1A"/>
                </a:solidFill>
                <a:latin typeface="PMingLiU"/>
              </a:rPr>
              <a:t>BM25F  ·  Gini  ·  Empirical Percentile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07492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444444"/>
                </a:solidFill>
                <a:latin typeface="PMingLiU"/>
              </a:rPr>
              <a:t>Cohort Regression  ·  全部純前端計算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23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rFonts eastAsia="PMingLiU"/>
                <a:solidFill>
                  <a:srgbClr val="1E40AF"/>
                </a:solidFill>
                <a:latin typeface="Times New Roman"/>
              </a:rPr>
              <a:t>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62356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rFonts eastAsia="PMingLiU"/>
                <a:solidFill>
                  <a:srgbClr val="1A1A1A"/>
                </a:solidFill>
                <a:latin typeface="PMingLiU"/>
              </a:rPr>
              <a:t>Vercel  ·  GitHub 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943600"/>
            <a:ext cx="7619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rFonts eastAsia="PMingLiU"/>
                <a:solidFill>
                  <a:srgbClr val="444444"/>
                </a:solidFill>
                <a:latin typeface="PMingLiU"/>
              </a:rPr>
              <a:t>CI / CD 自動部署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XII.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從「主管直覺」到「數據共識」。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rFonts eastAsia="PMingLiU"/>
                <a:solidFill>
                  <a:srgbClr val="1E40AF"/>
                </a:solidFill>
                <a:latin typeface="Times New Roman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90672"/>
            <a:ext cx="7619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429000"/>
            <a:ext cx="7619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原本：跟 17 人輪流訪談 30 分鐘　·　現在：打開儀表板 90 秒掃完。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9776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rFonts eastAsia="PMingLiU"/>
                <a:solidFill>
                  <a:srgbClr val="1E40AF"/>
                </a:solidFill>
                <a:latin typeface="Times New Roman"/>
              </a:rPr>
              <a:t>67%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050792"/>
            <a:ext cx="7619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自動抓到卡點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389120"/>
            <a:ext cx="7619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原本：主管心中的卡點靠記憶　·　現在：系統幫你抓出 2/3。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9377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rFonts eastAsia="PMingLiU"/>
                <a:solidFill>
                  <a:srgbClr val="1E40AF"/>
                </a:solidFill>
                <a:latin typeface="Times New Roman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10912"/>
            <a:ext cx="7619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決策被回看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349240"/>
            <a:ext cx="7619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原本：做完就忘、下次照樣憑感覺　·　現在：每個決策強制事後評估。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8978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rFonts eastAsia="PMingLiU"/>
                <a:solidFill>
                  <a:srgbClr val="1E40AF"/>
                </a:solidFill>
                <a:latin typeface="Times New Roman"/>
              </a:rPr>
              <a:t>0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971032"/>
            <a:ext cx="7619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授權成本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6309360"/>
            <a:ext cx="7619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rFonts eastAsia="PMingLiU"/>
                <a:solidFill>
                  <a:srgbClr val="444444"/>
                </a:solidFill>
                <a:latin typeface="PMingLiU"/>
              </a:rPr>
              <a:t>全用開源 + Firebase 免費額度，中型公司可零成本試用。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XIII.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rFonts eastAsia="PMingLiU"/>
                <a:solidFill>
                  <a:srgbClr val="1A1A1A"/>
                </a:solidFill>
                <a:latin typeface="PMingLiU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rFonts eastAsia="PMingLiU"/>
                <a:solidFill>
                  <a:srgbClr val="444444"/>
                </a:solidFill>
                <a:latin typeface="PMingLiU"/>
              </a:rPr>
              <a:t>誠實揭露 — 我們知道哪裡還不夠好。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60604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1752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— SEED 並非真實資料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83280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所有參數都在團隊模擬資料上校準。下個階段需取得真實公司資料重跑反推。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6908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— 無外部 ground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434840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週報品質、搜尋準確度尚未跟真實主管標註比對，目前僅做內部一致性測試。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12064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— 樣本量級偏小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486400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17 員工的 percentile 與 Gini 有統計雜訊。保留是為了未來放大至 100+ 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1722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rFonts eastAsia="PMingLiU"/>
                <a:solidFill>
                  <a:srgbClr val="1A1A1A"/>
                </a:solidFill>
                <a:latin typeface="PMingLiU"/>
              </a:rPr>
              <a:t>— 週報品質用字數當代理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6537960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rFonts eastAsia="PMingLiU"/>
                <a:solidFill>
                  <a:srgbClr val="444444"/>
                </a:solidFill>
                <a:latin typeface="PMingLiU"/>
              </a:rPr>
              <a:t>無法分辨「精準 80 字」與「灌水 80 字」。已有有寫卡點欄位的補救機制，但只能擋懶人型灌水。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273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i="0">
                <a:rFonts eastAsia="PMingLiU"/>
                <a:solidFill>
                  <a:srgbClr val="888888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96313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rFonts eastAsia="PMingLiU"/>
                <a:solidFill>
                  <a:srgbClr val="1E40AF"/>
                </a:solidFill>
                <a:latin typeface="Times New Roman"/>
              </a:rPr>
              <a:t>XIV.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31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rFonts eastAsia="PMingLiU"/>
                <a:solidFill>
                  <a:srgbClr val="1A1A1A"/>
                </a:solidFill>
                <a:latin typeface="PMingLiU"/>
              </a:rPr>
              <a:t>結語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2057400"/>
            <a:ext cx="9631375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017520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rFonts eastAsia="PMingLiU"/>
                <a:solidFill>
                  <a:srgbClr val="1A1A1A"/>
                </a:solidFill>
                <a:latin typeface="PMingLiU"/>
              </a:rPr>
              <a:t>工程現實 ≠ 學術理想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206240"/>
            <a:ext cx="1097280" cy="635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480560"/>
            <a:ext cx="96313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800" b="0" i="1">
                <a:rFonts eastAsia="PMingLiU"/>
                <a:solidFill>
                  <a:srgbClr val="444444"/>
                </a:solidFill>
                <a:latin typeface="PMingLiU"/>
              </a:rPr>
              <a:t>比起完美的公式，我們更相信可以解釋的數字。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6035040"/>
            <a:ext cx="9631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1000" b="0" i="1">
                <a:rFonts eastAsia="PMingLiU"/>
                <a:solidFill>
                  <a:srgbClr val="888888"/>
                </a:solidFill>
                <a:latin typeface="Times New Roman"/>
              </a:rPr>
              <a:t>串連系統 v2.2  ·  資管導論 第 13 組  ·  2026 年 5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