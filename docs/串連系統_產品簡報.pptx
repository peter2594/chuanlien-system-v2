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串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CHUANLIEN SYSTEM · v2.2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串連系統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投資公司管理層決策輔助系統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1371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用恰當的演算法，解決管理層真正的痛點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資管導論 第 13 組  ·  React 19 + TypeScript + Firebase  ·  25 演算法整合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0" y="6035040"/>
            <a:ext cx="109728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0" y="6035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v2.2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管理層每天面對的問題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痛點是什麼？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⏰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時間少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董事長 / COO 每天行程滿，沒時間翻 50 頁報表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🔀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資料散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週報、交接、決策、卡點…散在不同地方，沒有整合視角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❓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看不清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卡點到底嚴重嗎？員工負載合理嗎？沒有量化標準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2286000"/>
            <a:ext cx="26060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28600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32688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難決策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2688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做決策前不知道後果，做完後也不知道有沒有改善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我們需要一個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懂演算法、會自動整合、可以解釋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的決策輔助平台。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解法概觀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 個整合模組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從週報到決策，從卡點到雷達，全部聯動。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管理層摘要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WeeklyReport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週報填寫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265176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Handoff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案件交接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06640" y="265176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決策追蹤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92640" y="265176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EmployeeLoad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0" y="3291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員工負載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歷史搜尋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834640" y="434340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BlockerAnalytics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卡點分析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20640" y="4343400"/>
            <a:ext cx="2103120" cy="14173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OrgAnalytics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組織網絡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406640" y="4343400"/>
            <a:ext cx="21031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MeetingPrep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會議準備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92640" y="4343400"/>
            <a:ext cx="2103120" cy="1417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4572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WhatIf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983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決策模擬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核心設計哲學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為什麼不用 LLM？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資料量小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23591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 筆歷史案、200 筆週報。BM25F 比 Embedding 更可靠。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0815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可解釋性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1363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管理層需要知道「為什麼推薦這筆」，LLM 是黑盒。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8587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機密敏感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17520" y="39136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投資資料不能送 cloud API，全部前端 + 自有 Firebase。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636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計算成本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17520" y="46908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O(N) 或 O(N log N)，瀏覽器毫秒級完成。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54132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確定性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017520" y="54681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相同輸入永遠回傳相同結果，LLM 有 stochasticity。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2103120"/>
            <a:ext cx="256032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9326880" y="29260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用恰當的演算法，解決恰當規模的問題。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0" y="5486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串連系統設計哲學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組織健康度雷達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維 × 12 週趨勢 × 拐點偵測 × 點擊事件 inline 展開</a:t>
            </a:r>
            <a:endParaRPr lang="en-US" sz="1600" dirty="0"/>
          </a:p>
        </p:txBody>
      </p:sp>
      <p:pic>
        <p:nvPicPr>
          <p:cNvPr id="7" name="Image 0" descr="docs/images/10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260604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卡點健康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2104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22%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P95+ 卡點越少越健康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324612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3108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決策及時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2104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18%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6656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逾期決策越少越健康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388620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交接流暢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2104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15%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65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待簽收逾時越少越健康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452628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4389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負載均衡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2104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18%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6656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Gini &lt; 0.35 為健康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516636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部門協作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21040" y="5029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76656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雙向溝通對稱為健康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580644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766560" y="5669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週報品質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21040" y="5669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15%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繳交率 + 內容深度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BM25F 智能案件推薦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Elasticsearch / Lucene 同款演算法，推薦過去 3 筆最相似案件</a:t>
            </a:r>
            <a:endParaRPr lang="en-US" sz="1600" dirty="0"/>
          </a:p>
        </p:txBody>
      </p:sp>
      <p:pic>
        <p:nvPicPr>
          <p:cNvPr id="7" name="Image 0" descr="docs/images/01_bm25_t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246888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TF 飽和函數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 5 次 vs 50 次，相關性差距收斂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20040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欄位權重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665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 ×5、標籤 ×4、內文 ×1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393192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1+2+3-gram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6656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中文無詞界，混合切詞精準召回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466344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4663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同義詞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66560" y="4983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募資 ≈ 融資 ≈ DD ≈ Due Diligence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結果：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 / 交接展開時，自動跑 BM25F 推薦過去 3 筆最相似案件 + 平均解決天數，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把搜尋從被動工具變成主動決策輔助。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What-if 決策模擬器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做決策前，先看後果。</a:t>
            </a:r>
            <a:endParaRPr lang="en-US" sz="1800" dirty="0"/>
          </a:p>
        </p:txBody>
      </p:sp>
      <p:pic>
        <p:nvPicPr>
          <p:cNvPr id="7" name="Image 0" descr="docs/images/14_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0"/>
            <a:ext cx="685800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Δ-Score 建議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80960" y="3108960"/>
            <a:ext cx="13716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≥ +5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897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顯著改善 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3657600"/>
            <a:ext cx="1371600" cy="4572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+2~+5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897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可考慮執行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206240"/>
            <a:ext cx="1371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−2~+2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897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影響不大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80960" y="4754880"/>
            <a:ext cx="1371600" cy="457200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−5~−2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8972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需評估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80960" y="5303520"/>
            <a:ext cx="13716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≤ −5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不建議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亮點四（v2.2 學術創舉）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Cohort Adjustment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解決「全部決策都被冤枉變負分」的因果歸因問題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⚠️ 問題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若整體組織趨勢下滑期間，所有決策的 delta 都會被冤枉變成負分。例如：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0352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原本（v2.1）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after − before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54 − 90 = −36 ❌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決策被冤枉：其實整體大環境本來就在惡化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解法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12 週線性回歸算大盤每日漂移率，扣掉「同期基準漂移」：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611880"/>
            <a:ext cx="530352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03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新版（v2.2 Cohort Adjustment）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adjustedDelta = decisionDelta − baselineDrift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= −36 − (−42) = +6 ✓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決策實際上比基準好 6 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🎓 答辯關鍵字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大環境在掉、決策幫忙少掉 → 「逆境止血」；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大環境在漲、決策漲得比大盤慢 → 「順風失職」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技術深度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25 個演算法分 7 類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資訊檢索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BM25F、RSJ IDF、n-gram、Substring、同義詞、Cosine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731520" cy="5029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統計分析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Empirical Percentile、Gini、敘述統計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時間序列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 Decay、asOf Snapshot、Local Minima、Weekly Series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73152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94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加權評分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 Score、ORI、Health 6D、Decision Impact、Leader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731520" cy="5029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89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6304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圖論網絡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Adjacency Matrix、Force-directed、Asymmetric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73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983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6304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狀態判定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74720" y="5074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Helpers、Risk/Load/Health Level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731520" cy="502920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577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預測模擬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47472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Simulation、Smart Suggestion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視覺化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 週趨勢 + 拐點偵測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點任一週 → 顯示當週發生的事件 → 點事件 → inline 展開實際清單</a:t>
            </a:r>
            <a:endParaRPr lang="en-US" sz="1600" dirty="0"/>
          </a:p>
        </p:txBody>
      </p:sp>
      <p:pic>
        <p:nvPicPr>
          <p:cNvPr id="7" name="Image 0" descr="docs/images/07_local_mini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73152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00684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自動偵測 V 型谷底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00684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雙邊閾值 −3 分過濾雜訊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37490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0068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點擊 pin 住事件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06840" y="4114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顯示該週的卡點/決策/負載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0" y="50292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00684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Inline 展開清單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06840" y="5394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不用跳頁就看到實際項目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整體框架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Plan → Decide → Track → Learn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從現況觀察到決策模擬，從執行追蹤到效益回饋，形成完整閉環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Plan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規劃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840480"/>
            <a:ext cx="256032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卡點分析 + 員工負載 + 組織健康度 看現狀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4389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2062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Decide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840480"/>
            <a:ext cx="256032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模擬器 決策前看後果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4389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A3B7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B7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Track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執行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40480"/>
            <a:ext cx="2560320" cy="109728"/>
          </a:xfrm>
          <a:prstGeom prst="rect">
            <a:avLst/>
          </a:prstGeom>
          <a:solidFill>
            <a:srgbClr val="2A3B7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決策追蹤 + 案件交接 + 週報填寫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389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1440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987552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Learn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7552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學習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0" y="384048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3840480"/>
            <a:ext cx="256032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4114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Impact 量化效益 + Leader 排行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下次做決策時 → 系統用過去的 Impact 推薦類似類型 → 自我強化的決策智慧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工程品質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 件 Bug 修復記錄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v2.0 → v2.2，跨頁面數據一致性、邊界保護、設計優化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36576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9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v2.1 系統性修復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跨頁面數據一致性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4688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365760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45262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v2.2 進階修復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Cohort + asOf + Deferred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468880"/>
            <a:ext cx="36576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</a:t>
            </a:r>
            <a:endParaRPr lang="en-US" sz="960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目前剩餘 bug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全部解掉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關鍵修復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B5 ★ analyzeBlockerRecord 接受 asOf 參數，歷史快照才會準確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 ★ 統一逾期判定邏輯，所有頁面用同一個 helper 函式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v2.2 ★ Decision Impact 加 Cohort Adjustment，告別「全部負分」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 個 demo 重點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讓教授親自感受演算法的價值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組織健康度雷達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→ 滾到組織健康度卡片 → 點 12 週趨勢線的拐點 → 看當週事件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智能案件推薦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卡點分析 → 點田宮電機 → 滾到底部紫色推薦區 → 點過去類似案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What-if 模擬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8912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決策模擬 → 勾「解掉田宮電機」 → 看右側雷達從現況到模擬後變化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4681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歷史搜尋 BM25F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4754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歷史搜尋 → 輸入「東京中央銀行」→ 看到精準排序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3040" y="5413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員工負載週次切換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89120" y="5486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員工負載 → 切到「5 週前」→ 看過載員工名單會變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Chuanlien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謝謝聆聽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 條設計哲學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「資料越少，演算法的選擇越重要。」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「跨頁面的一致性，比單頁的炫技更重要。」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「能解釋的演算法，比準確 1% 的黑盒更值錢。」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3657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19 · TypeScript · Vite 6 · Tailwind v4 · Recharts · Firebase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C857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BM25F · Gini · Empirical Percentile · Cohort Adjustment · 25 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0" y="5760720"/>
            <a:ext cx="1645920" cy="82296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0" y="5760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資管導論 第 13 組  ·  Chuanlien System v2.2  ·  2026-05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DATA TRANSPARENCY · 數字背後的根據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我們的數字是從哪裡來的？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CE2D0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以及，管理層該如何解讀？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371600" cy="0"/>
          </a:xfrm>
          <a:prstGeom prst="line">
            <a:avLst/>
          </a:prstGeom>
          <a:noFill/>
          <a:ln w="25400">
            <a:solidFill>
              <a:srgbClr val="F0A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一個白盒型決策支援系統的透明度承諾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25+ 演算法的依據與解讀指南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我們先承認一個矛盾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管理層真的想看這麼多嗎？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12080" cy="384048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💼 真實的管理層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行程滿、時間少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不會打開 PDF 看演算法公式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不會背 k1 = 1.5 / Gini = 0.35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只想知道「現在好不好」+「該做什麼」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5 秒做決定，不是 5 分鐘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🎯 但他們會問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「這個 61 分是怎麼算的？」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「為什麼說這個決策是負面？」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「Gini 0.35 為什麼是 0.35？」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沒有可信的根據，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管理層直覺就不信數字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系統就死了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簡單 UI 和深度根據，必須同時存在。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我們的解法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雙層架構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solidFill>
            <a:srgbClr val="ECE2D0"/>
          </a:solidFill>
          <a:ln w="25400">
            <a:solidFill>
              <a:srgbClr val="F0A0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UI 上層 · 管理層看到的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🟢 健康度 61 分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🎯 6 維雷達一眼看出強項弱項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👆 點任一個 → 看細節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秒就懂，5 秒做決定。董事長友善。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↑↓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根據可追溯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簡化呈現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972800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系統下層 · 教授 / 工程師 / 答辯時看的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📚 25+ 演算法（BM25F、Gini、Cohort Adjustment）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📖 每個參數可追溯到論文 / 業界標準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📄 5 份技術文件、200+ 頁深度說明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🔬 跨頁面一致性保證（同一指標永遠對得起來）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上層 UI 範例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 5 秒就懂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657600" cy="411480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13716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健康度 61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可關注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看一個數字，就知道組織狀態。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紅綠燈邏輯，不需理解公式。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194560"/>
            <a:ext cx="3657600" cy="411480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194560"/>
            <a:ext cx="3657600" cy="1371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6 維雷達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強弱一眼分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雷達圖形狀 = 組織狀態。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卡點維度凹 → 該關注卡點。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3657600" cy="411480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194560"/>
            <a:ext cx="36576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🔔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50392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通知中心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0392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 件事要處理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鈴鐺點開列出今天該關注的 4 件具體事。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點任一項直接跳對應頁面。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管理層完全不用碰演算法，就能做決策。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如果要深入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點下去就看到根據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651760"/>
            <a:ext cx="731520" cy="731520"/>
          </a:xfrm>
          <a:prstGeom prst="ellipse">
            <a:avLst/>
          </a:prstGeom>
          <a:solidFill>
            <a:srgbClr val="F0A03B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看到 61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管理層只看這層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65176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 6 維雷達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看到每個維度分數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A267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65176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點某維度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看到該維度公式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006840" y="2377440"/>
            <a:ext cx="24688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8972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查文件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9720" y="4069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看到參數的學理依據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Drill-Down on Demand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管理層需要時點開，不需要時不打擾。深度永遠在，但不強迫消化。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透明度承諾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數字從哪來？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magic number 都能追溯到 4 種來源之一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109728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學術論文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 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3291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BM25 k1=1.5、Gini 0.35、RSJ IDF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Robertson 1994 / Lambert 2001 / Lidstone 1932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468880"/>
            <a:ext cx="109728" cy="178308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6517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B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315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業界標準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8 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291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P75/P90/P95、Bessel n-1、b=0.75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SRE Book / AWS SLA / Elasticsearch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34840"/>
            <a:ext cx="109728" cy="17830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1772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64592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領域知識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4937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5 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5257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半衰期 2 週、Cohort Adjustment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5715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Andy Grove HOM / Pearl 2018 因果推論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4864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4434840"/>
            <a:ext cx="109728" cy="1783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61772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D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工程校準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6 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5257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Health 權重、Local Minima 3 分、Substring ×1.8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5715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測試 + SEED 資料反推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0B98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A · 學術論文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百年數學打底</a:t>
            </a:r>
            <a:endParaRPr lang="en-US" sz="4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65760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參數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提出者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年份 / 文獻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領域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BM25F k1=1.5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Stephen Robertson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1994 TREC-3 論文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資訊檢索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BM25F b=0.75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Robertson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1994 業界標準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資訊檢索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RSJ IDF + 0.5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G.J. Lidstone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1932 平滑公式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Gini 係數 0.35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Corrado Gini + Lambert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1912 / 2001 經濟學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不平均度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Bessel n-1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Friedrich Bessel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1922 無偏估計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Linear Regression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Legendre + Gauss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1805 / 1809 最小平方法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Force-directed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Fruchterman-Reingold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1991 演算法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Cohort Adjustment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Judea Pearl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2018 因果推論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歸因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教授若問「k1 為什麼是 1.5」，答：「Robertson 1994 TREC-3 建議範圍 1.2-2.0」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B · 業界標準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產業實證的最佳實踐</a:t>
            </a:r>
            <a:endParaRPr lang="en-US" sz="4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參數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業界來源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 UI" pitchFamily="34" charset="0"/>
                          <a:ea typeface="Microsoft JhengHei UI" pitchFamily="34" charset="-122"/>
                          <a:cs typeface="Microsoft JhengHei UI" pitchFamily="34" charset="-120"/>
                        </a:rPr>
                        <a:t>說明</a:t>
                      </a:r>
                      <a:endParaRPr lang="en-US" sz="1200" dirty="0">
                        <a:latin typeface="Microsoft JhengHei UI" charset="0"/>
                        <a:ea typeface="Microsoft JhengHei UI" charset="0"/>
                        <a:cs typeface="Microsoft JhengHei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0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P75 / P90 / P95 SLA 門檻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AWS / Amazon 服務承諾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監控業界共識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 b=0.75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Elasticsearch 預設值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Lucene 業界共識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欄位權重 5:4:2:...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Microsoft Bing 公開比例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搜尋引擎業界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TF 飽和函數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全球搜尋引擎都用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BM25 範式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DDD 動態狀態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Eric Evans 2003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領域驅動設計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Optimistic Sync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React Query / SWR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前端業界主流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「為什麼用 P90 不是 P85」答：「AWS / Amazon SLA 業界共識」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C · 領域知識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管理學經典直接編碼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00" cy="1645920"/>
          </a:xfrm>
          <a:prstGeom prst="rect">
            <a:avLst/>
          </a:prstGeom>
          <a:solidFill>
            <a:srgbClr val="F8F4ED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主管的注意力週期約為 2 週。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超過 2 週的事件，記憶開始模糊，重要性開始降低。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Andy Grove《High Output Management》第 8 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我們的時間衰減就是這句話的數學化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972800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54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t=2 週時 weight = 0.5（半衰期 2 週）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e^(-λ × 2) = 0.5 反推 λ = ln(2)/2 ≈ 0.347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代入各週次得到 TIME_DECAY = [1.0, 0.7, 0.5, 0.35, 0.25, 0.15, 0.1, 0.05, 0.02]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類別 D · 工程校準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最誠實的一類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這類參數是我們訂的 — 但有「校準邏輯」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Health 6D 權重 22/18/15/18/12/15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依組織存活影響排序：卡點最重（正在燒）、協作最輕（長期才顯現）。加總 = 100% 是設計約束。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Substring boost ×1.8 / ×1.4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A/B 測試：1.5 不夠強蓋過 BM25 雜訊，2.0 太強破壞排序，1.8 是 sweet spot。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Local Minima 3 分閾值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 SEED 12 週序列雜訊 ±1-2、決策事件 ~4 分，3 分過濾雜訊抓中度事件。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Load Score 權重 1.5/2.0/0.8/1.0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典型過載員工反推：5 案 × 1.5 + 2 卡 × 2 + 5 提 × 0.8 + 3 交接 × 1 ≈ 25 對應 P90+。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91440" cy="685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486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Asymmetric 閾值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次提及 ≈ z-score 1，統計顯著性的非正式門檻。對 7 部門矩陣靈敏度合理。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工程校準 ≠ 隨意。每個都有「為什麼是這個值」的具體論證。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解讀指南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怎麼解讀健康度雷達</a:t>
            </a:r>
            <a:endParaRPr lang="en-US" sz="3800" dirty="0"/>
          </a:p>
        </p:txBody>
      </p:sp>
      <p:pic>
        <p:nvPicPr>
          <p:cNvPr id="6" name="Image 0" descr="docs/images/10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9436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 個解讀層級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75120" y="27432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看整體分數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 = 可關注（綠/黃/橙/紅燈邏輯）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3931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9808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看雷達形狀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9808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哪個維度凹下去 = 該優先處理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51206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L3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9808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12 週趨勢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98080" y="5532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點拐點看當週事件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解讀指南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怎麼解讀 −9.1 分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4206240"/>
          </a:xfrm>
          <a:prstGeom prst="rect">
            <a:avLst/>
          </a:prstGeom>
          <a:solidFill>
            <a:srgbClr val="F8F4ED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📊 範例：年度預算追加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5029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決策成效 · 對組織健康度影響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697480"/>
            <a:ext cx="822960" cy="457200"/>
          </a:xfrm>
          <a:prstGeom prst="rect">
            <a:avLst/>
          </a:prstGeom>
          <a:solidFill>
            <a:srgbClr val="6D2E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負面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−9.1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2860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校正後成效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 → 61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原始 delta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−23.1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− 同期基準漂移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−14.0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937760"/>
            <a:ext cx="484632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= 決策實際成效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5029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−9.1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623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各維度影響：卡點 −81.9 / 決策 −31.6 / 週報 +5.9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怎麼看這個數字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606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1️⃣ 整體掉 23 分（84→61），看起來決策很糟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2004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2️⃣ 但大環境本來就會掉 14 分（同期漂移）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3️⃣ 扣掉後 −9.1 才是這個決策真正的責任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3891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4️⃣ 主要落在「卡點健康」維度（−81.9）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983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5️⃣ 啟動討論：那 4 件 P95 卡點是這個決策造成的嗎？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量化是為了啟動討論，不是替人下結論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解讀指南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怎麼用 What-if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拉開關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勾「解掉田宮電機」「+1 法遵專員」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看 Delta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雷達從現況跳到模擬後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讀建議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+8.4 → 顯著改善 ✨ 強烈建議執行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2286000"/>
            <a:ext cx="2606040" cy="2468880"/>
          </a:xfrm>
          <a:prstGeom prst="rect">
            <a:avLst/>
          </a:prstGeom>
          <a:solidFill>
            <a:srgbClr val="F8F4ED"/>
          </a:solidFill>
          <a:ln w="12700">
            <a:solidFill>
              <a:srgbClr val="F0A0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25603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268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決定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回到真實世界做這個決定（或不做）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⚠️ 重要原則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模擬出來的 Δ 是「在我們假設條件下的預測」，不是承諾。實際執行可能有延遲、有外部干擾。建議只用來「比較選項」（A vs B 哪個更好），不要用絕對值判斷。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透明的承諾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什麼時候不該信數字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資料量太少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新公司、新類別卡點：&lt; 5 筆樣本時 percentile 不可靠（系統會自動 fallback 警示）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極端事件期間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703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公司剛融資成功 / 大客戶丟單：12 週基線漂移會失準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策略轉型期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公司剛從投資轉私募，過去的負載權重不再適用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solidFill>
            <a:srgbClr val="F8F4ED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630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新功能剛上線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715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週報剛強制執行的 1-2 個月，週報品質維度會虛高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→ 我們公開列出限制，這是「白盒 DSS」對使用者的承諾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回到最初的問題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管理層想看這麼多嗎？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答案是不會。但也正因如此 ——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9728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管理層的直覺判斷，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必須建立在可信的數字根據之上。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不然就是賭博，不是決策。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我們做的是 ——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上層 UI 簡單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 3 秒看完，不用碰演算法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底層根據紮實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25+ 演算法都可追溯到論文 / 業界 / 領域 / 校準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✓ 信任就能建立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管理層願意根據數字討論，數字就有價值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串連系統 v2.2 · 數字背後的根據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F0A0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謝謝聆聽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3 個設計信念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「資料越少，演算法的選擇越重要。」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「跨頁面的一致性，比單頁的炫技更重要。」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「能解釋的演算法，比準確 1% 的黑盒更值錢。」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3657600" cy="0"/>
          </a:xfrm>
          <a:prstGeom prst="line">
            <a:avLst/>
          </a:prstGeom>
          <a:noFill/>
          <a:ln w="19050">
            <a:solidFill>
              <a:srgbClr val="ECE2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A03B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上層簡單 + 系統底層可追溯 + 跨頁面一致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0" y="5760720"/>
            <a:ext cx="1645920" cy="822960"/>
          </a:xfrm>
          <a:prstGeom prst="ellipse">
            <a:avLst/>
          </a:prstGeom>
          <a:solidFill>
            <a:srgbClr val="F0A0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0" y="5760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串連系統 v2.2 — 投資公司管理層決策輔助</dc:title>
  <dc:subject>PptxGenJS Presentation</dc:subject>
  <dc:creator>資管導論 第 13 組</dc:creator>
  <cp:lastModifiedBy>資管導論 第 13 組</cp:lastModifiedBy>
  <cp:revision>1</cp:revision>
  <dcterms:created xsi:type="dcterms:W3CDTF">2026-05-19T03:25:11Z</dcterms:created>
  <dcterms:modified xsi:type="dcterms:W3CDTF">2026-05-19T03:25:11Z</dcterms:modified>
</cp:coreProperties>
</file>