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58400" y="457200"/>
            <a:ext cx="1645920" cy="411480"/>
          </a:xfrm>
          <a:prstGeom prst="roundRect">
            <a:avLst>
              <a:gd name="adj" fmla="val 40000"/>
            </a:avLst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JhengHei"/>
              </a:rPr>
              <a:t>資訊管理導論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>
                <a:solidFill>
                  <a:srgbClr val="FFFFFF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FFFFFF"/>
                </a:solidFill>
                <a:latin typeface="Microsoft JhengHei"/>
              </a:rPr>
              <a:t>管理決策支援平台 · 從訊號到行動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Chuanlien · A Decision Support Platform</a:t>
            </a:r>
          </a:p>
        </p:txBody>
      </p:sp>
      <p:sp>
        <p:nvSpPr>
          <p:cNvPr id="7" name="8-Point Star 6"/>
          <p:cNvSpPr/>
          <p:nvPr/>
        </p:nvSpPr>
        <p:spPr>
          <a:xfrm>
            <a:off x="10332720" y="3840480"/>
            <a:ext cx="1280160" cy="128016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 13 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林聿平　組員 A　組員 B　組員 C　組員 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</a:rPr>
              <a:t>大綱</a:t>
            </a:r>
          </a:p>
        </p:txBody>
      </p:sp>
      <p:sp>
        <p:nvSpPr>
          <p:cNvPr id="4" name="8-Point Star 3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92327" y="1737360"/>
            <a:ext cx="329184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B8A8FF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2A2A6E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B8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5F8A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5F8A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1737360"/>
            <a:ext cx="329184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B8A8FF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2A2A6E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B8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5F8A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5F8A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1737360"/>
            <a:ext cx="329184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B8A8FF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2A2A6E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B8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5F8A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5F8A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5F8A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</a:rPr>
              <a:t>痛點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5" name="8-Point Star 4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698480" cy="1143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B8A8FF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2A2A6E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A5F8A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698480" cy="1143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B8A8FF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2A2A6E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A5F8A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698480" cy="1143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B8A8FF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2A2A6E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A5F8A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</a:rPr>
              <a:t>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把三個問題拆成三個模組，背後用 25+ 演算法支撐</a:t>
            </a:r>
          </a:p>
        </p:txBody>
      </p:sp>
      <p:sp>
        <p:nvSpPr>
          <p:cNvPr id="5" name="8-Point Star 4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8007" y="201168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2011680"/>
            <a:ext cx="3566160" cy="457200"/>
          </a:xfrm>
          <a:prstGeom prst="rect">
            <a:avLst/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2A2A6E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F8C8C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5A5F8A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Empirical Percentile · Time Decay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Gini Coefficient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76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EC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2A2A6E"/>
                </a:solidFill>
                <a:latin typeface="Microsoft JhengHei"/>
              </a:rPr>
              <a:t>P75/P90/P95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767" y="201168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767" y="2011680"/>
            <a:ext cx="3566160" cy="457200"/>
          </a:xfrm>
          <a:prstGeom prst="rect">
            <a:avLst/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852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2A2A6E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52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F8C8C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52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5A5F8A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52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BM25F · Asymmetric Detection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6D Weighted Scoring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852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EC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2A2A6E"/>
                </a:solidFill>
                <a:latin typeface="Microsoft JhengHei"/>
              </a:rPr>
              <a:t>權重 22/18/15/18/12/15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7527" y="201168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7527" y="2011680"/>
            <a:ext cx="3566160" cy="457200"/>
          </a:xfrm>
          <a:prstGeom prst="rect">
            <a:avLst/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328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2A2A6E"/>
                </a:solidFill>
                <a:latin typeface="Microsoft JhengHei"/>
              </a:rPr>
              <a:t>決策影響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F8C8C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328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5A5F8A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328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Cohort Adjustment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Linear Regression Baseline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7328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EC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2A2A6E"/>
                </a:solidFill>
                <a:latin typeface="Microsoft JhengHei"/>
              </a:rPr>
              <a:t>v2.2 學術創舉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8E0FF"/>
                </a:solidFill>
                <a:latin typeface="Microsoft JhengHei"/>
              </a:rPr>
              <a:t>模組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0FF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6" name="8-Point Star 5"/>
          <p:cNvSpPr/>
          <p:nvPr/>
        </p:nvSpPr>
        <p:spPr>
          <a:xfrm>
            <a:off x="10607040" y="274320"/>
            <a:ext cx="731520" cy="73152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A8FF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FF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🟩 其他 14 人 (low)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Atlassian Jira 也這樣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工作量靠「件數 × 權重」算分，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我們也用一樣的概念，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把卡點、案件、交接加總。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E28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第一版：0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第四版：2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8E0FF"/>
                </a:solidFill>
                <a:latin typeface="Microsoft JhengHei"/>
              </a:rPr>
              <a:t>模組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0FF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6" name="8-Point Star 5"/>
          <p:cNvSpPr/>
          <p:nvPr/>
        </p:nvSpPr>
        <p:spPr>
          <a:xfrm>
            <a:off x="10607040" y="274320"/>
            <a:ext cx="731520" cy="73152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A8FF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FF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E28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8E0FF"/>
                </a:solidFill>
                <a:latin typeface="Microsoft JhengHei"/>
              </a:rPr>
              <a:t>模組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0FF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6" name="8-Point Star 5"/>
          <p:cNvSpPr/>
          <p:nvPr/>
        </p:nvSpPr>
        <p:spPr>
          <a:xfrm>
            <a:off x="10607040" y="274320"/>
            <a:ext cx="731520" cy="73152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A8FF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FF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E28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0FF"/>
                </a:solidFill>
                <a:latin typeface="Microsoft JhengHei"/>
              </a:rPr>
              <a:t>方法論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反推校準（Reverse Calibration）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0FF"/>
                </a:solidFill>
                <a:latin typeface="Microsoft JhengHei"/>
              </a:rPr>
              <a:t>為什麼我們的人工參數不是憑空捏的</a:t>
            </a:r>
          </a:p>
        </p:txBody>
      </p:sp>
      <p:sp>
        <p:nvSpPr>
          <p:cNvPr id="6" name="8-Point Star 5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9427" y="2286000"/>
            <a:ext cx="21488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B8A8FF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2A2A6E"/>
                </a:solidFill>
                <a:latin typeface="Microsoft JhengHei"/>
              </a:rPr>
              <a:t>先猜一個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看書、抄業界，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憑直覺給數字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98267" y="3977640"/>
            <a:ext cx="137160" cy="27432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35427" y="2286000"/>
            <a:ext cx="21488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35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B8A8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5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2A2A6E"/>
                </a:solidFill>
                <a:latin typeface="Microsoft JhengHei"/>
              </a:rPr>
              <a:t>拿資料跑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8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用 17 員工模擬資料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跑出結果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84267" y="3977640"/>
            <a:ext cx="137160" cy="27432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1427" y="2286000"/>
            <a:ext cx="21488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1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B8A8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1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2A2A6E"/>
                </a:solidFill>
                <a:latin typeface="Microsoft JhengHei"/>
              </a:rPr>
              <a:t>對答案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4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問主管：「這個結果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跟你直覺一不一樣？」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70267" y="3977640"/>
            <a:ext cx="137160" cy="27432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07427" y="2286000"/>
            <a:ext cx="21488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07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B8A8FF"/>
                </a:solidFill>
                <a:latin typeface="Microsoft JhengHe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07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2A2A6E"/>
                </a:solidFill>
                <a:latin typeface="Microsoft JhengHei"/>
              </a:rPr>
              <a:t>改數字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0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不一樣就回去調，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直到對得上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456267" y="3977640"/>
            <a:ext cx="137160" cy="27432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93427" y="2286000"/>
            <a:ext cx="21488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93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B8A8FF"/>
                </a:solidFill>
                <a:latin typeface="Microsoft Jheng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3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2A2A6E"/>
                </a:solidFill>
                <a:latin typeface="Microsoft JhengHei"/>
              </a:rPr>
              <a:t>穩了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76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改到主管說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「對，就是這樣」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86000" y="6035040"/>
            <a:ext cx="7589520" cy="411480"/>
          </a:xfrm>
          <a:prstGeom prst="roundRect">
            <a:avLst>
              <a:gd name="adj" fmla="val 40000"/>
            </a:avLst>
          </a:prstGeom>
          <a:solidFill>
            <a:srgbClr val="EC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400" b="1">
                <a:solidFill>
                  <a:srgbClr val="2A2A6E"/>
                </a:solidFill>
                <a:latin typeface="Microsoft JhengHei"/>
              </a:rPr>
              <a:t>「9 個係數不是 9 個獨立決定，是 1 個學理依據的離散採樣」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0FF"/>
                </a:solidFill>
                <a:latin typeface="Microsoft JhengHei"/>
              </a:rPr>
              <a:t>亮點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智能搜尋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0FF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6" name="8-Point Star 5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A8FF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971800"/>
            <a:ext cx="2743200" cy="274320"/>
          </a:xfrm>
          <a:prstGeom prst="roundRect">
            <a:avLst>
              <a:gd name="adj" fmla="val 30000"/>
            </a:avLst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429000"/>
            <a:ext cx="2194560" cy="274320"/>
          </a:xfrm>
          <a:prstGeom prst="roundRect">
            <a:avLst>
              <a:gd name="adj" fmla="val 30000"/>
            </a:avLst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88620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343400"/>
            <a:ext cx="822959" cy="274320"/>
          </a:xfrm>
          <a:prstGeom prst="roundRect">
            <a:avLst>
              <a:gd name="adj" fmla="val 30000"/>
            </a:avLst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8006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52578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A8FF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關鍵字在「標題」=5 分，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在「留言」只有 1 分。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搜「林聿」也找得到「林聿平」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「客戶」「客人」「使用者」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視為同一個詞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命中率比一般搜尋提升 93%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(0.42 → 0.81)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0FF"/>
                </a:solidFill>
                <a:latin typeface="Microsoft JhengHei"/>
              </a:rPr>
              <a:t>亮點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0FF"/>
                </a:solidFill>
                <a:latin typeface="Microsoft JhengHei"/>
              </a:rPr>
              <a:t>不用真的改人事，先模擬看看</a:t>
            </a:r>
          </a:p>
        </p:txBody>
      </p:sp>
      <p:sp>
        <p:nvSpPr>
          <p:cNvPr id="6" name="8-Point Star 5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A8FF"/>
                </a:solidFill>
                <a:latin typeface="Microsoft JhengHei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A2A6E"/>
                </a:solidFill>
                <a:latin typeface="Microsoft JhengHei"/>
              </a:rPr>
              <a:t>拖員工到別組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用滑鼠拖一拖就好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28600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560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A8FF"/>
                </a:solidFill>
                <a:latin typeface="Microsoft JhengHei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0632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A2A6E"/>
                </a:solidFill>
                <a:latin typeface="Microsoft JhengHei"/>
              </a:rPr>
              <a:t>即時看分佈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Gini 變了？誰過載？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228600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2560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A8FF"/>
                </a:solidFill>
                <a:latin typeface="Microsoft JhengHei"/>
              </a:rP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0632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A2A6E"/>
                </a:solidFill>
                <a:latin typeface="Microsoft JhengHei"/>
              </a:rPr>
              <a:t>系統給建議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「把 X 移到 Y 組會更平均」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46320"/>
            <a:ext cx="106984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29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A8FF"/>
                </a:solidFill>
                <a:latin typeface="Microsoft JhengHei"/>
              </a:rPr>
              <a:t>為什麼這樣設計？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• 不用真的改人事 — 在「另一條時間線」試試看，反悔不要錢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• 拖到哪算到哪 — 拖曳當下就重算，不用等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• 系統會主動建議 — 「把蔡明遠移到投研，整體會更平均」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0FF"/>
                </a:solidFill>
                <a:latin typeface="Microsoft JhengHei"/>
              </a:rPr>
              <a:t>亮點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0FF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6" name="8-Point Star 5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A8FF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FF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5A5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A8FF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不健康的長這樣：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A 問 B 9 次，B 只回 A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→ A 在追，B 在躲，這就是「卡點」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我們的判斷標準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差距 ≥ 5 次 → 紅燈警告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(相當於統計上前 16% 的不平衡)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實測：主管心中有 3 對「卡」的部門，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    系統自動抓出 2 對（67% 命中）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    抓到的都對（0 個誤報）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5" name="8-Point Star 4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8007" y="2194560"/>
            <a:ext cx="265176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B8A8FF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A2A6E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B8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B8A8FF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A2A6E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B8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2194560"/>
            <a:ext cx="265176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B8A8FF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A2A6E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B8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1927" y="2194560"/>
            <a:ext cx="265176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B8A8FF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A2A6E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B8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</a:rPr>
              <a:t>預期效益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5" name="8-Point Star 4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9447" y="219456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44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B8A8FF"/>
                </a:solidFill>
                <a:latin typeface="Microsoft JhengHei"/>
              </a:rPr>
              <a:t>90s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2A2A6E"/>
                </a:solidFill>
                <a:latin typeface="Microsoft JhengHei"/>
              </a:rPr>
              <a:t>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從 30 分鐘訪談 → 90 秒掃一眼雷達圖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19456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836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B8A8FF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68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2A2A6E"/>
                </a:solidFill>
                <a:latin typeface="Microsoft JhengHei"/>
              </a:rPr>
              <a:t>卡點 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68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Asymmetric Detection 自動抓出主管直覺中的「卡」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219456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B8A8FF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2A2A6E"/>
                </a:solidFill>
                <a:latin typeface="Microsoft JhengHei"/>
              </a:rPr>
              <a:t>決策回看率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v2.1 = 0%（沒人事後看）→ v2.2 = 強制回顧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6207" y="219456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620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B8A8FF"/>
                </a:solidFill>
                <a:latin typeface="Microsoft JhengHei"/>
              </a:rPr>
              <a:t>0元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052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2A2A6E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052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全用開源 + Firebase 免費額度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</a:rPr>
              <a:t>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5" name="8-Point Star 4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698480" cy="8229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FF8C8C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A2A6E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10698480" cy="8229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FF8C8C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A2A6E"/>
                </a:solidFill>
                <a:latin typeface="Microsoft JhengHei"/>
              </a:rPr>
              <a:t>What-if 加員工會讓 Gini 上升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因為新進員工負載 = 0 拉大分佈。v2.3 改成「重新指派」而非「新增」。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698480" cy="8229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FF8C8C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A2A6E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698480" cy="8229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FF8C8C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A2A6E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8-Point Star 2"/>
          <p:cNvSpPr/>
          <p:nvPr/>
        </p:nvSpPr>
        <p:spPr>
          <a:xfrm>
            <a:off x="10332720" y="4754880"/>
            <a:ext cx="1280160" cy="128016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8-Point Star 3"/>
          <p:cNvSpPr/>
          <p:nvPr/>
        </p:nvSpPr>
        <p:spPr>
          <a:xfrm>
            <a:off x="365760" y="548640"/>
            <a:ext cx="640080" cy="640080"/>
          </a:xfrm>
          <a:prstGeom prst="star8">
            <a:avLst/>
          </a:prstGeom>
          <a:solidFill>
            <a:srgbClr val="E8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FFFFFF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F0E8FF"/>
                </a:solidFill>
                <a:latin typeface="Microsoft JhengHei"/>
              </a:rPr>
              <a:t>我們不假裝每個係數都來自論文，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F0E8FF"/>
                </a:solidFill>
                <a:latin typeface="Microsoft JhengHei"/>
              </a:rPr>
              <a:t>但每個係數都經過反推校準。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F0E8FF"/>
                </a:solidFill>
                <a:latin typeface="Microsoft Jheng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F0E8FF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5486400"/>
            <a:ext cx="3931920" cy="64008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2200" b="1">
                <a:solidFill>
                  <a:srgbClr val="2A2A6E"/>
                </a:solidFill>
                <a:latin typeface="Microsoft JhengHei"/>
              </a:rPr>
              <a:t>Thank You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