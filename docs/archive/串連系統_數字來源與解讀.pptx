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0A03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F0A03B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DATA TRANSPARENCY · 數字背後的根據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我們的數字是從哪裡來的？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CE2D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以及，管理層該如何解讀？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4114800"/>
            <a:ext cx="1371600" cy="0"/>
          </a:xfrm>
          <a:prstGeom prst="line">
            <a:avLst/>
          </a:prstGeom>
          <a:noFill/>
          <a:ln w="25400">
            <a:solidFill>
              <a:srgbClr val="F0A0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CE2D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一個白盒型決策支援系統的透明度承諾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25+ 演算法的依據與解讀指南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我們先承認一個矛盾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管理層真的想看這麼多嗎？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212080" cy="3840480"/>
          </a:xfrm>
          <a:prstGeom prst="rect">
            <a:avLst/>
          </a:prstGeom>
          <a:solidFill>
            <a:srgbClr val="F8F4ED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💼 真實的管理層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行程滿、時間少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不會打開 PDF 看演算法公式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不會背 k1 = 1.5 / Gini = 0.35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只想知道「現在好不好」+「該做什麼」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5 秒做決定，不是 5 分鐘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2286000"/>
            <a:ext cx="5212080" cy="3840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03B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🎯 但他們會問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92608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「這個 61 分是怎麼算的？」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「為什麼說這個決策是負面？」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「Gini 0.35 為什麼是 0.35？」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沒有可信的根據，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管理層直覺就不信數字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A0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系統就死了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2636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→ 簡單 UI 和深度根據，必須同時存在。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A267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數字背後的根據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我們的解法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雙層架構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10972800" cy="1645920"/>
          </a:xfrm>
          <a:prstGeom prst="rect">
            <a:avLst/>
          </a:prstGeom>
          <a:solidFill>
            <a:srgbClr val="ECE2D0"/>
          </a:solidFill>
          <a:ln w="25400">
            <a:solidFill>
              <a:srgbClr val="F0A0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23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UI 上層 · 管理層看到的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🟢 健康度 61 分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   ·   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🎯 6 維雷達一眼看出強項弱項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   ·   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👆 點任一個 → 看細節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秒就懂，5 秒做決定。董事長友善。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521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A03B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↑↓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0" y="4069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根據可追溯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4069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簡化呈現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617720"/>
            <a:ext cx="10972800" cy="1783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03B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系統下層 · 教授 / 工程師 / 答辯時看的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51663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📚 25+ 演算法（BM25F、Gini、Cohort Adjustment）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📖 每個參數可追溯到論文 / 業界標準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📄 5 份技術文件、200+ 頁深度說明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🔬 跨頁面一致性保證（同一指標永遠對得起來）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A267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數字背後的根據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上層 UI 範例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管理層 5 秒就懂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657600" cy="4114800"/>
          </a:xfrm>
          <a:prstGeom prst="rect">
            <a:avLst/>
          </a:prstGeom>
          <a:solidFill>
            <a:srgbClr val="F8F4ED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94560"/>
            <a:ext cx="3657600" cy="137160"/>
          </a:xfrm>
          <a:prstGeom prst="rect">
            <a:avLst/>
          </a:prstGeom>
          <a:solidFill>
            <a:srgbClr val="F0A03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5603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🎯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健康度 61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4114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03B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可關注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66344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看一個數字，就知道組織狀態。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紅綠燈邏輯，不需理解公式。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2194560"/>
            <a:ext cx="3657600" cy="4114800"/>
          </a:xfrm>
          <a:prstGeom prst="rect">
            <a:avLst/>
          </a:prstGeom>
          <a:solidFill>
            <a:srgbClr val="F8F4ED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2194560"/>
            <a:ext cx="3657600" cy="13716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25603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📊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709160" y="35661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6 維雷達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709160" y="4114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強弱一眼分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09160" y="466344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雷達圖形狀 = 組織狀態。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卡點維度凹 → 該關注卡點。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0" y="2194560"/>
            <a:ext cx="3657600" cy="4114800"/>
          </a:xfrm>
          <a:prstGeom prst="rect">
            <a:avLst/>
          </a:prstGeom>
          <a:solidFill>
            <a:srgbClr val="F8F4ED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2194560"/>
            <a:ext cx="3657600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25603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🔔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503920" y="35661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通知中心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503920" y="4114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4 件事要處理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03920" y="466344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鈴鐺點開列出今天該關注的 4 件具體事。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點任一項直接跳對應頁面。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→ 管理層完全不用碰演算法，就能做決策。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A267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數字背後的根據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如果要深入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點下去就看到根據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246888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0A0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2651760"/>
            <a:ext cx="731520" cy="731520"/>
          </a:xfrm>
          <a:prstGeom prst="ellipse">
            <a:avLst/>
          </a:prstGeom>
          <a:solidFill>
            <a:srgbClr val="F0A03B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看到 61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069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管理層只看這層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3200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429000" y="2377440"/>
            <a:ext cx="246888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6D2E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2651760"/>
            <a:ext cx="731520" cy="7315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611880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點 6 維雷達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11880" y="4069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看到每個維度分數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97880" y="3200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217920" y="2377440"/>
            <a:ext cx="246888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A267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2651760"/>
            <a:ext cx="731520" cy="7315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0" name="Text 18"/>
          <p:cNvSpPr/>
          <p:nvPr/>
        </p:nvSpPr>
        <p:spPr>
          <a:xfrm>
            <a:off x="708660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00800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點某維度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0" y="4069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看到該維度公式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0" y="3200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006840" y="2377440"/>
            <a:ext cx="246888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75520" y="26517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987552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189720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查文件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89720" y="4069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看到參數的學理依據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5120640"/>
            <a:ext cx="109728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5257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A03B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Drill-Down on Demand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8680" y="5577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管理層需要時點開，不需要時不打擾。深度永遠在，但不強迫消化。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A267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數字背後的根據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solidFill>
            <a:srgbClr val="F0A0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F0A03B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透明度承諾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數字從哪來？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2D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 magic number 都能追溯到 4 種來源之一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5486400" cy="1783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468880"/>
            <a:ext cx="109728" cy="1783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5176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0B98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A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1645920" y="2651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學術論文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971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12 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45920" y="32918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BM25 k1=1.5、Gini 0.35、RSJ IDF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45920" y="37490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Robertson 1994 / Lambert 2001 / Lidstone 1932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2468880"/>
            <a:ext cx="5486400" cy="1783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2468880"/>
            <a:ext cx="109728" cy="1783080"/>
          </a:xfrm>
          <a:prstGeom prst="rect">
            <a:avLst/>
          </a:prstGeom>
          <a:solidFill>
            <a:srgbClr val="F0A03B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65176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0A03B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B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7315200" y="2651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業界標準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0" y="2971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03B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8 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0" y="32918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P75/P90/P95、Bessel n-1、b=0.75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0" y="37490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SRE Book / AWS SLA / Elasticsearch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5486400" cy="1783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434840"/>
            <a:ext cx="109728" cy="178308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61772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A26769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C</a:t>
            </a:r>
            <a:endParaRPr lang="en-US" sz="6000" dirty="0"/>
          </a:p>
        </p:txBody>
      </p:sp>
      <p:sp>
        <p:nvSpPr>
          <p:cNvPr id="24" name="Text 22"/>
          <p:cNvSpPr/>
          <p:nvPr/>
        </p:nvSpPr>
        <p:spPr>
          <a:xfrm>
            <a:off x="1645920" y="4617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領域知識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45920" y="4937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26769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5 個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45920" y="52578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半衰期 2 週、Cohort Adjustment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45920" y="57150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Andy Grove HOM / Pearl 2018 因果推論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4434840"/>
            <a:ext cx="5486400" cy="1783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217920" y="4434840"/>
            <a:ext cx="109728" cy="17830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461772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D</a:t>
            </a:r>
            <a:endParaRPr lang="en-US" sz="6000" dirty="0"/>
          </a:p>
        </p:txBody>
      </p:sp>
      <p:sp>
        <p:nvSpPr>
          <p:cNvPr id="31" name="Text 29"/>
          <p:cNvSpPr/>
          <p:nvPr/>
        </p:nvSpPr>
        <p:spPr>
          <a:xfrm>
            <a:off x="7315200" y="4617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工程校準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15200" y="4937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6 個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0" y="52578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Health 權重、Local Minima 3 分、Substring ×1.8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0" y="57150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A/B 測試 + SEED 資料反推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A267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數字背後的根據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10B98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類別 A · 學術論文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百年數學打底</a:t>
            </a:r>
            <a:endParaRPr lang="en-US" sz="4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3657600"/>
                <a:gridCol w="2103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 UI" pitchFamily="34" charset="0"/>
                          <a:ea typeface="Microsoft JhengHei UI" pitchFamily="34" charset="-122"/>
                          <a:cs typeface="Microsoft JhengHei UI" pitchFamily="34" charset="-120"/>
                        </a:rPr>
                        <a:t>參數</a:t>
                      </a:r>
                      <a:endParaRPr lang="en-US" sz="1200" dirty="0">
                        <a:latin typeface="Microsoft JhengHei UI" charset="0"/>
                        <a:ea typeface="Microsoft JhengHei UI" charset="0"/>
                        <a:cs typeface="Microsoft JhengHei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 UI" pitchFamily="34" charset="0"/>
                          <a:ea typeface="Microsoft JhengHei UI" pitchFamily="34" charset="-122"/>
                          <a:cs typeface="Microsoft JhengHei UI" pitchFamily="34" charset="-120"/>
                        </a:rPr>
                        <a:t>提出者</a:t>
                      </a:r>
                      <a:endParaRPr lang="en-US" sz="1200" dirty="0">
                        <a:latin typeface="Microsoft JhengHei UI" charset="0"/>
                        <a:ea typeface="Microsoft JhengHei UI" charset="0"/>
                        <a:cs typeface="Microsoft JhengHei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 UI" pitchFamily="34" charset="0"/>
                          <a:ea typeface="Microsoft JhengHei UI" pitchFamily="34" charset="-122"/>
                          <a:cs typeface="Microsoft JhengHei UI" pitchFamily="34" charset="-120"/>
                        </a:rPr>
                        <a:t>年份 / 文獻</a:t>
                      </a:r>
                      <a:endParaRPr lang="en-US" sz="1200" dirty="0">
                        <a:latin typeface="Microsoft JhengHei UI" charset="0"/>
                        <a:ea typeface="Microsoft JhengHei UI" charset="0"/>
                        <a:cs typeface="Microsoft JhengHei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 UI" pitchFamily="34" charset="0"/>
                          <a:ea typeface="Microsoft JhengHei UI" pitchFamily="34" charset="-122"/>
                          <a:cs typeface="Microsoft JhengHei UI" pitchFamily="34" charset="-120"/>
                        </a:rPr>
                        <a:t>領域</a:t>
                      </a:r>
                      <a:endParaRPr lang="en-US" sz="1200" dirty="0">
                        <a:latin typeface="Microsoft JhengHei UI" charset="0"/>
                        <a:ea typeface="Microsoft JhengHei UI" charset="0"/>
                        <a:cs typeface="Microsoft JhengHei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BM25F k1=1.5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Stephen Robertson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1994 TREC-3 論文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資訊檢索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BM25F b=0.75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Robertson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1994 業界標準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資訊檢索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RSJ IDF + 0.5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G.J. Lidstone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1932 平滑公式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統計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Gini 係數 0.35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Corrado Gini + Lambert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1912 / 2001 經濟學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不平均度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Bessel n-1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Friedrich Bessel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1922 無偏估計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統計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Linear Regression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Legendre + Gauss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1805 / 1809 最小平方法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回歸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Force-directed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Fruchterman-Reingold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1991 演算法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圖論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Cohort Adjustment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Judea Pearl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2018 因果推論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歸因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1264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→ 教授若問「k1 為什麼是 1.5」，答：「Robertson 1994 TREC-3 建議範圍 1.2-2.0」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A2676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數字背後的根據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solidFill>
            <a:srgbClr val="F0A0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F0A03B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類別 B · 業界標準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產業實證的最佳實踐</a:t>
            </a:r>
            <a:endParaRPr lang="en-US" sz="4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3657600"/>
                <a:gridCol w="32918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 UI" pitchFamily="34" charset="0"/>
                          <a:ea typeface="Microsoft JhengHei UI" pitchFamily="34" charset="-122"/>
                          <a:cs typeface="Microsoft JhengHei UI" pitchFamily="34" charset="-120"/>
                        </a:rPr>
                        <a:t>參數</a:t>
                      </a:r>
                      <a:endParaRPr lang="en-US" sz="1200" dirty="0">
                        <a:latin typeface="Microsoft JhengHei UI" charset="0"/>
                        <a:ea typeface="Microsoft JhengHei UI" charset="0"/>
                        <a:cs typeface="Microsoft JhengHei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0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 UI" pitchFamily="34" charset="0"/>
                          <a:ea typeface="Microsoft JhengHei UI" pitchFamily="34" charset="-122"/>
                          <a:cs typeface="Microsoft JhengHei UI" pitchFamily="34" charset="-120"/>
                        </a:rPr>
                        <a:t>業界來源</a:t>
                      </a:r>
                      <a:endParaRPr lang="en-US" sz="1200" dirty="0">
                        <a:latin typeface="Microsoft JhengHei UI" charset="0"/>
                        <a:ea typeface="Microsoft JhengHei UI" charset="0"/>
                        <a:cs typeface="Microsoft JhengHei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0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 UI" pitchFamily="34" charset="0"/>
                          <a:ea typeface="Microsoft JhengHei UI" pitchFamily="34" charset="-122"/>
                          <a:cs typeface="Microsoft JhengHei UI" pitchFamily="34" charset="-120"/>
                        </a:rPr>
                        <a:t>說明</a:t>
                      </a:r>
                      <a:endParaRPr lang="en-US" sz="1200" dirty="0">
                        <a:latin typeface="Microsoft JhengHei UI" charset="0"/>
                        <a:ea typeface="Microsoft JhengHei UI" charset="0"/>
                        <a:cs typeface="Microsoft JhengHei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0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P75 / P90 / P95 SLA 門檻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AWS / Amazon 服務承諾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監控業界共識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BM25 b=0.75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Elasticsearch 預設值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Lucene 業界共識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欄位權重 5:4:2:...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Microsoft Bing 公開比例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搜尋引擎業界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TF 飽和函數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全球搜尋引擎都用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BM25 範式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DDD 動態狀態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Eric Evans 2003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領域驅動設計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Optimistic Sync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React Query / SWR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前端業界主流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1264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→ 「為什麼用 P90 不是 P85」答：「AWS / Amazon SLA 業界共識」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A2676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數字背後的根據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A26769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類別 C · 領域知識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管理學經典直接編碼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10972800" cy="1645920"/>
          </a:xfrm>
          <a:prstGeom prst="rect">
            <a:avLst/>
          </a:prstGeom>
          <a:solidFill>
            <a:srgbClr val="F8F4ED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A26769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「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371600" y="2468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主管的注意力週期約為 2 週。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超過 2 週的事件，記憶開始模糊，重要性開始降低。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34747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267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 Andy Grove《High Output Management》第 8 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我們的時間衰減就是這句話的數學化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10972800" cy="1737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7548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0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1：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假設 t=2 週時 weight = 0.5（半衰期 2 週）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A0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2：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e^(-λ × 2) = 0.5 反推 λ = ln(2)/2 ≈ 0.347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A0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3：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代入各週次得到 TIME_DECAY = [1.0, 0.7, 0.5, 0.35, 0.25, 0.15, 0.1, 0.05, 0.02]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A267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數字背後的根據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類別 D · 工程校準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最誠實的一類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這類參數是我們訂的 — 但有「校準邏輯」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91440" cy="6858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77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Health 6D 權重 22/18/15/18/12/15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依組織存活影響排序：卡點最重（正在燒）、協作最輕（長期才顯現）。加總 = 100% 是設計約束。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91440" cy="6858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154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Substring boost ×1.8 / ×1.4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520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A/B 測試：1.5 不夠強蓋過 BM25 雜訊，2.0 太強破壞排序，1.8 是 sweet spot。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91440" cy="6858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931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Local Minima 3 分閾值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297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 SEED 12 週序列雜訊 ±1-2、決策事件 ~4 分，3 分過濾雜訊抓中度事件。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91440" cy="6858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709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Load Score 權重 1.5/2.0/0.8/1.0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5074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典型過載員工反推：5 案 × 1.5 + 2 卡 × 2 + 5 提 × 0.8 + 3 交接 × 1 ≈ 25 對應 P90+。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486400"/>
            <a:ext cx="91440" cy="6858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486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Asymmetric 閾值 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58521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次提及 ≈ z-score 1，統計顯著性的非正式門檻。對 7 部門矩陣靈敏度合理。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→ 工程校準 ≠ 隨意。每個都有「為什麼是這個值」的具體論證。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A267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數字背後的根據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解讀指南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怎麼解讀健康度雷達</a:t>
            </a:r>
            <a:endParaRPr lang="en-US" sz="3800" dirty="0"/>
          </a:p>
        </p:txBody>
      </p:sp>
      <p:pic>
        <p:nvPicPr>
          <p:cNvPr id="6" name="Image 0" descr="docs/images/10_ra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94560"/>
            <a:ext cx="594360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7512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3 個解讀層級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675120" y="274320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9" name="Text 6"/>
          <p:cNvSpPr/>
          <p:nvPr/>
        </p:nvSpPr>
        <p:spPr>
          <a:xfrm>
            <a:off x="667512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L1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0" y="2743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看整體分數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498080" y="3154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61 = 可關注（綠/黃/橙/紅燈邏輯）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675120" y="393192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Text 10"/>
          <p:cNvSpPr/>
          <p:nvPr/>
        </p:nvSpPr>
        <p:spPr>
          <a:xfrm>
            <a:off x="667512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L2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498080" y="3931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看雷達形狀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498080" y="4343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哪個維度凹下去 = 該優先處理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675120" y="512064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7" name="Text 14"/>
          <p:cNvSpPr/>
          <p:nvPr/>
        </p:nvSpPr>
        <p:spPr>
          <a:xfrm>
            <a:off x="6675120" y="5120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L3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498080" y="5120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看 12 週趨勢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498080" y="5532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點拐點看當週事件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A2676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數字背後的根據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解讀指南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怎麼解讀 −9.1 分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486400" cy="4206240"/>
          </a:xfrm>
          <a:prstGeom prst="rect">
            <a:avLst/>
          </a:prstGeom>
          <a:solidFill>
            <a:srgbClr val="F8F4ED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40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📊 範例：年度預算追加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697480"/>
            <a:ext cx="50292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97480"/>
            <a:ext cx="3657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決策成效 · 對組織健康度影響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2697480"/>
            <a:ext cx="822960" cy="457200"/>
          </a:xfrm>
          <a:prstGeom prst="rect">
            <a:avLst/>
          </a:prstGeom>
          <a:solidFill>
            <a:srgbClr val="6D2E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負面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32918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−9.1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2286000" y="3474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校正後成效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3474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84 → 61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4297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原始 delta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0" y="4297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−23.1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4617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− 同期基準漂移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4617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267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−14.0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" y="4937760"/>
            <a:ext cx="484632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029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= 決策實際成效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0" y="5029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−9.1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56235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各維度影響：卡點 −81.9 / 決策 −31.6 / 週報 +5.9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怎麼看這個數字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26060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1️⃣ 整體掉 23 分（84→61），看起來決策很糟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32004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2️⃣ 但大環境本來就會掉 14 分（同期漂移）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37947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3️⃣ 扣掉後 −9.1 才是這個決策真正的責任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43891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4️⃣ 主要落在「卡點健康」維度（−81.9）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49834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5️⃣ 啟動討論：那 4 件 P95 卡點是這個決策造成的嗎？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5852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→ 量化是為了啟動討論，不是替人下結論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A267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數字背後的根據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解讀指南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怎麼用 What-if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606040" cy="2468880"/>
          </a:xfrm>
          <a:prstGeom prst="rect">
            <a:avLst/>
          </a:prstGeom>
          <a:solidFill>
            <a:srgbClr val="F8F4ED"/>
          </a:solidFill>
          <a:ln w="12700">
            <a:solidFill>
              <a:srgbClr val="F0A0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2560320"/>
            <a:ext cx="777240" cy="7772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2560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拉開關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勾「解掉田宮電機」「+1 法遵專員」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2286000"/>
            <a:ext cx="2606040" cy="2468880"/>
          </a:xfrm>
          <a:prstGeom prst="rect">
            <a:avLst/>
          </a:prstGeom>
          <a:solidFill>
            <a:srgbClr val="F8F4ED"/>
          </a:solidFill>
          <a:ln w="12700">
            <a:solidFill>
              <a:srgbClr val="F0A0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560320"/>
            <a:ext cx="777240" cy="7772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2560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65760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看 Delta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3977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雷達從現況跳到模擬後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2286000"/>
            <a:ext cx="2606040" cy="2468880"/>
          </a:xfrm>
          <a:prstGeom prst="rect">
            <a:avLst/>
          </a:prstGeom>
          <a:solidFill>
            <a:srgbClr val="F8F4ED"/>
          </a:solidFill>
          <a:ln w="12700">
            <a:solidFill>
              <a:srgbClr val="F0A0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0" y="2560320"/>
            <a:ext cx="777240" cy="7772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2560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9224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讀建議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3977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 +8.4 → 顯著改善 ✨ 強烈建議執行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0" y="2286000"/>
            <a:ext cx="2606040" cy="2468880"/>
          </a:xfrm>
          <a:prstGeom prst="rect">
            <a:avLst/>
          </a:prstGeom>
          <a:solidFill>
            <a:srgbClr val="F8F4ED"/>
          </a:solidFill>
          <a:ln w="12700">
            <a:solidFill>
              <a:srgbClr val="F0A0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58400" y="2560320"/>
            <a:ext cx="777240" cy="7772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0" y="2560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32688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決定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26880" y="3977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回到真實世界做這個決定（或不做）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120640"/>
            <a:ext cx="109728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212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03B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⚠️ 重要原則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55321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What-if 模擬出來的 Δ 是「在我們假設條件下的預測」，不是承諾。實際執行可能有延遲、有外部干擾。建議只用來「比較選項」（A vs B 哪個更好），不要用絕對值判斷。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A267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數字背後的根據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透明的承諾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什麼時候不該信數字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10972800" cy="822960"/>
          </a:xfrm>
          <a:prstGeom prst="rect">
            <a:avLst/>
          </a:prstGeom>
          <a:solidFill>
            <a:srgbClr val="F8F4ED"/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6304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資料量太少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26974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新公司、新類別卡點：&lt; 5 筆樣本時 percentile 不可靠（系統會自動 fallback 警示）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10972800" cy="822960"/>
          </a:xfrm>
          <a:prstGeom prst="rect">
            <a:avLst/>
          </a:prstGeom>
          <a:solidFill>
            <a:srgbClr val="F8F4ED"/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46304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極端事件期間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37033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公司剛融資成功 / 大客戶丟單：12 週基線漂移會失準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10972800" cy="822960"/>
          </a:xfrm>
          <a:prstGeom prst="rect">
            <a:avLst/>
          </a:prstGeom>
          <a:solidFill>
            <a:srgbClr val="F8F4ED"/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46304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策略轉型期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47091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公司剛從投資轉私募，過去的負載權重不再適用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5303520"/>
            <a:ext cx="10972800" cy="822960"/>
          </a:xfrm>
          <a:prstGeom prst="rect">
            <a:avLst/>
          </a:prstGeom>
          <a:solidFill>
            <a:srgbClr val="F8F4ED"/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463040" y="5394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新功能剛上線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57150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週報剛強制執行的 1-2 個月，週報品質維度會虛高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→ 我們公開列出限制，這是「白盒 DSS」對使用者的承諾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A267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數字背後的根據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回到最初的問題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管理層想看這麼多嗎？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答案是不會。但也正因如此 ——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10972800" cy="2011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0A03B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「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管理層的直覺判斷，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45920" y="3520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03B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必須建立在可信的數字根據之上。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45920" y="41148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CE2D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不然就是賭博，不是決策。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我們做的是 ——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5349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✓ 上層 UI 簡單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0" y="5349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管理層 3 秒看完，不用碰演算法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715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✓ 底層根據紮實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5715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25+ 演算法都可追溯到論文 / 業界 / 領域 / 校準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080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✓ 信任就能建立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6080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管理層願意根據數字討論，數字就有價值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A267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數字背後的根據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F0A0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謝謝聆聽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A03B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3 個設計信念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「資料越少，演算法的選擇越重要。」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「跨頁面的一致性，比單頁的炫技更重要。」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「能解釋的演算法，比準確 1% 的黑盒更值錢。」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5029200"/>
            <a:ext cx="3657600" cy="0"/>
          </a:xfrm>
          <a:prstGeom prst="line">
            <a:avLst/>
          </a:prstGeom>
          <a:noFill/>
          <a:ln w="19050">
            <a:solidFill>
              <a:srgbClr val="ECE2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212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0A03B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5486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UI 上層簡單 + 系統底層可追溯 + 跨頁面一致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0" y="5760720"/>
            <a:ext cx="1645920" cy="822960"/>
          </a:xfrm>
          <a:prstGeom prst="ellipse">
            <a:avLst/>
          </a:prstGeom>
          <a:solidFill>
            <a:srgbClr val="F0A03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0" y="5760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Q &amp; A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串連系統 — 數字背後的根據</dc:title>
  <dc:subject>PptxGenJS Presentation</dc:subject>
  <dc:creator>資管導論 第 13 組</dc:creator>
  <cp:lastModifiedBy>資管導論 第 13 組</cp:lastModifiedBy>
  <cp:revision>1</cp:revision>
  <dcterms:created xsi:type="dcterms:W3CDTF">2026-05-19T13:06:37Z</dcterms:created>
  <dcterms:modified xsi:type="dcterms:W3CDTF">2026-05-19T13:06:38Z</dcterms:modified>
</cp:coreProperties>
</file>