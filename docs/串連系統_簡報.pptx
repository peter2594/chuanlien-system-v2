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0" y="457200"/>
            <a:ext cx="1645920" cy="411480"/>
          </a:xfrm>
          <a:prstGeom prst="roundRect">
            <a:avLst>
              <a:gd name="adj" fmla="val 40000"/>
            </a:avLst>
          </a:prstGeom>
          <a:noFill/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0">
                <a:solidFill>
                  <a:srgbClr val="0F172A"/>
                </a:solidFill>
                <a:latin typeface="Microsoft JhengHei"/>
              </a:rPr>
              <a:t>資訊管理導論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>
                <a:solidFill>
                  <a:srgbClr val="0F172A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0F172A"/>
                </a:solidFill>
                <a:latin typeface="Microsoft JhengHei"/>
              </a:rPr>
              <a:t>管理決策支援平台 · 從訊號到行動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Chuanlien · A Decision Support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第 13 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林聿平　組員 A　組員 B　組員 C　組員 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3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把三個問題拆成三個模組，背後用 25+ 演算法支撐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Empirical Percentile · Time Decay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Gini Coefficient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76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P75/P90/P95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76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76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852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52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52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52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BM25F · Asymmetric Detection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6D Weighted Scoring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852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權重 22/18/15/18/12/15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752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752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328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決策影響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328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328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Cohort Adjustment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Linear Regression Baseline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7328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v2.2 學術創舉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人工權重的四層方法論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16 個人工參數，每一層都有可審查的依據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147" y="2240280"/>
            <a:ext cx="2697480" cy="36576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514600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3154680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排序方向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哪個權重該大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9467" y="4160520"/>
            <a:ext cx="21488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9467" y="429768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業界文獻</a:t>
            </a:r>
          </a:p>
          <a:p>
            <a:pPr algn="l">
              <a:lnSpc>
                <a:spcPct val="14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(Grove / Edmondson / OHI)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467" y="530352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回答：為什麼 A 比 B 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9787" y="2240280"/>
            <a:ext cx="2697480" cy="36576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4107" y="2514600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4107" y="3154680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等價尺度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4107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比例該多懸殊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04107" y="4160520"/>
            <a:ext cx="21488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04107" y="429768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等價關係</a:t>
            </a:r>
          </a:p>
          <a:p>
            <a:pPr algn="l">
              <a:lnSpc>
                <a:spcPct val="14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(2 個交接 ≈ 1 個卡點)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4107" y="530352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回答：為什麼是 1.5 不是 1.3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7" y="2240280"/>
            <a:ext cx="2697480" cy="36576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8747" y="2514600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747" y="3154680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測資校準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8747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整體幅度多大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38747" y="4160520"/>
            <a:ext cx="21488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38747" y="429768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SEED 錨點測試</a:t>
            </a:r>
          </a:p>
          <a:p>
            <a:pPr algn="l">
              <a:lnSpc>
                <a:spcPct val="14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(典型過載 ≥ 12 分)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8747" y="530352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回答：為什麼過載門檻是 12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9067" y="2240280"/>
            <a:ext cx="2697480" cy="36576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73387" y="2514600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73387" y="3154680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敏感度驗證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3387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權重錯了會怎樣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73387" y="4160520"/>
            <a:ext cx="21488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273387" y="429768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±20% 擾動 × 500 次</a:t>
            </a:r>
          </a:p>
          <a:p>
            <a:pPr algn="l">
              <a:lnSpc>
                <a:spcPct val="14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Top-3 穩定 93.4%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3387" y="530352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回答：萬一數字錯系統會崩嗎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量化證據總表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30936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16 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66294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人工權重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80" y="630936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4 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66294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可審查依據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0640" y="630936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500 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0640" y="66294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敏感度擾動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630936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93.4%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66294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Top-3 排名穩定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60" y="630936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0.995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60" y="66294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Spearman 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971800"/>
            <a:ext cx="274320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429000"/>
            <a:ext cx="219456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88620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343400"/>
            <a:ext cx="822959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8006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52578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「如果我這樣調整，組織健康度會變怎樣？」 — 不用真的執行就能試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00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勾選哪些卡點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「假設已解決」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加速決策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勾選哪些逾期決策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「假設立刻完成」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簽收交接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勾選哪些交接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「假設立刻簽收」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192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24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24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降低負載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24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對特定員工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拉滑桿減 0-80%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754880"/>
            <a:ext cx="10698480" cy="146304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系統怎麼回答你「這樣改值不值得」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0F172A"/>
                </a:solidFill>
                <a:latin typeface="Microsoft JhengHei"/>
              </a:rPr>
              <a:t>• 即時雙雷達圖對比 — 現況 vs 模擬後（同一張圖兩種顏色疊圖）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0F172A"/>
                </a:solidFill>
                <a:latin typeface="Microsoft JhengHei"/>
              </a:rPr>
              <a:t>• 健康度 Δ 一個數字 — Δ &gt; 5「強烈建議」、0~5「微改善」、&lt; -5「不建議」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0F172A"/>
                </a:solidFill>
                <a:latin typeface="Microsoft JhengHei"/>
              </a:rPr>
              <a:t>• useDeferredValue 確保拖滑桿時不卡 UI（背景重算、前景流暢）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E11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59669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59669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192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44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44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90s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從 30 分鐘訪談 → 90 秒掃一眼雷達圖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836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68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卡點 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68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Asymmetric Detection 自動抓出主管直覺中的「卡」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決策回看率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v2.1 = 0%（沒人事後看）→ v2.2 = 強制回顧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620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620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0元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052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052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全用開源 + Firebase 免費額度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0F172A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我們不假裝每個係數都來自論文，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但每個係數都經過反推校準。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5486400"/>
            <a:ext cx="3931920" cy="640080"/>
          </a:xfrm>
          <a:prstGeom prst="roundRect">
            <a:avLst>
              <a:gd name="adj" fmla="val 4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2200" b="1">
                <a:solidFill>
                  <a:srgbClr val="0F172A"/>
                </a:solidFill>
                <a:latin typeface="Microsoft JhengHei"/>
              </a:rPr>
              <a:t>Thank You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