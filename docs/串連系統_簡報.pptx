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0" y="457200"/>
            <a:ext cx="1645920" cy="411480"/>
          </a:xfrm>
          <a:prstGeom prst="roundRect">
            <a:avLst>
              <a:gd name="adj" fmla="val 40000"/>
            </a:avLst>
          </a:prstGeom>
          <a:noFill/>
          <a:ln w="12700">
            <a:solidFill>
              <a:srgbClr val="1B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0">
                <a:solidFill>
                  <a:srgbClr val="1B2A4E"/>
                </a:solidFill>
                <a:latin typeface="Microsoft JhengHei"/>
              </a:rPr>
              <a:t>資訊管理導論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>
                <a:solidFill>
                  <a:srgbClr val="1B2A4E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1B2A4E"/>
                </a:solidFill>
                <a:latin typeface="Microsoft JhengHei"/>
              </a:rPr>
              <a:t>管理決策支援平台 · 從訊號到行動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Chuanlien · A Decision Support Platform</a:t>
            </a:r>
          </a:p>
        </p:txBody>
      </p:sp>
      <p:sp>
        <p:nvSpPr>
          <p:cNvPr id="9" name="8-Point Star 8"/>
          <p:cNvSpPr/>
          <p:nvPr/>
        </p:nvSpPr>
        <p:spPr>
          <a:xfrm>
            <a:off x="10332720" y="3840480"/>
            <a:ext cx="1280160" cy="128016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第 13 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B2A4E"/>
                </a:solidFill>
                <a:latin typeface="Microsoft JhengHei"/>
              </a:rPr>
              <a:t>林聿平　組員 A　組員 B　組員 C　組員 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B2A4E"/>
                </a:solidFill>
                <a:latin typeface="Microsoft JhengHei"/>
              </a:rPr>
              <a:t>大綱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C13C2E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B2A4E"/>
                </a:solidFill>
                <a:latin typeface="Microsoft JhengHei"/>
              </a:rPr>
              <a:t>問題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C13C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65C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65C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C13C2E"/>
                </a:solidFill>
                <a:latin typeface="Microsoft Jheng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B2A4E"/>
                </a:solidFill>
                <a:latin typeface="Microsoft JhengHei"/>
              </a:rPr>
              <a:t>系統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C13C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65C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65C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C13C2E"/>
                </a:solidFill>
                <a:latin typeface="Microsoft Jheng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B2A4E"/>
                </a:solidFill>
                <a:latin typeface="Microsoft JhengHei"/>
              </a:rPr>
              <a:t>亮點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C13C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65C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65C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65C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B2A4E"/>
                </a:solidFill>
                <a:latin typeface="Microsoft JhengHei"/>
              </a:rPr>
              <a:t>痛點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7" name="8-Point Star 6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C13C2E"/>
                </a:solidFill>
                <a:latin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B2A4E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65C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C13C2E"/>
                </a:solidFill>
                <a:latin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B2A4E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65C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C13C2E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B2A4E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65C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B2A4E"/>
                </a:solidFill>
                <a:latin typeface="Microsoft JhengHei"/>
              </a:rPr>
              <a:t>解法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把三個問題拆成三個模組，背後用 25+ 演算法支撐</a:t>
            </a:r>
          </a:p>
        </p:txBody>
      </p:sp>
      <p:sp>
        <p:nvSpPr>
          <p:cNvPr id="7" name="8-Point Star 6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007" y="20116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B2A4E"/>
                </a:solidFill>
                <a:latin typeface="Microsoft JhengHei"/>
              </a:rPr>
              <a:t>員工負載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13C2E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65C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76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B2A4E"/>
                </a:solidFill>
                <a:latin typeface="Microsoft JhengHei"/>
              </a:rPr>
              <a:t>Empirical Percentile · Time Decay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B2A4E"/>
                </a:solidFill>
                <a:latin typeface="Microsoft JhengHei"/>
              </a:rPr>
              <a:t>Gini Coefficient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376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EC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B2A4E"/>
                </a:solidFill>
                <a:latin typeface="Microsoft JhengHei"/>
              </a:rPr>
              <a:t>P75/P90/P95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767" y="20116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852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B2A4E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52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13C2E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852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65C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852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B2A4E"/>
                </a:solidFill>
                <a:latin typeface="Microsoft JhengHei"/>
              </a:rPr>
              <a:t>BM25F · Asymmetric Detection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B2A4E"/>
                </a:solidFill>
                <a:latin typeface="Microsoft JhengHei"/>
              </a:rPr>
              <a:t>6D Weighted Scoring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7852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EC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B2A4E"/>
                </a:solidFill>
                <a:latin typeface="Microsoft JhengHei"/>
              </a:rPr>
              <a:t>權重 22/18/15/18/12/15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7527" y="20116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328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B2A4E"/>
                </a:solidFill>
                <a:latin typeface="Microsoft JhengHei"/>
              </a:rPr>
              <a:t>決策影響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328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13C2E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328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65C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328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B2A4E"/>
                </a:solidFill>
                <a:latin typeface="Microsoft JhengHei"/>
              </a:rPr>
              <a:t>Cohort Adjustment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B2A4E"/>
                </a:solidFill>
                <a:latin typeface="Microsoft JhengHei"/>
              </a:rPr>
              <a:t>Linear Regression Baseline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328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EC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B2A4E"/>
                </a:solidFill>
                <a:latin typeface="Microsoft JhengHei"/>
              </a:rPr>
              <a:t>v2.2 學術創舉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8E0FF"/>
                </a:solidFill>
                <a:latin typeface="Microsoft JhengHei"/>
              </a:rPr>
              <a:t>模組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B2A4E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0FF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8" name="8-Point Star 7"/>
          <p:cNvSpPr/>
          <p:nvPr/>
        </p:nvSpPr>
        <p:spPr>
          <a:xfrm>
            <a:off x="10607040" y="274320"/>
            <a:ext cx="731520" cy="73152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13C2E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B2A4E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B2A4E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B2A4E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B2A4E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B2A4E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E28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8E0FF"/>
                </a:solidFill>
                <a:latin typeface="Microsoft JhengHei"/>
              </a:rPr>
              <a:t>模組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B2A4E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0FF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8" name="8-Point Star 7"/>
          <p:cNvSpPr/>
          <p:nvPr/>
        </p:nvSpPr>
        <p:spPr>
          <a:xfrm>
            <a:off x="10607040" y="274320"/>
            <a:ext cx="731520" cy="73152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13C2E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B2A4E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B2A4E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B2A4E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B2A4E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B2A4E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E28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8E0FF"/>
                </a:solidFill>
                <a:latin typeface="Microsoft JhengHei"/>
              </a:rPr>
              <a:t>模組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B2A4E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0FF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8" name="8-Point Star 7"/>
          <p:cNvSpPr/>
          <p:nvPr/>
        </p:nvSpPr>
        <p:spPr>
          <a:xfrm>
            <a:off x="10607040" y="274320"/>
            <a:ext cx="731520" cy="73152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13C2E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B2A4E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B2A4E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B2A4E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B2A4E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B2A4E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E28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A4E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65C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0FF"/>
                </a:solidFill>
                <a:latin typeface="Microsoft JhengHei"/>
              </a:rPr>
              <a:t>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1B2A4E"/>
                </a:solidFill>
                <a:latin typeface="Microsoft JhengHei"/>
              </a:rPr>
              <a:t>反推校準（Reverse Calibration）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0FF"/>
                </a:solidFill>
                <a:latin typeface="Microsoft JhengHei"/>
              </a:rPr>
              <a:t>為什麼我們的人工參數不是憑空捏的</a:t>
            </a:r>
          </a:p>
        </p:txBody>
      </p:sp>
      <p:sp>
        <p:nvSpPr>
          <p:cNvPr id="8" name="8-Point Star 7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9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C13C2E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B2A4E"/>
                </a:solidFill>
                <a:latin typeface="Microsoft JhengHei"/>
              </a:rPr>
              <a:t>先猜一個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看書、抄業界，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憑直覺給數字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98267" y="3977640"/>
            <a:ext cx="137160" cy="274320"/>
          </a:xfrm>
          <a:prstGeom prst="rightArrow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35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5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C13C2E"/>
                </a:solidFill>
                <a:latin typeface="Microsoft Jheng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5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B2A4E"/>
                </a:solidFill>
                <a:latin typeface="Microsoft JhengHei"/>
              </a:rPr>
              <a:t>拿資料跑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8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用 17 員工模擬資料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跑出結果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84267" y="3977640"/>
            <a:ext cx="137160" cy="274320"/>
          </a:xfrm>
          <a:prstGeom prst="rightArrow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1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1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C13C2E"/>
                </a:solidFill>
                <a:latin typeface="Microsoft Jheng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1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B2A4E"/>
                </a:solidFill>
                <a:latin typeface="Microsoft JhengHei"/>
              </a:rPr>
              <a:t>對答案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04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問主管：「這個結果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跟你直覺一不一樣？」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170267" y="3977640"/>
            <a:ext cx="137160" cy="274320"/>
          </a:xfrm>
          <a:prstGeom prst="rightArrow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07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07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C13C2E"/>
                </a:solidFill>
                <a:latin typeface="Microsoft Jheng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07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B2A4E"/>
                </a:solidFill>
                <a:latin typeface="Microsoft JhengHei"/>
              </a:rPr>
              <a:t>改數字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0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不一樣就回去調，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直到對得上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456267" y="3977640"/>
            <a:ext cx="137160" cy="274320"/>
          </a:xfrm>
          <a:prstGeom prst="rightArrow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93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93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C13C2E"/>
                </a:solidFill>
                <a:latin typeface="Microsoft Jheng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93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B2A4E"/>
                </a:solidFill>
                <a:latin typeface="Microsoft JhengHei"/>
              </a:rPr>
              <a:t>穩了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76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改到主管說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「對，就是這樣」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0" y="6035040"/>
            <a:ext cx="7589520" cy="411480"/>
          </a:xfrm>
          <a:prstGeom prst="roundRect">
            <a:avLst>
              <a:gd name="adj" fmla="val 40000"/>
            </a:avLst>
          </a:prstGeom>
          <a:solidFill>
            <a:srgbClr val="EC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400" b="1">
                <a:solidFill>
                  <a:srgbClr val="1B2A4E"/>
                </a:solidFill>
                <a:latin typeface="Microsoft JhengHei"/>
              </a:rPr>
              <a:t>「9 個係數不是 9 個獨立決定，是 1 個學理依據的離散採樣」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0FF"/>
                </a:solidFill>
                <a:latin typeface="Microsoft JhengHei"/>
              </a:rPr>
              <a:t>亮點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B2A4E"/>
                </a:solidFill>
                <a:latin typeface="Microsoft JhengHei"/>
              </a:rPr>
              <a:t>智能搜尋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0FF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8" name="8-Point Star 7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13C2E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案件標題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最重要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摘要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很重要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分類標籤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中等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負責人名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中等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內文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略看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留言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略看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13C2E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0FF"/>
                </a:solidFill>
                <a:latin typeface="Microsoft JhengHei"/>
              </a:rPr>
              <a:t>亮點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B2A4E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0FF"/>
                </a:solidFill>
                <a:latin typeface="Microsoft JhengHei"/>
              </a:rPr>
              <a:t>不用真的改人事，先模擬看看</a:t>
            </a:r>
          </a:p>
        </p:txBody>
      </p:sp>
      <p:sp>
        <p:nvSpPr>
          <p:cNvPr id="8" name="8-Point Star 7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2860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13C2E"/>
                </a:solidFill>
                <a:latin typeface="Microsoft JhengHei"/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B2A4E"/>
                </a:solidFill>
                <a:latin typeface="Microsoft JhengHei"/>
              </a:rPr>
              <a:t>拖員工到別組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用滑鼠拖一拖就好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2860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13C2E"/>
                </a:solidFill>
                <a:latin typeface="Microsoft JhengHei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B2A4E"/>
                </a:solidFill>
                <a:latin typeface="Microsoft JhengHei"/>
              </a:rPr>
              <a:t>即時看分佈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Gini 變了？誰過載？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22860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13C2E"/>
                </a:solidFill>
                <a:latin typeface="Microsoft JhengHei"/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B2A4E"/>
                </a:solidFill>
                <a:latin typeface="Microsoft JhengHei"/>
              </a:rPr>
              <a:t>系統給建議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「把 X 移到 Y 組會更平均」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846320"/>
            <a:ext cx="10698480" cy="1371600"/>
          </a:xfrm>
          <a:prstGeom prst="roundRect">
            <a:avLst>
              <a:gd name="adj" fmla="val 10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29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13C2E"/>
                </a:solidFill>
                <a:latin typeface="Microsoft JhengHei"/>
              </a:rPr>
              <a:t>為什麼這樣設計？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B2A4E"/>
                </a:solidFill>
                <a:latin typeface="Microsoft JhengHei"/>
              </a:rPr>
              <a:t>• 不用真的改人事 — 在「另一條時間線」試試看，反悔不要錢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B2A4E"/>
                </a:solidFill>
                <a:latin typeface="Microsoft JhengHei"/>
              </a:rPr>
              <a:t>• 拖到哪算到哪 — 拖曳當下就重算，不用等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B2A4E"/>
                </a:solidFill>
                <a:latin typeface="Microsoft JhengHei"/>
              </a:rPr>
              <a:t>• 系統會主動建議 — 「把蔡明遠移到投研，整體會更平均」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0FF"/>
                </a:solidFill>
                <a:latin typeface="Microsoft JhengHei"/>
              </a:rPr>
              <a:t>亮點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B2A4E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0FF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8" name="8-Point Star 7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13C2E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B2A4E"/>
                </a:solidFill>
                <a:latin typeface="Microsoft JhengHei"/>
              </a:rPr>
              <a:t>業務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B2A4E"/>
                </a:solidFill>
                <a:latin typeface="Microsoft JhengHei"/>
              </a:rPr>
              <a:t>設計</a:t>
            </a:r>
          </a:p>
        </p:txBody>
      </p:sp>
      <p:sp>
        <p:nvSpPr>
          <p:cNvPr id="15" name="Oval 14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B2A4E"/>
                </a:solidFill>
                <a:latin typeface="Microsoft JhengHei"/>
              </a:rPr>
              <a:t>RD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C13C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6B66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E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13C2E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B2A4E"/>
                </a:solidFill>
                <a:latin typeface="Microsoft JhengHei"/>
              </a:rPr>
              <a:t>Tech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7" name="8-Point Star 6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C13C2E"/>
                </a:solidFill>
                <a:latin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B2A4E"/>
                </a:solidFill>
                <a:latin typeface="Microsoft JhengHei"/>
              </a:rPr>
              <a:t>前端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C13C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C13C2E"/>
                </a:solidFill>
                <a:latin typeface="Microsoft Jheng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B2A4E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C13C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C13C2E"/>
                </a:solidFill>
                <a:latin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B2A4E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C13C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C13C2E"/>
                </a:solidFill>
                <a:latin typeface="Microsoft Jheng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B2A4E"/>
                </a:solidFill>
                <a:latin typeface="Microsoft JhengHei"/>
              </a:rPr>
              <a:t>部署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C13C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B2A4E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B2A4E"/>
                </a:solidFill>
                <a:latin typeface="Microsoft JhengHei"/>
              </a:rPr>
              <a:t>預期效益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7" name="8-Point Star 6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447" y="219456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44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C13C2E"/>
                </a:solidFill>
                <a:latin typeface="Microsoft JhengHei"/>
              </a:rPr>
              <a:t>90s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B2A4E"/>
                </a:solidFill>
                <a:latin typeface="Microsoft JhengHei"/>
              </a:rPr>
              <a:t>員工負載狀態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從 30 分鐘訪談 → 90 秒掃一眼雷達圖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8367" y="219456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836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C13C2E"/>
                </a:solidFill>
                <a:latin typeface="Microsoft JhengHei"/>
              </a:rPr>
              <a:t>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268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B2A4E"/>
                </a:solidFill>
                <a:latin typeface="Microsoft JhengHei"/>
              </a:rPr>
              <a:t>卡點 Recall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68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Asymmetric Detection 自動抓出主管直覺中的「卡」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728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C13C2E"/>
                </a:solidFill>
                <a:latin typeface="Microsoft JhengHe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B2A4E"/>
                </a:solidFill>
                <a:latin typeface="Microsoft JhengHei"/>
              </a:rPr>
              <a:t>決策回看率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v2.1 = 0%（沒人事後看）→ v2.2 = 強制回顧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6207" y="219456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7620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C13C2E"/>
                </a:solidFill>
                <a:latin typeface="Microsoft JhengHei"/>
              </a:rPr>
              <a:t>0元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052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B2A4E"/>
                </a:solidFill>
                <a:latin typeface="Microsoft JhengHei"/>
              </a:rPr>
              <a:t>授權成本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052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全用開源 + Firebase 免費額度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B2A4E"/>
                </a:solidFill>
                <a:latin typeface="Microsoft JhengHei"/>
              </a:rPr>
              <a:t>已知限制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7" name="8-Point Star 6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13C2E"/>
                </a:solidFill>
                <a:latin typeface="Microsoft JhengHei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B2A4E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13C2E"/>
                </a:solidFill>
                <a:latin typeface="Microsoft JhengHei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B2A4E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13C2E"/>
                </a:solidFill>
                <a:latin typeface="Microsoft JhengHei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B2A4E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13C2E"/>
                </a:solidFill>
                <a:latin typeface="Microsoft JhengHe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B2A4E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65C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1B2A4E"/>
                </a:solidFill>
                <a:latin typeface="Microsoft JhengHe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" cy="164592"/>
          </a:xfrm>
          <a:prstGeom prst="rect">
            <a:avLst/>
          </a:prstGeom>
          <a:solidFill>
            <a:srgbClr val="C1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8-Point Star 4"/>
          <p:cNvSpPr/>
          <p:nvPr/>
        </p:nvSpPr>
        <p:spPr>
          <a:xfrm>
            <a:off x="10332720" y="4754880"/>
            <a:ext cx="1280160" cy="1280160"/>
          </a:xfrm>
          <a:prstGeom prst="star8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8-Point Star 5"/>
          <p:cNvSpPr/>
          <p:nvPr/>
        </p:nvSpPr>
        <p:spPr>
          <a:xfrm>
            <a:off x="365760" y="548640"/>
            <a:ext cx="640080" cy="640080"/>
          </a:xfrm>
          <a:prstGeom prst="star8">
            <a:avLst/>
          </a:prstGeom>
          <a:solidFill>
            <a:srgbClr val="E8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1B2A4E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F0E8FF"/>
                </a:solidFill>
                <a:latin typeface="Microsoft JhengHei"/>
              </a:rPr>
              <a:t>我們不假裝每個係數都來自論文，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F0E8FF"/>
                </a:solidFill>
                <a:latin typeface="Microsoft JhengHei"/>
              </a:rPr>
              <a:t>但每個係數都經過反推校準。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F0E8FF"/>
                </a:solidFill>
                <a:latin typeface="Microsoft Jheng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F0E8FF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5486400"/>
            <a:ext cx="3931920" cy="640080"/>
          </a:xfrm>
          <a:prstGeom prst="roundRect">
            <a:avLst>
              <a:gd name="adj" fmla="val 40000"/>
            </a:avLst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2200" b="1">
                <a:solidFill>
                  <a:srgbClr val="1B2A4E"/>
                </a:solidFill>
                <a:latin typeface="Microsoft JhengHei"/>
              </a:rPr>
              <a:t>Thank You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