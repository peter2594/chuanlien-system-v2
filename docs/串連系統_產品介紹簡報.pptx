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</p:sldIdLst>
  <p:notesMasterIdLst>
    <p:notesMasterId r:id="rId16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notesMaster" Target="notesMasters/notesMaster1.xml"/><Relationship Id="rId17" Type="http://schemas.openxmlformats.org/officeDocument/2006/relationships/presProps" Target="presProps.xml"/><Relationship Id="rId18" Type="http://schemas.openxmlformats.org/officeDocument/2006/relationships/viewProps" Target="viewProps.xml"/><Relationship Id="rId19" Type="http://schemas.openxmlformats.org/officeDocument/2006/relationships/theme" Target="theme/theme1.xml"/><Relationship Id="rId20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5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6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7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0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4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E276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365760" cy="6858000"/>
          </a:xfrm>
          <a:prstGeom prst="rect">
            <a:avLst/>
          </a:prstGeom>
          <a:solidFill>
            <a:srgbClr val="F96167"/>
          </a:solidFill>
          <a:ln/>
        </p:spPr>
      </p:sp>
      <p:sp>
        <p:nvSpPr>
          <p:cNvPr id="3" name="Text 1"/>
          <p:cNvSpPr/>
          <p:nvPr/>
        </p:nvSpPr>
        <p:spPr>
          <a:xfrm>
            <a:off x="822960" y="548640"/>
            <a:ext cx="7315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4800" b="1" dirty="0">
                <a:solidFill>
                  <a:srgbClr val="F96167"/>
                </a:solidFill>
                <a:latin typeface="Microsoft JhengHei UI" pitchFamily="34" charset="0"/>
                <a:ea typeface="Microsoft JhengHei UI" pitchFamily="34" charset="-122"/>
                <a:cs typeface="Microsoft JhengHei UI" pitchFamily="34" charset="-120"/>
              </a:rPr>
              <a:t>串</a:t>
            </a:r>
            <a:endParaRPr lang="en-US" sz="4800" dirty="0"/>
          </a:p>
        </p:txBody>
      </p:sp>
      <p:sp>
        <p:nvSpPr>
          <p:cNvPr id="4" name="Text 2"/>
          <p:cNvSpPr/>
          <p:nvPr/>
        </p:nvSpPr>
        <p:spPr>
          <a:xfrm>
            <a:off x="822960" y="1371600"/>
            <a:ext cx="7315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spc="600" kern="0" dirty="0">
                <a:solidFill>
                  <a:srgbClr val="CADCFC"/>
                </a:solidFill>
                <a:latin typeface="Microsoft JhengHei UI" pitchFamily="34" charset="0"/>
                <a:ea typeface="Microsoft JhengHei UI" pitchFamily="34" charset="-122"/>
                <a:cs typeface="Microsoft JhengHei UI" pitchFamily="34" charset="-120"/>
              </a:rPr>
              <a:t>CHUANLIEN SYSTEM · v2.2</a:t>
            </a:r>
            <a:endParaRPr lang="en-US" sz="1200" dirty="0"/>
          </a:p>
        </p:txBody>
      </p:sp>
      <p:sp>
        <p:nvSpPr>
          <p:cNvPr id="5" name="Text 3"/>
          <p:cNvSpPr/>
          <p:nvPr/>
        </p:nvSpPr>
        <p:spPr>
          <a:xfrm>
            <a:off x="822960" y="1828800"/>
            <a:ext cx="10058400" cy="11887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200" b="1" dirty="0">
                <a:solidFill>
                  <a:srgbClr val="FFFFFF"/>
                </a:solidFill>
                <a:latin typeface="Microsoft JhengHei UI" pitchFamily="34" charset="0"/>
                <a:ea typeface="Microsoft JhengHei UI" pitchFamily="34" charset="-122"/>
                <a:cs typeface="Microsoft JhengHei UI" pitchFamily="34" charset="-120"/>
              </a:rPr>
              <a:t>串連系統</a:t>
            </a:r>
            <a:endParaRPr lang="en-US" sz="7200" dirty="0"/>
          </a:p>
        </p:txBody>
      </p:sp>
      <p:sp>
        <p:nvSpPr>
          <p:cNvPr id="6" name="Text 4"/>
          <p:cNvSpPr/>
          <p:nvPr/>
        </p:nvSpPr>
        <p:spPr>
          <a:xfrm>
            <a:off x="822960" y="3017520"/>
            <a:ext cx="100584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dirty="0">
                <a:solidFill>
                  <a:srgbClr val="CADCFC"/>
                </a:solidFill>
                <a:latin typeface="Microsoft JhengHei UI" pitchFamily="34" charset="0"/>
                <a:ea typeface="Microsoft JhengHei UI" pitchFamily="34" charset="-122"/>
                <a:cs typeface="Microsoft JhengHei UI" pitchFamily="34" charset="-120"/>
              </a:rPr>
              <a:t>投資公司管理層決策輔助系統</a:t>
            </a:r>
            <a:endParaRPr lang="en-US" sz="2800" dirty="0"/>
          </a:p>
        </p:txBody>
      </p:sp>
      <p:sp>
        <p:nvSpPr>
          <p:cNvPr id="7" name="Shape 5"/>
          <p:cNvSpPr/>
          <p:nvPr/>
        </p:nvSpPr>
        <p:spPr>
          <a:xfrm>
            <a:off x="822960" y="4023360"/>
            <a:ext cx="1371600" cy="0"/>
          </a:xfrm>
          <a:prstGeom prst="line">
            <a:avLst/>
          </a:prstGeom>
          <a:noFill/>
          <a:ln w="25400">
            <a:solidFill>
              <a:srgbClr val="F96167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822960" y="4206240"/>
            <a:ext cx="100584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i="1" dirty="0">
                <a:solidFill>
                  <a:srgbClr val="FFFFFF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用恰當的演算法，解決管理層真正的痛點</a:t>
            </a:r>
            <a:endParaRPr lang="en-US" sz="1800" dirty="0"/>
          </a:p>
        </p:txBody>
      </p:sp>
      <p:sp>
        <p:nvSpPr>
          <p:cNvPr id="9" name="Text 7"/>
          <p:cNvSpPr/>
          <p:nvPr/>
        </p:nvSpPr>
        <p:spPr>
          <a:xfrm>
            <a:off x="822960" y="5760720"/>
            <a:ext cx="10058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CADCFC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資管導論 第 13 組  ·  React 19 + TypeScript + Firebase  ·  25 演算法整合</a:t>
            </a:r>
            <a:endParaRPr lang="en-US" sz="1200" dirty="0"/>
          </a:p>
        </p:txBody>
      </p:sp>
      <p:sp>
        <p:nvSpPr>
          <p:cNvPr id="10" name="Shape 8"/>
          <p:cNvSpPr/>
          <p:nvPr/>
        </p:nvSpPr>
        <p:spPr>
          <a:xfrm>
            <a:off x="10789920" y="6035040"/>
            <a:ext cx="1097280" cy="548640"/>
          </a:xfrm>
          <a:prstGeom prst="rect">
            <a:avLst/>
          </a:prstGeom>
          <a:solidFill>
            <a:srgbClr val="F96167"/>
          </a:solidFill>
          <a:ln/>
        </p:spPr>
      </p:sp>
      <p:sp>
        <p:nvSpPr>
          <p:cNvPr id="11" name="Text 9"/>
          <p:cNvSpPr/>
          <p:nvPr/>
        </p:nvSpPr>
        <p:spPr>
          <a:xfrm>
            <a:off x="10789920" y="6035040"/>
            <a:ext cx="10972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Microsoft JhengHei UI" pitchFamily="34" charset="0"/>
                <a:ea typeface="Microsoft JhengHei UI" pitchFamily="34" charset="-122"/>
                <a:cs typeface="Microsoft JhengHei UI" pitchFamily="34" charset="-120"/>
              </a:rPr>
              <a:t>v2.2</a:t>
            </a:r>
            <a:endParaRPr lang="en-US" sz="18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457200"/>
            <a:ext cx="548640" cy="320040"/>
          </a:xfrm>
          <a:prstGeom prst="rect">
            <a:avLst/>
          </a:prstGeom>
          <a:solidFill>
            <a:srgbClr val="1E2761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457200"/>
            <a:ext cx="5486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Microsoft JhengHei UI" pitchFamily="34" charset="0"/>
                <a:ea typeface="Microsoft JhengHei UI" pitchFamily="34" charset="-122"/>
                <a:cs typeface="Microsoft JhengHei UI" pitchFamily="34" charset="-120"/>
              </a:rPr>
              <a:t>01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1188720" y="457200"/>
            <a:ext cx="100584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spc="400" kern="0" dirty="0">
                <a:solidFill>
                  <a:srgbClr val="94A3B8"/>
                </a:solidFill>
                <a:latin typeface="Microsoft JhengHei UI" pitchFamily="34" charset="0"/>
                <a:ea typeface="Microsoft JhengHei UI" pitchFamily="34" charset="-122"/>
                <a:cs typeface="Microsoft JhengHei UI" pitchFamily="34" charset="-120"/>
              </a:rPr>
              <a:t>管理層每天面對的問題</a:t>
            </a:r>
            <a:endParaRPr lang="en-US" sz="1400" dirty="0"/>
          </a:p>
        </p:txBody>
      </p:sp>
      <p:sp>
        <p:nvSpPr>
          <p:cNvPr id="5" name="Text 3"/>
          <p:cNvSpPr/>
          <p:nvPr/>
        </p:nvSpPr>
        <p:spPr>
          <a:xfrm>
            <a:off x="457200" y="914400"/>
            <a:ext cx="1097280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4200" b="1" dirty="0">
                <a:solidFill>
                  <a:srgbClr val="1E2761"/>
                </a:solidFill>
                <a:latin typeface="Microsoft JhengHei UI" pitchFamily="34" charset="0"/>
                <a:ea typeface="Microsoft JhengHei UI" pitchFamily="34" charset="-122"/>
                <a:cs typeface="Microsoft JhengHei UI" pitchFamily="34" charset="-120"/>
              </a:rPr>
              <a:t>痛點是什麼？</a:t>
            </a:r>
            <a:endParaRPr lang="en-US" sz="4200" dirty="0"/>
          </a:p>
        </p:txBody>
      </p:sp>
      <p:sp>
        <p:nvSpPr>
          <p:cNvPr id="6" name="Shape 4"/>
          <p:cNvSpPr/>
          <p:nvPr/>
        </p:nvSpPr>
        <p:spPr>
          <a:xfrm>
            <a:off x="548640" y="2286000"/>
            <a:ext cx="2606040" cy="3657600"/>
          </a:xfrm>
          <a:prstGeom prst="rect">
            <a:avLst/>
          </a:prstGeom>
          <a:solidFill>
            <a:srgbClr val="F1F5F9"/>
          </a:solidFill>
          <a:ln w="12700">
            <a:solidFill>
              <a:srgbClr val="CADCFC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548640" y="2286000"/>
            <a:ext cx="73152" cy="3657600"/>
          </a:xfrm>
          <a:prstGeom prst="rect">
            <a:avLst/>
          </a:prstGeom>
          <a:solidFill>
            <a:srgbClr val="F96167"/>
          </a:solidFill>
          <a:ln/>
        </p:spPr>
      </p:sp>
      <p:sp>
        <p:nvSpPr>
          <p:cNvPr id="8" name="Text 6"/>
          <p:cNvSpPr/>
          <p:nvPr/>
        </p:nvSpPr>
        <p:spPr>
          <a:xfrm>
            <a:off x="822960" y="2560320"/>
            <a:ext cx="9144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4400" dirty="0">
                <a:solidFill>
                  <a:srgbClr val="000000"/>
                </a:solidFill>
              </a:rPr>
              <a:t>⏰</a:t>
            </a:r>
            <a:endParaRPr lang="en-US" sz="4400" dirty="0"/>
          </a:p>
        </p:txBody>
      </p:sp>
      <p:sp>
        <p:nvSpPr>
          <p:cNvPr id="9" name="Text 7"/>
          <p:cNvSpPr/>
          <p:nvPr/>
        </p:nvSpPr>
        <p:spPr>
          <a:xfrm>
            <a:off x="822960" y="3657600"/>
            <a:ext cx="219456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E2761"/>
                </a:solidFill>
                <a:latin typeface="Microsoft JhengHei UI" pitchFamily="34" charset="0"/>
                <a:ea typeface="Microsoft JhengHei UI" pitchFamily="34" charset="-122"/>
                <a:cs typeface="Microsoft JhengHei UI" pitchFamily="34" charset="-120"/>
              </a:rPr>
              <a:t>時間少</a:t>
            </a:r>
            <a:endParaRPr lang="en-US" sz="2600" dirty="0"/>
          </a:p>
        </p:txBody>
      </p:sp>
      <p:sp>
        <p:nvSpPr>
          <p:cNvPr id="10" name="Text 8"/>
          <p:cNvSpPr/>
          <p:nvPr/>
        </p:nvSpPr>
        <p:spPr>
          <a:xfrm>
            <a:off x="822960" y="4297680"/>
            <a:ext cx="2194560" cy="1371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475569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董事長 / COO 每天行程滿，沒時間翻 50 頁報表</a:t>
            </a:r>
            <a:endParaRPr lang="en-US" sz="1300" dirty="0"/>
          </a:p>
        </p:txBody>
      </p:sp>
      <p:sp>
        <p:nvSpPr>
          <p:cNvPr id="11" name="Shape 9"/>
          <p:cNvSpPr/>
          <p:nvPr/>
        </p:nvSpPr>
        <p:spPr>
          <a:xfrm>
            <a:off x="3383280" y="2286000"/>
            <a:ext cx="2606040" cy="3657600"/>
          </a:xfrm>
          <a:prstGeom prst="rect">
            <a:avLst/>
          </a:prstGeom>
          <a:solidFill>
            <a:srgbClr val="F1F5F9"/>
          </a:solidFill>
          <a:ln w="12700">
            <a:solidFill>
              <a:srgbClr val="CADCFC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3383280" y="2286000"/>
            <a:ext cx="73152" cy="3657600"/>
          </a:xfrm>
          <a:prstGeom prst="rect">
            <a:avLst/>
          </a:prstGeom>
          <a:solidFill>
            <a:srgbClr val="F96167"/>
          </a:solidFill>
          <a:ln/>
        </p:spPr>
      </p:sp>
      <p:sp>
        <p:nvSpPr>
          <p:cNvPr id="13" name="Text 11"/>
          <p:cNvSpPr/>
          <p:nvPr/>
        </p:nvSpPr>
        <p:spPr>
          <a:xfrm>
            <a:off x="3657600" y="2560320"/>
            <a:ext cx="9144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4400" dirty="0">
                <a:solidFill>
                  <a:srgbClr val="000000"/>
                </a:solidFill>
              </a:rPr>
              <a:t>🔀</a:t>
            </a:r>
            <a:endParaRPr lang="en-US" sz="4400" dirty="0"/>
          </a:p>
        </p:txBody>
      </p:sp>
      <p:sp>
        <p:nvSpPr>
          <p:cNvPr id="14" name="Text 12"/>
          <p:cNvSpPr/>
          <p:nvPr/>
        </p:nvSpPr>
        <p:spPr>
          <a:xfrm>
            <a:off x="3657600" y="3657600"/>
            <a:ext cx="219456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E2761"/>
                </a:solidFill>
                <a:latin typeface="Microsoft JhengHei UI" pitchFamily="34" charset="0"/>
                <a:ea typeface="Microsoft JhengHei UI" pitchFamily="34" charset="-122"/>
                <a:cs typeface="Microsoft JhengHei UI" pitchFamily="34" charset="-120"/>
              </a:rPr>
              <a:t>資料散</a:t>
            </a:r>
            <a:endParaRPr lang="en-US" sz="2600" dirty="0"/>
          </a:p>
        </p:txBody>
      </p:sp>
      <p:sp>
        <p:nvSpPr>
          <p:cNvPr id="15" name="Text 13"/>
          <p:cNvSpPr/>
          <p:nvPr/>
        </p:nvSpPr>
        <p:spPr>
          <a:xfrm>
            <a:off x="3657600" y="4297680"/>
            <a:ext cx="2194560" cy="1371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475569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週報、交接、決策、卡點…散在不同地方，沒有整合視角</a:t>
            </a:r>
            <a:endParaRPr lang="en-US" sz="1300" dirty="0"/>
          </a:p>
        </p:txBody>
      </p:sp>
      <p:sp>
        <p:nvSpPr>
          <p:cNvPr id="16" name="Shape 14"/>
          <p:cNvSpPr/>
          <p:nvPr/>
        </p:nvSpPr>
        <p:spPr>
          <a:xfrm>
            <a:off x="6217920" y="2286000"/>
            <a:ext cx="2606040" cy="3657600"/>
          </a:xfrm>
          <a:prstGeom prst="rect">
            <a:avLst/>
          </a:prstGeom>
          <a:solidFill>
            <a:srgbClr val="F1F5F9"/>
          </a:solidFill>
          <a:ln w="12700">
            <a:solidFill>
              <a:srgbClr val="CADCFC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6217920" y="2286000"/>
            <a:ext cx="73152" cy="3657600"/>
          </a:xfrm>
          <a:prstGeom prst="rect">
            <a:avLst/>
          </a:prstGeom>
          <a:solidFill>
            <a:srgbClr val="F96167"/>
          </a:solidFill>
          <a:ln/>
        </p:spPr>
      </p:sp>
      <p:sp>
        <p:nvSpPr>
          <p:cNvPr id="18" name="Text 16"/>
          <p:cNvSpPr/>
          <p:nvPr/>
        </p:nvSpPr>
        <p:spPr>
          <a:xfrm>
            <a:off x="6492240" y="2560320"/>
            <a:ext cx="9144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4400" dirty="0">
                <a:solidFill>
                  <a:srgbClr val="000000"/>
                </a:solidFill>
              </a:rPr>
              <a:t>❓</a:t>
            </a:r>
            <a:endParaRPr lang="en-US" sz="4400" dirty="0"/>
          </a:p>
        </p:txBody>
      </p:sp>
      <p:sp>
        <p:nvSpPr>
          <p:cNvPr id="19" name="Text 17"/>
          <p:cNvSpPr/>
          <p:nvPr/>
        </p:nvSpPr>
        <p:spPr>
          <a:xfrm>
            <a:off x="6492240" y="3657600"/>
            <a:ext cx="219456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E2761"/>
                </a:solidFill>
                <a:latin typeface="Microsoft JhengHei UI" pitchFamily="34" charset="0"/>
                <a:ea typeface="Microsoft JhengHei UI" pitchFamily="34" charset="-122"/>
                <a:cs typeface="Microsoft JhengHei UI" pitchFamily="34" charset="-120"/>
              </a:rPr>
              <a:t>看不清</a:t>
            </a:r>
            <a:endParaRPr lang="en-US" sz="2600" dirty="0"/>
          </a:p>
        </p:txBody>
      </p:sp>
      <p:sp>
        <p:nvSpPr>
          <p:cNvPr id="20" name="Text 18"/>
          <p:cNvSpPr/>
          <p:nvPr/>
        </p:nvSpPr>
        <p:spPr>
          <a:xfrm>
            <a:off x="6492240" y="4297680"/>
            <a:ext cx="2194560" cy="1371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475569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卡點到底嚴重嗎？員工負載合理嗎？沒有量化標準</a:t>
            </a:r>
            <a:endParaRPr lang="en-US" sz="1300" dirty="0"/>
          </a:p>
        </p:txBody>
      </p:sp>
      <p:sp>
        <p:nvSpPr>
          <p:cNvPr id="21" name="Shape 19"/>
          <p:cNvSpPr/>
          <p:nvPr/>
        </p:nvSpPr>
        <p:spPr>
          <a:xfrm>
            <a:off x="9052560" y="2286000"/>
            <a:ext cx="2606040" cy="3657600"/>
          </a:xfrm>
          <a:prstGeom prst="rect">
            <a:avLst/>
          </a:prstGeom>
          <a:solidFill>
            <a:srgbClr val="F1F5F9"/>
          </a:solidFill>
          <a:ln w="12700">
            <a:solidFill>
              <a:srgbClr val="CADCFC"/>
            </a:solidFill>
            <a:prstDash val="solid"/>
          </a:ln>
        </p:spPr>
      </p:sp>
      <p:sp>
        <p:nvSpPr>
          <p:cNvPr id="22" name="Shape 20"/>
          <p:cNvSpPr/>
          <p:nvPr/>
        </p:nvSpPr>
        <p:spPr>
          <a:xfrm>
            <a:off x="9052560" y="2286000"/>
            <a:ext cx="73152" cy="3657600"/>
          </a:xfrm>
          <a:prstGeom prst="rect">
            <a:avLst/>
          </a:prstGeom>
          <a:solidFill>
            <a:srgbClr val="F96167"/>
          </a:solidFill>
          <a:ln/>
        </p:spPr>
      </p:sp>
      <p:sp>
        <p:nvSpPr>
          <p:cNvPr id="23" name="Text 21"/>
          <p:cNvSpPr/>
          <p:nvPr/>
        </p:nvSpPr>
        <p:spPr>
          <a:xfrm>
            <a:off x="9326880" y="2560320"/>
            <a:ext cx="9144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4400" dirty="0">
                <a:solidFill>
                  <a:srgbClr val="000000"/>
                </a:solidFill>
              </a:rPr>
              <a:t>🎯</a:t>
            </a:r>
            <a:endParaRPr lang="en-US" sz="4400" dirty="0"/>
          </a:p>
        </p:txBody>
      </p:sp>
      <p:sp>
        <p:nvSpPr>
          <p:cNvPr id="24" name="Text 22"/>
          <p:cNvSpPr/>
          <p:nvPr/>
        </p:nvSpPr>
        <p:spPr>
          <a:xfrm>
            <a:off x="9326880" y="3657600"/>
            <a:ext cx="219456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E2761"/>
                </a:solidFill>
                <a:latin typeface="Microsoft JhengHei UI" pitchFamily="34" charset="0"/>
                <a:ea typeface="Microsoft JhengHei UI" pitchFamily="34" charset="-122"/>
                <a:cs typeface="Microsoft JhengHei UI" pitchFamily="34" charset="-120"/>
              </a:rPr>
              <a:t>難決策</a:t>
            </a:r>
            <a:endParaRPr lang="en-US" sz="2600" dirty="0"/>
          </a:p>
        </p:txBody>
      </p:sp>
      <p:sp>
        <p:nvSpPr>
          <p:cNvPr id="25" name="Text 23"/>
          <p:cNvSpPr/>
          <p:nvPr/>
        </p:nvSpPr>
        <p:spPr>
          <a:xfrm>
            <a:off x="9326880" y="4297680"/>
            <a:ext cx="2194560" cy="1371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475569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做決策前不知道後果，做完後也不知道有沒有改善</a:t>
            </a:r>
            <a:endParaRPr lang="en-US" sz="1300" dirty="0"/>
          </a:p>
        </p:txBody>
      </p:sp>
      <p:sp>
        <p:nvSpPr>
          <p:cNvPr id="26" name="Text 24"/>
          <p:cNvSpPr/>
          <p:nvPr/>
        </p:nvSpPr>
        <p:spPr>
          <a:xfrm>
            <a:off x="457200" y="6035040"/>
            <a:ext cx="109728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475569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→ 我們需要一個</a:t>
            </a:r>
            <a:pPr algn="ctr" indent="0" marL="0">
              <a:buNone/>
            </a:pPr>
            <a:r>
              <a:rPr lang="en-US" sz="1400" b="1" dirty="0">
                <a:solidFill>
                  <a:srgbClr val="1E2761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懂演算法、會自動整合、可以解釋</a:t>
            </a:r>
            <a:pPr algn="ctr" indent="0" marL="0">
              <a:buNone/>
            </a:pPr>
            <a:r>
              <a:rPr lang="en-US" sz="1400" dirty="0">
                <a:solidFill>
                  <a:srgbClr val="475569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的決策輔助平台。</a:t>
            </a:r>
            <a:endParaRPr lang="en-US" sz="1400" dirty="0"/>
          </a:p>
        </p:txBody>
      </p:sp>
      <p:sp>
        <p:nvSpPr>
          <p:cNvPr id="27" name="Shape 25"/>
          <p:cNvSpPr/>
          <p:nvPr/>
        </p:nvSpPr>
        <p:spPr>
          <a:xfrm>
            <a:off x="457200" y="6537960"/>
            <a:ext cx="11247120" cy="0"/>
          </a:xfrm>
          <a:prstGeom prst="line">
            <a:avLst/>
          </a:prstGeom>
          <a:noFill/>
          <a:ln w="9525">
            <a:solidFill>
              <a:srgbClr val="CADCFC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457200" y="6583680"/>
            <a:ext cx="54864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94A3B8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串連系統 v2.2 · Chuanlien System</a:t>
            </a:r>
            <a:endParaRPr lang="en-US" sz="900" dirty="0"/>
          </a:p>
        </p:txBody>
      </p:sp>
      <p:sp>
        <p:nvSpPr>
          <p:cNvPr id="29" name="Text 27"/>
          <p:cNvSpPr/>
          <p:nvPr/>
        </p:nvSpPr>
        <p:spPr>
          <a:xfrm>
            <a:off x="10789920" y="6583680"/>
            <a:ext cx="9144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94A3B8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2 / 14</a:t>
            </a:r>
            <a:endParaRPr lang="en-US" sz="9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457200"/>
            <a:ext cx="548640" cy="320040"/>
          </a:xfrm>
          <a:prstGeom prst="rect">
            <a:avLst/>
          </a:prstGeom>
          <a:solidFill>
            <a:srgbClr val="1E2761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457200"/>
            <a:ext cx="5486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Microsoft JhengHei UI" pitchFamily="34" charset="0"/>
                <a:ea typeface="Microsoft JhengHei UI" pitchFamily="34" charset="-122"/>
                <a:cs typeface="Microsoft JhengHei UI" pitchFamily="34" charset="-120"/>
              </a:rPr>
              <a:t>02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1188720" y="457200"/>
            <a:ext cx="100584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spc="400" kern="0" dirty="0">
                <a:solidFill>
                  <a:srgbClr val="94A3B8"/>
                </a:solidFill>
                <a:latin typeface="Microsoft JhengHei UI" pitchFamily="34" charset="0"/>
                <a:ea typeface="Microsoft JhengHei UI" pitchFamily="34" charset="-122"/>
                <a:cs typeface="Microsoft JhengHei UI" pitchFamily="34" charset="-120"/>
              </a:rPr>
              <a:t>解法概觀</a:t>
            </a:r>
            <a:endParaRPr lang="en-US" sz="1400" dirty="0"/>
          </a:p>
        </p:txBody>
      </p:sp>
      <p:sp>
        <p:nvSpPr>
          <p:cNvPr id="5" name="Text 3"/>
          <p:cNvSpPr/>
          <p:nvPr/>
        </p:nvSpPr>
        <p:spPr>
          <a:xfrm>
            <a:off x="457200" y="914400"/>
            <a:ext cx="1097280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4200" b="1" dirty="0">
                <a:solidFill>
                  <a:srgbClr val="1E2761"/>
                </a:solidFill>
                <a:latin typeface="Microsoft JhengHei UI" pitchFamily="34" charset="0"/>
                <a:ea typeface="Microsoft JhengHei UI" pitchFamily="34" charset="-122"/>
                <a:cs typeface="Microsoft JhengHei UI" pitchFamily="34" charset="-120"/>
              </a:rPr>
              <a:t>10 個整合模組</a:t>
            </a:r>
            <a:endParaRPr lang="en-US" sz="4200" dirty="0"/>
          </a:p>
        </p:txBody>
      </p:sp>
      <p:sp>
        <p:nvSpPr>
          <p:cNvPr id="6" name="Text 4"/>
          <p:cNvSpPr/>
          <p:nvPr/>
        </p:nvSpPr>
        <p:spPr>
          <a:xfrm>
            <a:off x="457200" y="1828800"/>
            <a:ext cx="109728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475569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從週報到決策，從卡點到雷達，全部聯動。</a:t>
            </a:r>
            <a:endParaRPr lang="en-US" sz="1600" dirty="0"/>
          </a:p>
        </p:txBody>
      </p:sp>
      <p:sp>
        <p:nvSpPr>
          <p:cNvPr id="7" name="Shape 5"/>
          <p:cNvSpPr/>
          <p:nvPr/>
        </p:nvSpPr>
        <p:spPr>
          <a:xfrm>
            <a:off x="548640" y="2651760"/>
            <a:ext cx="2103120" cy="1417320"/>
          </a:xfrm>
          <a:prstGeom prst="rect">
            <a:avLst/>
          </a:prstGeom>
          <a:solidFill>
            <a:srgbClr val="1E2761"/>
          </a:solidFill>
          <a:ln/>
        </p:spPr>
      </p:sp>
      <p:sp>
        <p:nvSpPr>
          <p:cNvPr id="8" name="Text 6"/>
          <p:cNvSpPr/>
          <p:nvPr/>
        </p:nvSpPr>
        <p:spPr>
          <a:xfrm>
            <a:off x="731520" y="2880360"/>
            <a:ext cx="17373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CADCFC"/>
                </a:solidFill>
                <a:latin typeface="Microsoft JhengHei UI" pitchFamily="34" charset="0"/>
                <a:ea typeface="Microsoft JhengHei UI" pitchFamily="34" charset="-122"/>
                <a:cs typeface="Microsoft JhengHei UI" pitchFamily="34" charset="-120"/>
              </a:rPr>
              <a:t>Dashboard</a:t>
            </a:r>
            <a:endParaRPr lang="en-US" sz="1300" dirty="0"/>
          </a:p>
        </p:txBody>
      </p:sp>
      <p:sp>
        <p:nvSpPr>
          <p:cNvPr id="9" name="Text 7"/>
          <p:cNvSpPr/>
          <p:nvPr/>
        </p:nvSpPr>
        <p:spPr>
          <a:xfrm>
            <a:off x="731520" y="3291840"/>
            <a:ext cx="173736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Microsoft JhengHei UI" pitchFamily="34" charset="0"/>
                <a:ea typeface="Microsoft JhengHei UI" pitchFamily="34" charset="-122"/>
                <a:cs typeface="Microsoft JhengHei UI" pitchFamily="34" charset="-120"/>
              </a:rPr>
              <a:t>管理層摘要</a:t>
            </a:r>
            <a:endParaRPr lang="en-US" sz="1800" dirty="0"/>
          </a:p>
        </p:txBody>
      </p:sp>
      <p:sp>
        <p:nvSpPr>
          <p:cNvPr id="10" name="Shape 8"/>
          <p:cNvSpPr/>
          <p:nvPr/>
        </p:nvSpPr>
        <p:spPr>
          <a:xfrm>
            <a:off x="2834640" y="2651760"/>
            <a:ext cx="2103120" cy="1417320"/>
          </a:xfrm>
          <a:prstGeom prst="rect">
            <a:avLst/>
          </a:prstGeom>
          <a:solidFill>
            <a:srgbClr val="2A3B7C"/>
          </a:solidFill>
          <a:ln/>
        </p:spPr>
      </p:sp>
      <p:sp>
        <p:nvSpPr>
          <p:cNvPr id="11" name="Text 9"/>
          <p:cNvSpPr/>
          <p:nvPr/>
        </p:nvSpPr>
        <p:spPr>
          <a:xfrm>
            <a:off x="3017520" y="2880360"/>
            <a:ext cx="17373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CADCFC"/>
                </a:solidFill>
                <a:latin typeface="Microsoft JhengHei UI" pitchFamily="34" charset="0"/>
                <a:ea typeface="Microsoft JhengHei UI" pitchFamily="34" charset="-122"/>
                <a:cs typeface="Microsoft JhengHei UI" pitchFamily="34" charset="-120"/>
              </a:rPr>
              <a:t>WeeklyReport</a:t>
            </a:r>
            <a:endParaRPr lang="en-US" sz="1300" dirty="0"/>
          </a:p>
        </p:txBody>
      </p:sp>
      <p:sp>
        <p:nvSpPr>
          <p:cNvPr id="12" name="Text 10"/>
          <p:cNvSpPr/>
          <p:nvPr/>
        </p:nvSpPr>
        <p:spPr>
          <a:xfrm>
            <a:off x="3017520" y="3291840"/>
            <a:ext cx="173736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Microsoft JhengHei UI" pitchFamily="34" charset="0"/>
                <a:ea typeface="Microsoft JhengHei UI" pitchFamily="34" charset="-122"/>
                <a:cs typeface="Microsoft JhengHei UI" pitchFamily="34" charset="-120"/>
              </a:rPr>
              <a:t>週報填寫</a:t>
            </a:r>
            <a:endParaRPr lang="en-US" sz="1800" dirty="0"/>
          </a:p>
        </p:txBody>
      </p:sp>
      <p:sp>
        <p:nvSpPr>
          <p:cNvPr id="13" name="Shape 11"/>
          <p:cNvSpPr/>
          <p:nvPr/>
        </p:nvSpPr>
        <p:spPr>
          <a:xfrm>
            <a:off x="5120640" y="2651760"/>
            <a:ext cx="2103120" cy="1417320"/>
          </a:xfrm>
          <a:prstGeom prst="rect">
            <a:avLst/>
          </a:prstGeom>
          <a:solidFill>
            <a:srgbClr val="1E2761"/>
          </a:solidFill>
          <a:ln/>
        </p:spPr>
      </p:sp>
      <p:sp>
        <p:nvSpPr>
          <p:cNvPr id="14" name="Text 12"/>
          <p:cNvSpPr/>
          <p:nvPr/>
        </p:nvSpPr>
        <p:spPr>
          <a:xfrm>
            <a:off x="5303520" y="2880360"/>
            <a:ext cx="17373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CADCFC"/>
                </a:solidFill>
                <a:latin typeface="Microsoft JhengHei UI" pitchFamily="34" charset="0"/>
                <a:ea typeface="Microsoft JhengHei UI" pitchFamily="34" charset="-122"/>
                <a:cs typeface="Microsoft JhengHei UI" pitchFamily="34" charset="-120"/>
              </a:rPr>
              <a:t>Handoff</a:t>
            </a:r>
            <a:endParaRPr lang="en-US" sz="1300" dirty="0"/>
          </a:p>
        </p:txBody>
      </p:sp>
      <p:sp>
        <p:nvSpPr>
          <p:cNvPr id="15" name="Text 13"/>
          <p:cNvSpPr/>
          <p:nvPr/>
        </p:nvSpPr>
        <p:spPr>
          <a:xfrm>
            <a:off x="5303520" y="3291840"/>
            <a:ext cx="173736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Microsoft JhengHei UI" pitchFamily="34" charset="0"/>
                <a:ea typeface="Microsoft JhengHei UI" pitchFamily="34" charset="-122"/>
                <a:cs typeface="Microsoft JhengHei UI" pitchFamily="34" charset="-120"/>
              </a:rPr>
              <a:t>案件交接</a:t>
            </a:r>
            <a:endParaRPr lang="en-US" sz="1800" dirty="0"/>
          </a:p>
        </p:txBody>
      </p:sp>
      <p:sp>
        <p:nvSpPr>
          <p:cNvPr id="16" name="Shape 14"/>
          <p:cNvSpPr/>
          <p:nvPr/>
        </p:nvSpPr>
        <p:spPr>
          <a:xfrm>
            <a:off x="7406640" y="2651760"/>
            <a:ext cx="2103120" cy="1417320"/>
          </a:xfrm>
          <a:prstGeom prst="rect">
            <a:avLst/>
          </a:prstGeom>
          <a:solidFill>
            <a:srgbClr val="2A3B7C"/>
          </a:solidFill>
          <a:ln/>
        </p:spPr>
      </p:sp>
      <p:sp>
        <p:nvSpPr>
          <p:cNvPr id="17" name="Text 15"/>
          <p:cNvSpPr/>
          <p:nvPr/>
        </p:nvSpPr>
        <p:spPr>
          <a:xfrm>
            <a:off x="7589520" y="2880360"/>
            <a:ext cx="17373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CADCFC"/>
                </a:solidFill>
                <a:latin typeface="Microsoft JhengHei UI" pitchFamily="34" charset="0"/>
                <a:ea typeface="Microsoft JhengHei UI" pitchFamily="34" charset="-122"/>
                <a:cs typeface="Microsoft JhengHei UI" pitchFamily="34" charset="-120"/>
              </a:rPr>
              <a:t>Decisions</a:t>
            </a:r>
            <a:endParaRPr lang="en-US" sz="1300" dirty="0"/>
          </a:p>
        </p:txBody>
      </p:sp>
      <p:sp>
        <p:nvSpPr>
          <p:cNvPr id="18" name="Text 16"/>
          <p:cNvSpPr/>
          <p:nvPr/>
        </p:nvSpPr>
        <p:spPr>
          <a:xfrm>
            <a:off x="7589520" y="3291840"/>
            <a:ext cx="173736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Microsoft JhengHei UI" pitchFamily="34" charset="0"/>
                <a:ea typeface="Microsoft JhengHei UI" pitchFamily="34" charset="-122"/>
                <a:cs typeface="Microsoft JhengHei UI" pitchFamily="34" charset="-120"/>
              </a:rPr>
              <a:t>決策追蹤</a:t>
            </a:r>
            <a:endParaRPr lang="en-US" sz="1800" dirty="0"/>
          </a:p>
        </p:txBody>
      </p:sp>
      <p:sp>
        <p:nvSpPr>
          <p:cNvPr id="19" name="Shape 17"/>
          <p:cNvSpPr/>
          <p:nvPr/>
        </p:nvSpPr>
        <p:spPr>
          <a:xfrm>
            <a:off x="9692640" y="2651760"/>
            <a:ext cx="2103120" cy="1417320"/>
          </a:xfrm>
          <a:prstGeom prst="rect">
            <a:avLst/>
          </a:prstGeom>
          <a:solidFill>
            <a:srgbClr val="1E2761"/>
          </a:solidFill>
          <a:ln/>
        </p:spPr>
      </p:sp>
      <p:sp>
        <p:nvSpPr>
          <p:cNvPr id="20" name="Text 18"/>
          <p:cNvSpPr/>
          <p:nvPr/>
        </p:nvSpPr>
        <p:spPr>
          <a:xfrm>
            <a:off x="9875520" y="2880360"/>
            <a:ext cx="17373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CADCFC"/>
                </a:solidFill>
                <a:latin typeface="Microsoft JhengHei UI" pitchFamily="34" charset="0"/>
                <a:ea typeface="Microsoft JhengHei UI" pitchFamily="34" charset="-122"/>
                <a:cs typeface="Microsoft JhengHei UI" pitchFamily="34" charset="-120"/>
              </a:rPr>
              <a:t>EmployeeLoad</a:t>
            </a:r>
            <a:endParaRPr lang="en-US" sz="1300" dirty="0"/>
          </a:p>
        </p:txBody>
      </p:sp>
      <p:sp>
        <p:nvSpPr>
          <p:cNvPr id="21" name="Text 19"/>
          <p:cNvSpPr/>
          <p:nvPr/>
        </p:nvSpPr>
        <p:spPr>
          <a:xfrm>
            <a:off x="9875520" y="3291840"/>
            <a:ext cx="173736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Microsoft JhengHei UI" pitchFamily="34" charset="0"/>
                <a:ea typeface="Microsoft JhengHei UI" pitchFamily="34" charset="-122"/>
                <a:cs typeface="Microsoft JhengHei UI" pitchFamily="34" charset="-120"/>
              </a:rPr>
              <a:t>員工負載</a:t>
            </a:r>
            <a:endParaRPr lang="en-US" sz="1800" dirty="0"/>
          </a:p>
        </p:txBody>
      </p:sp>
      <p:sp>
        <p:nvSpPr>
          <p:cNvPr id="22" name="Shape 20"/>
          <p:cNvSpPr/>
          <p:nvPr/>
        </p:nvSpPr>
        <p:spPr>
          <a:xfrm>
            <a:off x="548640" y="4343400"/>
            <a:ext cx="2103120" cy="1417320"/>
          </a:xfrm>
          <a:prstGeom prst="rect">
            <a:avLst/>
          </a:prstGeom>
          <a:solidFill>
            <a:srgbClr val="2A3B7C"/>
          </a:solidFill>
          <a:ln/>
        </p:spPr>
      </p:sp>
      <p:sp>
        <p:nvSpPr>
          <p:cNvPr id="23" name="Text 21"/>
          <p:cNvSpPr/>
          <p:nvPr/>
        </p:nvSpPr>
        <p:spPr>
          <a:xfrm>
            <a:off x="731520" y="4572000"/>
            <a:ext cx="17373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CADCFC"/>
                </a:solidFill>
                <a:latin typeface="Microsoft JhengHei UI" pitchFamily="34" charset="0"/>
                <a:ea typeface="Microsoft JhengHei UI" pitchFamily="34" charset="-122"/>
                <a:cs typeface="Microsoft JhengHei UI" pitchFamily="34" charset="-120"/>
              </a:rPr>
              <a:t>History</a:t>
            </a:r>
            <a:endParaRPr lang="en-US" sz="1300" dirty="0"/>
          </a:p>
        </p:txBody>
      </p:sp>
      <p:sp>
        <p:nvSpPr>
          <p:cNvPr id="24" name="Text 22"/>
          <p:cNvSpPr/>
          <p:nvPr/>
        </p:nvSpPr>
        <p:spPr>
          <a:xfrm>
            <a:off x="731520" y="4983480"/>
            <a:ext cx="173736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Microsoft JhengHei UI" pitchFamily="34" charset="0"/>
                <a:ea typeface="Microsoft JhengHei UI" pitchFamily="34" charset="-122"/>
                <a:cs typeface="Microsoft JhengHei UI" pitchFamily="34" charset="-120"/>
              </a:rPr>
              <a:t>歷史搜尋</a:t>
            </a:r>
            <a:endParaRPr lang="en-US" sz="1800" dirty="0"/>
          </a:p>
        </p:txBody>
      </p:sp>
      <p:sp>
        <p:nvSpPr>
          <p:cNvPr id="25" name="Shape 23"/>
          <p:cNvSpPr/>
          <p:nvPr/>
        </p:nvSpPr>
        <p:spPr>
          <a:xfrm>
            <a:off x="2834640" y="4343400"/>
            <a:ext cx="2103120" cy="1417320"/>
          </a:xfrm>
          <a:prstGeom prst="rect">
            <a:avLst/>
          </a:prstGeom>
          <a:solidFill>
            <a:srgbClr val="1E2761"/>
          </a:solidFill>
          <a:ln/>
        </p:spPr>
      </p:sp>
      <p:sp>
        <p:nvSpPr>
          <p:cNvPr id="26" name="Text 24"/>
          <p:cNvSpPr/>
          <p:nvPr/>
        </p:nvSpPr>
        <p:spPr>
          <a:xfrm>
            <a:off x="3017520" y="4572000"/>
            <a:ext cx="17373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CADCFC"/>
                </a:solidFill>
                <a:latin typeface="Microsoft JhengHei UI" pitchFamily="34" charset="0"/>
                <a:ea typeface="Microsoft JhengHei UI" pitchFamily="34" charset="-122"/>
                <a:cs typeface="Microsoft JhengHei UI" pitchFamily="34" charset="-120"/>
              </a:rPr>
              <a:t>BlockerAnalytics</a:t>
            </a:r>
            <a:endParaRPr lang="en-US" sz="1300" dirty="0"/>
          </a:p>
        </p:txBody>
      </p:sp>
      <p:sp>
        <p:nvSpPr>
          <p:cNvPr id="27" name="Text 25"/>
          <p:cNvSpPr/>
          <p:nvPr/>
        </p:nvSpPr>
        <p:spPr>
          <a:xfrm>
            <a:off x="3017520" y="4983480"/>
            <a:ext cx="173736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Microsoft JhengHei UI" pitchFamily="34" charset="0"/>
                <a:ea typeface="Microsoft JhengHei UI" pitchFamily="34" charset="-122"/>
                <a:cs typeface="Microsoft JhengHei UI" pitchFamily="34" charset="-120"/>
              </a:rPr>
              <a:t>卡點分析</a:t>
            </a:r>
            <a:endParaRPr lang="en-US" sz="1800" dirty="0"/>
          </a:p>
        </p:txBody>
      </p:sp>
      <p:sp>
        <p:nvSpPr>
          <p:cNvPr id="28" name="Shape 26"/>
          <p:cNvSpPr/>
          <p:nvPr/>
        </p:nvSpPr>
        <p:spPr>
          <a:xfrm>
            <a:off x="5120640" y="4343400"/>
            <a:ext cx="2103120" cy="1417320"/>
          </a:xfrm>
          <a:prstGeom prst="rect">
            <a:avLst/>
          </a:prstGeom>
          <a:solidFill>
            <a:srgbClr val="2A3B7C"/>
          </a:solidFill>
          <a:ln/>
        </p:spPr>
      </p:sp>
      <p:sp>
        <p:nvSpPr>
          <p:cNvPr id="29" name="Text 27"/>
          <p:cNvSpPr/>
          <p:nvPr/>
        </p:nvSpPr>
        <p:spPr>
          <a:xfrm>
            <a:off x="5303520" y="4572000"/>
            <a:ext cx="17373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CADCFC"/>
                </a:solidFill>
                <a:latin typeface="Microsoft JhengHei UI" pitchFamily="34" charset="0"/>
                <a:ea typeface="Microsoft JhengHei UI" pitchFamily="34" charset="-122"/>
                <a:cs typeface="Microsoft JhengHei UI" pitchFamily="34" charset="-120"/>
              </a:rPr>
              <a:t>OrgAnalytics</a:t>
            </a:r>
            <a:endParaRPr lang="en-US" sz="1300" dirty="0"/>
          </a:p>
        </p:txBody>
      </p:sp>
      <p:sp>
        <p:nvSpPr>
          <p:cNvPr id="30" name="Text 28"/>
          <p:cNvSpPr/>
          <p:nvPr/>
        </p:nvSpPr>
        <p:spPr>
          <a:xfrm>
            <a:off x="5303520" y="4983480"/>
            <a:ext cx="173736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Microsoft JhengHei UI" pitchFamily="34" charset="0"/>
                <a:ea typeface="Microsoft JhengHei UI" pitchFamily="34" charset="-122"/>
                <a:cs typeface="Microsoft JhengHei UI" pitchFamily="34" charset="-120"/>
              </a:rPr>
              <a:t>組織網絡</a:t>
            </a:r>
            <a:endParaRPr lang="en-US" sz="1800" dirty="0"/>
          </a:p>
        </p:txBody>
      </p:sp>
      <p:sp>
        <p:nvSpPr>
          <p:cNvPr id="31" name="Shape 29"/>
          <p:cNvSpPr/>
          <p:nvPr/>
        </p:nvSpPr>
        <p:spPr>
          <a:xfrm>
            <a:off x="7406640" y="4343400"/>
            <a:ext cx="2103120" cy="1417320"/>
          </a:xfrm>
          <a:prstGeom prst="rect">
            <a:avLst/>
          </a:prstGeom>
          <a:solidFill>
            <a:srgbClr val="1E2761"/>
          </a:solidFill>
          <a:ln/>
        </p:spPr>
      </p:sp>
      <p:sp>
        <p:nvSpPr>
          <p:cNvPr id="32" name="Text 30"/>
          <p:cNvSpPr/>
          <p:nvPr/>
        </p:nvSpPr>
        <p:spPr>
          <a:xfrm>
            <a:off x="7589520" y="4572000"/>
            <a:ext cx="17373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CADCFC"/>
                </a:solidFill>
                <a:latin typeface="Microsoft JhengHei UI" pitchFamily="34" charset="0"/>
                <a:ea typeface="Microsoft JhengHei UI" pitchFamily="34" charset="-122"/>
                <a:cs typeface="Microsoft JhengHei UI" pitchFamily="34" charset="-120"/>
              </a:rPr>
              <a:t>MeetingPrep</a:t>
            </a:r>
            <a:endParaRPr lang="en-US" sz="1300" dirty="0"/>
          </a:p>
        </p:txBody>
      </p:sp>
      <p:sp>
        <p:nvSpPr>
          <p:cNvPr id="33" name="Text 31"/>
          <p:cNvSpPr/>
          <p:nvPr/>
        </p:nvSpPr>
        <p:spPr>
          <a:xfrm>
            <a:off x="7589520" y="4983480"/>
            <a:ext cx="173736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Microsoft JhengHei UI" pitchFamily="34" charset="0"/>
                <a:ea typeface="Microsoft JhengHei UI" pitchFamily="34" charset="-122"/>
                <a:cs typeface="Microsoft JhengHei UI" pitchFamily="34" charset="-120"/>
              </a:rPr>
              <a:t>會議準備</a:t>
            </a:r>
            <a:endParaRPr lang="en-US" sz="1800" dirty="0"/>
          </a:p>
        </p:txBody>
      </p:sp>
      <p:sp>
        <p:nvSpPr>
          <p:cNvPr id="34" name="Shape 32"/>
          <p:cNvSpPr/>
          <p:nvPr/>
        </p:nvSpPr>
        <p:spPr>
          <a:xfrm>
            <a:off x="9692640" y="4343400"/>
            <a:ext cx="2103120" cy="1417320"/>
          </a:xfrm>
          <a:prstGeom prst="rect">
            <a:avLst/>
          </a:prstGeom>
          <a:solidFill>
            <a:srgbClr val="F96167"/>
          </a:solidFill>
          <a:ln/>
        </p:spPr>
      </p:sp>
      <p:sp>
        <p:nvSpPr>
          <p:cNvPr id="35" name="Text 33"/>
          <p:cNvSpPr/>
          <p:nvPr/>
        </p:nvSpPr>
        <p:spPr>
          <a:xfrm>
            <a:off x="9875520" y="4572000"/>
            <a:ext cx="17373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CADCFC"/>
                </a:solidFill>
                <a:latin typeface="Microsoft JhengHei UI" pitchFamily="34" charset="0"/>
                <a:ea typeface="Microsoft JhengHei UI" pitchFamily="34" charset="-122"/>
                <a:cs typeface="Microsoft JhengHei UI" pitchFamily="34" charset="-120"/>
              </a:rPr>
              <a:t>WhatIf</a:t>
            </a:r>
            <a:endParaRPr lang="en-US" sz="1300" dirty="0"/>
          </a:p>
        </p:txBody>
      </p:sp>
      <p:sp>
        <p:nvSpPr>
          <p:cNvPr id="36" name="Text 34"/>
          <p:cNvSpPr/>
          <p:nvPr/>
        </p:nvSpPr>
        <p:spPr>
          <a:xfrm>
            <a:off x="9875520" y="4983480"/>
            <a:ext cx="173736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Microsoft JhengHei UI" pitchFamily="34" charset="0"/>
                <a:ea typeface="Microsoft JhengHei UI" pitchFamily="34" charset="-122"/>
                <a:cs typeface="Microsoft JhengHei UI" pitchFamily="34" charset="-120"/>
              </a:rPr>
              <a:t>決策模擬</a:t>
            </a:r>
            <a:endParaRPr lang="en-US" sz="1800" dirty="0"/>
          </a:p>
        </p:txBody>
      </p:sp>
      <p:sp>
        <p:nvSpPr>
          <p:cNvPr id="37" name="Shape 35"/>
          <p:cNvSpPr/>
          <p:nvPr/>
        </p:nvSpPr>
        <p:spPr>
          <a:xfrm>
            <a:off x="457200" y="6537960"/>
            <a:ext cx="11247120" cy="0"/>
          </a:xfrm>
          <a:prstGeom prst="line">
            <a:avLst/>
          </a:prstGeom>
          <a:noFill/>
          <a:ln w="9525">
            <a:solidFill>
              <a:srgbClr val="CADCFC"/>
            </a:solidFill>
            <a:prstDash val="solid"/>
          </a:ln>
        </p:spPr>
      </p:sp>
      <p:sp>
        <p:nvSpPr>
          <p:cNvPr id="38" name="Text 36"/>
          <p:cNvSpPr/>
          <p:nvPr/>
        </p:nvSpPr>
        <p:spPr>
          <a:xfrm>
            <a:off x="457200" y="6583680"/>
            <a:ext cx="54864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94A3B8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串連系統 v2.2 · Chuanlien System</a:t>
            </a:r>
            <a:endParaRPr lang="en-US" sz="900" dirty="0"/>
          </a:p>
        </p:txBody>
      </p:sp>
      <p:sp>
        <p:nvSpPr>
          <p:cNvPr id="39" name="Text 37"/>
          <p:cNvSpPr/>
          <p:nvPr/>
        </p:nvSpPr>
        <p:spPr>
          <a:xfrm>
            <a:off x="10789920" y="6583680"/>
            <a:ext cx="9144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94A3B8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3 / 14</a:t>
            </a:r>
            <a:endParaRPr lang="en-US" sz="9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457200"/>
            <a:ext cx="548640" cy="320040"/>
          </a:xfrm>
          <a:prstGeom prst="rect">
            <a:avLst/>
          </a:prstGeom>
          <a:solidFill>
            <a:srgbClr val="F96167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457200"/>
            <a:ext cx="5486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Microsoft JhengHei UI" pitchFamily="34" charset="0"/>
                <a:ea typeface="Microsoft JhengHei UI" pitchFamily="34" charset="-122"/>
                <a:cs typeface="Microsoft JhengHei UI" pitchFamily="34" charset="-120"/>
              </a:rPr>
              <a:t>03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1188720" y="457200"/>
            <a:ext cx="100584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spc="400" kern="0" dirty="0">
                <a:solidFill>
                  <a:srgbClr val="94A3B8"/>
                </a:solidFill>
                <a:latin typeface="Microsoft JhengHei UI" pitchFamily="34" charset="0"/>
                <a:ea typeface="Microsoft JhengHei UI" pitchFamily="34" charset="-122"/>
                <a:cs typeface="Microsoft JhengHei UI" pitchFamily="34" charset="-120"/>
              </a:rPr>
              <a:t>核心設計哲學</a:t>
            </a:r>
            <a:endParaRPr lang="en-US" sz="1400" dirty="0"/>
          </a:p>
        </p:txBody>
      </p:sp>
      <p:sp>
        <p:nvSpPr>
          <p:cNvPr id="5" name="Text 3"/>
          <p:cNvSpPr/>
          <p:nvPr/>
        </p:nvSpPr>
        <p:spPr>
          <a:xfrm>
            <a:off x="457200" y="914400"/>
            <a:ext cx="1097280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4200" b="1" dirty="0">
                <a:solidFill>
                  <a:srgbClr val="1E2761"/>
                </a:solidFill>
                <a:latin typeface="Microsoft JhengHei UI" pitchFamily="34" charset="0"/>
                <a:ea typeface="Microsoft JhengHei UI" pitchFamily="34" charset="-122"/>
                <a:cs typeface="Microsoft JhengHei UI" pitchFamily="34" charset="-120"/>
              </a:rPr>
              <a:t>為什麼不用 LLM？</a:t>
            </a:r>
            <a:endParaRPr lang="en-US" sz="4200" dirty="0"/>
          </a:p>
        </p:txBody>
      </p:sp>
      <p:sp>
        <p:nvSpPr>
          <p:cNvPr id="6" name="Shape 4"/>
          <p:cNvSpPr/>
          <p:nvPr/>
        </p:nvSpPr>
        <p:spPr>
          <a:xfrm>
            <a:off x="548640" y="2286000"/>
            <a:ext cx="502920" cy="502920"/>
          </a:xfrm>
          <a:prstGeom prst="ellipse">
            <a:avLst/>
          </a:prstGeom>
          <a:solidFill>
            <a:srgbClr val="F96167"/>
          </a:solidFill>
          <a:ln/>
        </p:spPr>
      </p:sp>
      <p:sp>
        <p:nvSpPr>
          <p:cNvPr id="7" name="Text 5"/>
          <p:cNvSpPr/>
          <p:nvPr/>
        </p:nvSpPr>
        <p:spPr>
          <a:xfrm>
            <a:off x="548640" y="2286000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Microsoft JhengHei UI" pitchFamily="34" charset="0"/>
                <a:ea typeface="Microsoft JhengHei UI" pitchFamily="34" charset="-122"/>
                <a:cs typeface="Microsoft JhengHei UI" pitchFamily="34" charset="-120"/>
              </a:rPr>
              <a:t>1</a:t>
            </a:r>
            <a:endParaRPr lang="en-US" sz="1800" dirty="0"/>
          </a:p>
        </p:txBody>
      </p:sp>
      <p:sp>
        <p:nvSpPr>
          <p:cNvPr id="8" name="Text 6"/>
          <p:cNvSpPr/>
          <p:nvPr/>
        </p:nvSpPr>
        <p:spPr>
          <a:xfrm>
            <a:off x="1280160" y="2304288"/>
            <a:ext cx="16459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1E2761"/>
                </a:solidFill>
                <a:latin typeface="Microsoft JhengHei UI" pitchFamily="34" charset="0"/>
                <a:ea typeface="Microsoft JhengHei UI" pitchFamily="34" charset="-122"/>
                <a:cs typeface="Microsoft JhengHei UI" pitchFamily="34" charset="-120"/>
              </a:rPr>
              <a:t>資料量小</a:t>
            </a:r>
            <a:endParaRPr lang="en-US" sz="2000" dirty="0"/>
          </a:p>
        </p:txBody>
      </p:sp>
      <p:sp>
        <p:nvSpPr>
          <p:cNvPr id="9" name="Text 7"/>
          <p:cNvSpPr/>
          <p:nvPr/>
        </p:nvSpPr>
        <p:spPr>
          <a:xfrm>
            <a:off x="3017520" y="2359152"/>
            <a:ext cx="57607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475569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53 筆歷史案、200 筆週報。BM25F 比 Embedding 更可靠。</a:t>
            </a:r>
            <a:endParaRPr lang="en-US" sz="1300" dirty="0"/>
          </a:p>
        </p:txBody>
      </p:sp>
      <p:sp>
        <p:nvSpPr>
          <p:cNvPr id="10" name="Shape 8"/>
          <p:cNvSpPr/>
          <p:nvPr/>
        </p:nvSpPr>
        <p:spPr>
          <a:xfrm>
            <a:off x="548640" y="3063240"/>
            <a:ext cx="502920" cy="502920"/>
          </a:xfrm>
          <a:prstGeom prst="ellipse">
            <a:avLst/>
          </a:prstGeom>
          <a:solidFill>
            <a:srgbClr val="F96167"/>
          </a:solidFill>
          <a:ln/>
        </p:spPr>
      </p:sp>
      <p:sp>
        <p:nvSpPr>
          <p:cNvPr id="11" name="Text 9"/>
          <p:cNvSpPr/>
          <p:nvPr/>
        </p:nvSpPr>
        <p:spPr>
          <a:xfrm>
            <a:off x="548640" y="3063240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Microsoft JhengHei UI" pitchFamily="34" charset="0"/>
                <a:ea typeface="Microsoft JhengHei UI" pitchFamily="34" charset="-122"/>
                <a:cs typeface="Microsoft JhengHei UI" pitchFamily="34" charset="-120"/>
              </a:rPr>
              <a:t>2</a:t>
            </a:r>
            <a:endParaRPr lang="en-US" sz="1800" dirty="0"/>
          </a:p>
        </p:txBody>
      </p:sp>
      <p:sp>
        <p:nvSpPr>
          <p:cNvPr id="12" name="Text 10"/>
          <p:cNvSpPr/>
          <p:nvPr/>
        </p:nvSpPr>
        <p:spPr>
          <a:xfrm>
            <a:off x="1280160" y="3081528"/>
            <a:ext cx="16459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1E2761"/>
                </a:solidFill>
                <a:latin typeface="Microsoft JhengHei UI" pitchFamily="34" charset="0"/>
                <a:ea typeface="Microsoft JhengHei UI" pitchFamily="34" charset="-122"/>
                <a:cs typeface="Microsoft JhengHei UI" pitchFamily="34" charset="-120"/>
              </a:rPr>
              <a:t>可解釋性</a:t>
            </a:r>
            <a:endParaRPr lang="en-US" sz="2000" dirty="0"/>
          </a:p>
        </p:txBody>
      </p:sp>
      <p:sp>
        <p:nvSpPr>
          <p:cNvPr id="13" name="Text 11"/>
          <p:cNvSpPr/>
          <p:nvPr/>
        </p:nvSpPr>
        <p:spPr>
          <a:xfrm>
            <a:off x="3017520" y="3136392"/>
            <a:ext cx="57607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475569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管理層需要知道「為什麼推薦這筆」，LLM 是黑盒。</a:t>
            </a:r>
            <a:endParaRPr lang="en-US" sz="1300" dirty="0"/>
          </a:p>
        </p:txBody>
      </p:sp>
      <p:sp>
        <p:nvSpPr>
          <p:cNvPr id="14" name="Shape 12"/>
          <p:cNvSpPr/>
          <p:nvPr/>
        </p:nvSpPr>
        <p:spPr>
          <a:xfrm>
            <a:off x="548640" y="3840480"/>
            <a:ext cx="502920" cy="502920"/>
          </a:xfrm>
          <a:prstGeom prst="ellipse">
            <a:avLst/>
          </a:prstGeom>
          <a:solidFill>
            <a:srgbClr val="F96167"/>
          </a:solidFill>
          <a:ln/>
        </p:spPr>
      </p:sp>
      <p:sp>
        <p:nvSpPr>
          <p:cNvPr id="15" name="Text 13"/>
          <p:cNvSpPr/>
          <p:nvPr/>
        </p:nvSpPr>
        <p:spPr>
          <a:xfrm>
            <a:off x="548640" y="3840480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Microsoft JhengHei UI" pitchFamily="34" charset="0"/>
                <a:ea typeface="Microsoft JhengHei UI" pitchFamily="34" charset="-122"/>
                <a:cs typeface="Microsoft JhengHei UI" pitchFamily="34" charset="-120"/>
              </a:rPr>
              <a:t>3</a:t>
            </a:r>
            <a:endParaRPr lang="en-US" sz="1800" dirty="0"/>
          </a:p>
        </p:txBody>
      </p:sp>
      <p:sp>
        <p:nvSpPr>
          <p:cNvPr id="16" name="Text 14"/>
          <p:cNvSpPr/>
          <p:nvPr/>
        </p:nvSpPr>
        <p:spPr>
          <a:xfrm>
            <a:off x="1280160" y="3858768"/>
            <a:ext cx="16459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1E2761"/>
                </a:solidFill>
                <a:latin typeface="Microsoft JhengHei UI" pitchFamily="34" charset="0"/>
                <a:ea typeface="Microsoft JhengHei UI" pitchFamily="34" charset="-122"/>
                <a:cs typeface="Microsoft JhengHei UI" pitchFamily="34" charset="-120"/>
              </a:rPr>
              <a:t>機密敏感</a:t>
            </a:r>
            <a:endParaRPr lang="en-US" sz="2000" dirty="0"/>
          </a:p>
        </p:txBody>
      </p:sp>
      <p:sp>
        <p:nvSpPr>
          <p:cNvPr id="17" name="Text 15"/>
          <p:cNvSpPr/>
          <p:nvPr/>
        </p:nvSpPr>
        <p:spPr>
          <a:xfrm>
            <a:off x="3017520" y="3913632"/>
            <a:ext cx="57607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475569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投資資料不能送 cloud API，全部前端 + 自有 Firebase。</a:t>
            </a:r>
            <a:endParaRPr lang="en-US" sz="1300" dirty="0"/>
          </a:p>
        </p:txBody>
      </p:sp>
      <p:sp>
        <p:nvSpPr>
          <p:cNvPr id="18" name="Shape 16"/>
          <p:cNvSpPr/>
          <p:nvPr/>
        </p:nvSpPr>
        <p:spPr>
          <a:xfrm>
            <a:off x="548640" y="4617720"/>
            <a:ext cx="502920" cy="502920"/>
          </a:xfrm>
          <a:prstGeom prst="ellipse">
            <a:avLst/>
          </a:prstGeom>
          <a:solidFill>
            <a:srgbClr val="F96167"/>
          </a:solidFill>
          <a:ln/>
        </p:spPr>
      </p:sp>
      <p:sp>
        <p:nvSpPr>
          <p:cNvPr id="19" name="Text 17"/>
          <p:cNvSpPr/>
          <p:nvPr/>
        </p:nvSpPr>
        <p:spPr>
          <a:xfrm>
            <a:off x="548640" y="4617720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Microsoft JhengHei UI" pitchFamily="34" charset="0"/>
                <a:ea typeface="Microsoft JhengHei UI" pitchFamily="34" charset="-122"/>
                <a:cs typeface="Microsoft JhengHei UI" pitchFamily="34" charset="-120"/>
              </a:rPr>
              <a:t>4</a:t>
            </a:r>
            <a:endParaRPr lang="en-US" sz="1800" dirty="0"/>
          </a:p>
        </p:txBody>
      </p:sp>
      <p:sp>
        <p:nvSpPr>
          <p:cNvPr id="20" name="Text 18"/>
          <p:cNvSpPr/>
          <p:nvPr/>
        </p:nvSpPr>
        <p:spPr>
          <a:xfrm>
            <a:off x="1280160" y="4636008"/>
            <a:ext cx="16459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1E2761"/>
                </a:solidFill>
                <a:latin typeface="Microsoft JhengHei UI" pitchFamily="34" charset="0"/>
                <a:ea typeface="Microsoft JhengHei UI" pitchFamily="34" charset="-122"/>
                <a:cs typeface="Microsoft JhengHei UI" pitchFamily="34" charset="-120"/>
              </a:rPr>
              <a:t>計算成本</a:t>
            </a:r>
            <a:endParaRPr lang="en-US" sz="2000" dirty="0"/>
          </a:p>
        </p:txBody>
      </p:sp>
      <p:sp>
        <p:nvSpPr>
          <p:cNvPr id="21" name="Text 19"/>
          <p:cNvSpPr/>
          <p:nvPr/>
        </p:nvSpPr>
        <p:spPr>
          <a:xfrm>
            <a:off x="3017520" y="4690872"/>
            <a:ext cx="57607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475569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O(N) 或 O(N log N)，瀏覽器毫秒級完成。</a:t>
            </a:r>
            <a:endParaRPr lang="en-US" sz="1300" dirty="0"/>
          </a:p>
        </p:txBody>
      </p:sp>
      <p:sp>
        <p:nvSpPr>
          <p:cNvPr id="22" name="Shape 20"/>
          <p:cNvSpPr/>
          <p:nvPr/>
        </p:nvSpPr>
        <p:spPr>
          <a:xfrm>
            <a:off x="548640" y="5394960"/>
            <a:ext cx="502920" cy="502920"/>
          </a:xfrm>
          <a:prstGeom prst="ellipse">
            <a:avLst/>
          </a:prstGeom>
          <a:solidFill>
            <a:srgbClr val="F96167"/>
          </a:solidFill>
          <a:ln/>
        </p:spPr>
      </p:sp>
      <p:sp>
        <p:nvSpPr>
          <p:cNvPr id="23" name="Text 21"/>
          <p:cNvSpPr/>
          <p:nvPr/>
        </p:nvSpPr>
        <p:spPr>
          <a:xfrm>
            <a:off x="548640" y="5394960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Microsoft JhengHei UI" pitchFamily="34" charset="0"/>
                <a:ea typeface="Microsoft JhengHei UI" pitchFamily="34" charset="-122"/>
                <a:cs typeface="Microsoft JhengHei UI" pitchFamily="34" charset="-120"/>
              </a:rPr>
              <a:t>5</a:t>
            </a:r>
            <a:endParaRPr lang="en-US" sz="1800" dirty="0"/>
          </a:p>
        </p:txBody>
      </p:sp>
      <p:sp>
        <p:nvSpPr>
          <p:cNvPr id="24" name="Text 22"/>
          <p:cNvSpPr/>
          <p:nvPr/>
        </p:nvSpPr>
        <p:spPr>
          <a:xfrm>
            <a:off x="1280160" y="5413248"/>
            <a:ext cx="16459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1E2761"/>
                </a:solidFill>
                <a:latin typeface="Microsoft JhengHei UI" pitchFamily="34" charset="0"/>
                <a:ea typeface="Microsoft JhengHei UI" pitchFamily="34" charset="-122"/>
                <a:cs typeface="Microsoft JhengHei UI" pitchFamily="34" charset="-120"/>
              </a:rPr>
              <a:t>確定性</a:t>
            </a:r>
            <a:endParaRPr lang="en-US" sz="2000" dirty="0"/>
          </a:p>
        </p:txBody>
      </p:sp>
      <p:sp>
        <p:nvSpPr>
          <p:cNvPr id="25" name="Text 23"/>
          <p:cNvSpPr/>
          <p:nvPr/>
        </p:nvSpPr>
        <p:spPr>
          <a:xfrm>
            <a:off x="3017520" y="5468112"/>
            <a:ext cx="57607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475569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相同輸入永遠回傳相同結果，LLM 有 stochasticity。</a:t>
            </a:r>
            <a:endParaRPr lang="en-US" sz="1300" dirty="0"/>
          </a:p>
        </p:txBody>
      </p:sp>
      <p:sp>
        <p:nvSpPr>
          <p:cNvPr id="26" name="Shape 24"/>
          <p:cNvSpPr/>
          <p:nvPr/>
        </p:nvSpPr>
        <p:spPr>
          <a:xfrm>
            <a:off x="9144000" y="2103120"/>
            <a:ext cx="2560320" cy="4114800"/>
          </a:xfrm>
          <a:prstGeom prst="rect">
            <a:avLst/>
          </a:prstGeom>
          <a:solidFill>
            <a:srgbClr val="1E2761"/>
          </a:solidFill>
          <a:ln/>
        </p:spPr>
      </p:sp>
      <p:sp>
        <p:nvSpPr>
          <p:cNvPr id="27" name="Text 25"/>
          <p:cNvSpPr/>
          <p:nvPr/>
        </p:nvSpPr>
        <p:spPr>
          <a:xfrm>
            <a:off x="9235440" y="2103120"/>
            <a:ext cx="7315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6000" b="1" dirty="0">
                <a:solidFill>
                  <a:srgbClr val="F96167"/>
                </a:solidFill>
                <a:latin typeface="Microsoft JhengHei UI" pitchFamily="34" charset="0"/>
                <a:ea typeface="Microsoft JhengHei UI" pitchFamily="34" charset="-122"/>
                <a:cs typeface="Microsoft JhengHei UI" pitchFamily="34" charset="-120"/>
              </a:rPr>
              <a:t>「</a:t>
            </a:r>
            <a:endParaRPr lang="en-US" sz="6000" dirty="0"/>
          </a:p>
        </p:txBody>
      </p:sp>
      <p:sp>
        <p:nvSpPr>
          <p:cNvPr id="28" name="Text 26"/>
          <p:cNvSpPr/>
          <p:nvPr/>
        </p:nvSpPr>
        <p:spPr>
          <a:xfrm>
            <a:off x="9326880" y="2926080"/>
            <a:ext cx="2286000" cy="22860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800" i="1" dirty="0">
                <a:solidFill>
                  <a:srgbClr val="FFFFFF"/>
                </a:solidFill>
                <a:latin typeface="Microsoft JhengHei UI" pitchFamily="34" charset="0"/>
                <a:ea typeface="Microsoft JhengHei UI" pitchFamily="34" charset="-122"/>
                <a:cs typeface="Microsoft JhengHei UI" pitchFamily="34" charset="-120"/>
              </a:rPr>
              <a:t>用恰當的演算法，解決恰當規模的問題。</a:t>
            </a:r>
            <a:endParaRPr lang="en-US" sz="1800" dirty="0"/>
          </a:p>
        </p:txBody>
      </p:sp>
      <p:sp>
        <p:nvSpPr>
          <p:cNvPr id="29" name="Text 27"/>
          <p:cNvSpPr/>
          <p:nvPr/>
        </p:nvSpPr>
        <p:spPr>
          <a:xfrm>
            <a:off x="9326880" y="5486400"/>
            <a:ext cx="22860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CADCFC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— 串連系統設計哲學</a:t>
            </a:r>
            <a:endParaRPr lang="en-US" sz="1100" dirty="0"/>
          </a:p>
        </p:txBody>
      </p:sp>
      <p:sp>
        <p:nvSpPr>
          <p:cNvPr id="30" name="Shape 28"/>
          <p:cNvSpPr/>
          <p:nvPr/>
        </p:nvSpPr>
        <p:spPr>
          <a:xfrm>
            <a:off x="457200" y="6537960"/>
            <a:ext cx="11247120" cy="0"/>
          </a:xfrm>
          <a:prstGeom prst="line">
            <a:avLst/>
          </a:prstGeom>
          <a:noFill/>
          <a:ln w="9525">
            <a:solidFill>
              <a:srgbClr val="CADCFC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457200" y="6583680"/>
            <a:ext cx="54864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94A3B8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串連系統 v2.2 · Chuanlien System</a:t>
            </a:r>
            <a:endParaRPr lang="en-US" sz="900" dirty="0"/>
          </a:p>
        </p:txBody>
      </p:sp>
      <p:sp>
        <p:nvSpPr>
          <p:cNvPr id="32" name="Text 30"/>
          <p:cNvSpPr/>
          <p:nvPr/>
        </p:nvSpPr>
        <p:spPr>
          <a:xfrm>
            <a:off x="10789920" y="6583680"/>
            <a:ext cx="9144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94A3B8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4 / 14</a:t>
            </a:r>
            <a:endParaRPr lang="en-US" sz="9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457200"/>
            <a:ext cx="548640" cy="320040"/>
          </a:xfrm>
          <a:prstGeom prst="rect">
            <a:avLst/>
          </a:prstGeom>
          <a:solidFill>
            <a:srgbClr val="1E2761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457200"/>
            <a:ext cx="5486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Microsoft JhengHei UI" pitchFamily="34" charset="0"/>
                <a:ea typeface="Microsoft JhengHei UI" pitchFamily="34" charset="-122"/>
                <a:cs typeface="Microsoft JhengHei UI" pitchFamily="34" charset="-120"/>
              </a:rPr>
              <a:t>04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1188720" y="457200"/>
            <a:ext cx="100584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spc="400" kern="0" dirty="0">
                <a:solidFill>
                  <a:srgbClr val="94A3B8"/>
                </a:solidFill>
                <a:latin typeface="Microsoft JhengHei UI" pitchFamily="34" charset="0"/>
                <a:ea typeface="Microsoft JhengHei UI" pitchFamily="34" charset="-122"/>
                <a:cs typeface="Microsoft JhengHei UI" pitchFamily="34" charset="-120"/>
              </a:rPr>
              <a:t>亮點一</a:t>
            </a:r>
            <a:endParaRPr lang="en-US" sz="1400" dirty="0"/>
          </a:p>
        </p:txBody>
      </p:sp>
      <p:sp>
        <p:nvSpPr>
          <p:cNvPr id="5" name="Text 3"/>
          <p:cNvSpPr/>
          <p:nvPr/>
        </p:nvSpPr>
        <p:spPr>
          <a:xfrm>
            <a:off x="457200" y="914400"/>
            <a:ext cx="1097280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4200" b="1" dirty="0">
                <a:solidFill>
                  <a:srgbClr val="1E2761"/>
                </a:solidFill>
                <a:latin typeface="Microsoft JhengHei UI" pitchFamily="34" charset="0"/>
                <a:ea typeface="Microsoft JhengHei UI" pitchFamily="34" charset="-122"/>
                <a:cs typeface="Microsoft JhengHei UI" pitchFamily="34" charset="-120"/>
              </a:rPr>
              <a:t>組織健康度雷達</a:t>
            </a:r>
            <a:endParaRPr lang="en-US" sz="4200" dirty="0"/>
          </a:p>
        </p:txBody>
      </p:sp>
      <p:sp>
        <p:nvSpPr>
          <p:cNvPr id="6" name="Text 4"/>
          <p:cNvSpPr/>
          <p:nvPr/>
        </p:nvSpPr>
        <p:spPr>
          <a:xfrm>
            <a:off x="457200" y="1828800"/>
            <a:ext cx="109728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475569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6 維 × 12 週趨勢 × 拐點偵測 × 點擊事件 inline 展開</a:t>
            </a:r>
            <a:endParaRPr lang="en-US" sz="1600" dirty="0"/>
          </a:p>
        </p:txBody>
      </p:sp>
      <p:pic>
        <p:nvPicPr>
          <p:cNvPr id="7" name="Image 0" descr="docs/images/10_radar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48640" y="2377440"/>
            <a:ext cx="5486400" cy="3931920"/>
          </a:xfrm>
          <a:prstGeom prst="rect">
            <a:avLst/>
          </a:prstGeom>
        </p:spPr>
      </p:pic>
      <p:sp>
        <p:nvSpPr>
          <p:cNvPr id="8" name="Shape 5"/>
          <p:cNvSpPr/>
          <p:nvPr/>
        </p:nvSpPr>
        <p:spPr>
          <a:xfrm>
            <a:off x="6400800" y="2606040"/>
            <a:ext cx="228600" cy="228600"/>
          </a:xfrm>
          <a:prstGeom prst="ellipse">
            <a:avLst/>
          </a:prstGeom>
          <a:solidFill>
            <a:srgbClr val="1E2761"/>
          </a:solidFill>
          <a:ln/>
        </p:spPr>
      </p:sp>
      <p:sp>
        <p:nvSpPr>
          <p:cNvPr id="9" name="Text 6"/>
          <p:cNvSpPr/>
          <p:nvPr/>
        </p:nvSpPr>
        <p:spPr>
          <a:xfrm>
            <a:off x="6766560" y="2468880"/>
            <a:ext cx="15544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E2761"/>
                </a:solidFill>
                <a:latin typeface="Microsoft JhengHei UI" pitchFamily="34" charset="0"/>
                <a:ea typeface="Microsoft JhengHei UI" pitchFamily="34" charset="-122"/>
                <a:cs typeface="Microsoft JhengHei UI" pitchFamily="34" charset="-120"/>
              </a:rPr>
              <a:t>卡點健康</a:t>
            </a:r>
            <a:endParaRPr lang="en-US" sz="1600" dirty="0"/>
          </a:p>
        </p:txBody>
      </p:sp>
      <p:sp>
        <p:nvSpPr>
          <p:cNvPr id="10" name="Text 7"/>
          <p:cNvSpPr/>
          <p:nvPr/>
        </p:nvSpPr>
        <p:spPr>
          <a:xfrm>
            <a:off x="8321040" y="2468880"/>
            <a:ext cx="7315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96167"/>
                </a:solidFill>
                <a:latin typeface="Microsoft JhengHei UI" pitchFamily="34" charset="0"/>
                <a:ea typeface="Microsoft JhengHei UI" pitchFamily="34" charset="-122"/>
                <a:cs typeface="Microsoft JhengHei UI" pitchFamily="34" charset="-120"/>
              </a:rPr>
              <a:t>22%</a:t>
            </a:r>
            <a:endParaRPr lang="en-US" sz="1400" dirty="0"/>
          </a:p>
        </p:txBody>
      </p:sp>
      <p:sp>
        <p:nvSpPr>
          <p:cNvPr id="11" name="Text 8"/>
          <p:cNvSpPr/>
          <p:nvPr/>
        </p:nvSpPr>
        <p:spPr>
          <a:xfrm>
            <a:off x="6766560" y="2788920"/>
            <a:ext cx="49377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475569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P95+ 卡點越少越健康</a:t>
            </a:r>
            <a:endParaRPr lang="en-US" sz="1100" dirty="0"/>
          </a:p>
        </p:txBody>
      </p:sp>
      <p:sp>
        <p:nvSpPr>
          <p:cNvPr id="12" name="Shape 9"/>
          <p:cNvSpPr/>
          <p:nvPr/>
        </p:nvSpPr>
        <p:spPr>
          <a:xfrm>
            <a:off x="6400800" y="3246120"/>
            <a:ext cx="228600" cy="228600"/>
          </a:xfrm>
          <a:prstGeom prst="ellipse">
            <a:avLst/>
          </a:prstGeom>
          <a:solidFill>
            <a:srgbClr val="1E2761"/>
          </a:solidFill>
          <a:ln/>
        </p:spPr>
      </p:sp>
      <p:sp>
        <p:nvSpPr>
          <p:cNvPr id="13" name="Text 10"/>
          <p:cNvSpPr/>
          <p:nvPr/>
        </p:nvSpPr>
        <p:spPr>
          <a:xfrm>
            <a:off x="6766560" y="3108960"/>
            <a:ext cx="15544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E2761"/>
                </a:solidFill>
                <a:latin typeface="Microsoft JhengHei UI" pitchFamily="34" charset="0"/>
                <a:ea typeface="Microsoft JhengHei UI" pitchFamily="34" charset="-122"/>
                <a:cs typeface="Microsoft JhengHei UI" pitchFamily="34" charset="-120"/>
              </a:rPr>
              <a:t>決策及時</a:t>
            </a:r>
            <a:endParaRPr lang="en-US" sz="1600" dirty="0"/>
          </a:p>
        </p:txBody>
      </p:sp>
      <p:sp>
        <p:nvSpPr>
          <p:cNvPr id="14" name="Text 11"/>
          <p:cNvSpPr/>
          <p:nvPr/>
        </p:nvSpPr>
        <p:spPr>
          <a:xfrm>
            <a:off x="8321040" y="3108960"/>
            <a:ext cx="7315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96167"/>
                </a:solidFill>
                <a:latin typeface="Microsoft JhengHei UI" pitchFamily="34" charset="0"/>
                <a:ea typeface="Microsoft JhengHei UI" pitchFamily="34" charset="-122"/>
                <a:cs typeface="Microsoft JhengHei UI" pitchFamily="34" charset="-120"/>
              </a:rPr>
              <a:t>18%</a:t>
            </a:r>
            <a:endParaRPr lang="en-US" sz="1400" dirty="0"/>
          </a:p>
        </p:txBody>
      </p:sp>
      <p:sp>
        <p:nvSpPr>
          <p:cNvPr id="15" name="Text 12"/>
          <p:cNvSpPr/>
          <p:nvPr/>
        </p:nvSpPr>
        <p:spPr>
          <a:xfrm>
            <a:off x="6766560" y="3429000"/>
            <a:ext cx="49377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475569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逾期決策越少越健康</a:t>
            </a:r>
            <a:endParaRPr lang="en-US" sz="1100" dirty="0"/>
          </a:p>
        </p:txBody>
      </p:sp>
      <p:sp>
        <p:nvSpPr>
          <p:cNvPr id="16" name="Shape 13"/>
          <p:cNvSpPr/>
          <p:nvPr/>
        </p:nvSpPr>
        <p:spPr>
          <a:xfrm>
            <a:off x="6400800" y="3886200"/>
            <a:ext cx="228600" cy="228600"/>
          </a:xfrm>
          <a:prstGeom prst="ellipse">
            <a:avLst/>
          </a:prstGeom>
          <a:solidFill>
            <a:srgbClr val="1E2761"/>
          </a:solidFill>
          <a:ln/>
        </p:spPr>
      </p:sp>
      <p:sp>
        <p:nvSpPr>
          <p:cNvPr id="17" name="Text 14"/>
          <p:cNvSpPr/>
          <p:nvPr/>
        </p:nvSpPr>
        <p:spPr>
          <a:xfrm>
            <a:off x="6766560" y="3749040"/>
            <a:ext cx="15544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E2761"/>
                </a:solidFill>
                <a:latin typeface="Microsoft JhengHei UI" pitchFamily="34" charset="0"/>
                <a:ea typeface="Microsoft JhengHei UI" pitchFamily="34" charset="-122"/>
                <a:cs typeface="Microsoft JhengHei UI" pitchFamily="34" charset="-120"/>
              </a:rPr>
              <a:t>交接流暢</a:t>
            </a:r>
            <a:endParaRPr lang="en-US" sz="1600" dirty="0"/>
          </a:p>
        </p:txBody>
      </p:sp>
      <p:sp>
        <p:nvSpPr>
          <p:cNvPr id="18" name="Text 15"/>
          <p:cNvSpPr/>
          <p:nvPr/>
        </p:nvSpPr>
        <p:spPr>
          <a:xfrm>
            <a:off x="8321040" y="3749040"/>
            <a:ext cx="7315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96167"/>
                </a:solidFill>
                <a:latin typeface="Microsoft JhengHei UI" pitchFamily="34" charset="0"/>
                <a:ea typeface="Microsoft JhengHei UI" pitchFamily="34" charset="-122"/>
                <a:cs typeface="Microsoft JhengHei UI" pitchFamily="34" charset="-120"/>
              </a:rPr>
              <a:t>15%</a:t>
            </a:r>
            <a:endParaRPr lang="en-US" sz="1400" dirty="0"/>
          </a:p>
        </p:txBody>
      </p:sp>
      <p:sp>
        <p:nvSpPr>
          <p:cNvPr id="19" name="Text 16"/>
          <p:cNvSpPr/>
          <p:nvPr/>
        </p:nvSpPr>
        <p:spPr>
          <a:xfrm>
            <a:off x="6766560" y="4069080"/>
            <a:ext cx="49377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475569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待簽收逾時越少越健康</a:t>
            </a:r>
            <a:endParaRPr lang="en-US" sz="1100" dirty="0"/>
          </a:p>
        </p:txBody>
      </p:sp>
      <p:sp>
        <p:nvSpPr>
          <p:cNvPr id="20" name="Shape 17"/>
          <p:cNvSpPr/>
          <p:nvPr/>
        </p:nvSpPr>
        <p:spPr>
          <a:xfrm>
            <a:off x="6400800" y="4526280"/>
            <a:ext cx="228600" cy="228600"/>
          </a:xfrm>
          <a:prstGeom prst="ellipse">
            <a:avLst/>
          </a:prstGeom>
          <a:solidFill>
            <a:srgbClr val="1E2761"/>
          </a:solidFill>
          <a:ln/>
        </p:spPr>
      </p:sp>
      <p:sp>
        <p:nvSpPr>
          <p:cNvPr id="21" name="Text 18"/>
          <p:cNvSpPr/>
          <p:nvPr/>
        </p:nvSpPr>
        <p:spPr>
          <a:xfrm>
            <a:off x="6766560" y="4389120"/>
            <a:ext cx="15544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E2761"/>
                </a:solidFill>
                <a:latin typeface="Microsoft JhengHei UI" pitchFamily="34" charset="0"/>
                <a:ea typeface="Microsoft JhengHei UI" pitchFamily="34" charset="-122"/>
                <a:cs typeface="Microsoft JhengHei UI" pitchFamily="34" charset="-120"/>
              </a:rPr>
              <a:t>負載均衡</a:t>
            </a:r>
            <a:endParaRPr lang="en-US" sz="1600" dirty="0"/>
          </a:p>
        </p:txBody>
      </p:sp>
      <p:sp>
        <p:nvSpPr>
          <p:cNvPr id="22" name="Text 19"/>
          <p:cNvSpPr/>
          <p:nvPr/>
        </p:nvSpPr>
        <p:spPr>
          <a:xfrm>
            <a:off x="8321040" y="4389120"/>
            <a:ext cx="7315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96167"/>
                </a:solidFill>
                <a:latin typeface="Microsoft JhengHei UI" pitchFamily="34" charset="0"/>
                <a:ea typeface="Microsoft JhengHei UI" pitchFamily="34" charset="-122"/>
                <a:cs typeface="Microsoft JhengHei UI" pitchFamily="34" charset="-120"/>
              </a:rPr>
              <a:t>18%</a:t>
            </a:r>
            <a:endParaRPr lang="en-US" sz="1400" dirty="0"/>
          </a:p>
        </p:txBody>
      </p:sp>
      <p:sp>
        <p:nvSpPr>
          <p:cNvPr id="23" name="Text 20"/>
          <p:cNvSpPr/>
          <p:nvPr/>
        </p:nvSpPr>
        <p:spPr>
          <a:xfrm>
            <a:off x="6766560" y="4709160"/>
            <a:ext cx="49377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475569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Gini &lt; 0.35 為健康</a:t>
            </a:r>
            <a:endParaRPr lang="en-US" sz="1100" dirty="0"/>
          </a:p>
        </p:txBody>
      </p:sp>
      <p:sp>
        <p:nvSpPr>
          <p:cNvPr id="24" name="Shape 21"/>
          <p:cNvSpPr/>
          <p:nvPr/>
        </p:nvSpPr>
        <p:spPr>
          <a:xfrm>
            <a:off x="6400800" y="5166360"/>
            <a:ext cx="228600" cy="228600"/>
          </a:xfrm>
          <a:prstGeom prst="ellipse">
            <a:avLst/>
          </a:prstGeom>
          <a:solidFill>
            <a:srgbClr val="1E2761"/>
          </a:solidFill>
          <a:ln/>
        </p:spPr>
      </p:sp>
      <p:sp>
        <p:nvSpPr>
          <p:cNvPr id="25" name="Text 22"/>
          <p:cNvSpPr/>
          <p:nvPr/>
        </p:nvSpPr>
        <p:spPr>
          <a:xfrm>
            <a:off x="6766560" y="5029200"/>
            <a:ext cx="15544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E2761"/>
                </a:solidFill>
                <a:latin typeface="Microsoft JhengHei UI" pitchFamily="34" charset="0"/>
                <a:ea typeface="Microsoft JhengHei UI" pitchFamily="34" charset="-122"/>
                <a:cs typeface="Microsoft JhengHei UI" pitchFamily="34" charset="-120"/>
              </a:rPr>
              <a:t>部門協作</a:t>
            </a:r>
            <a:endParaRPr lang="en-US" sz="1600" dirty="0"/>
          </a:p>
        </p:txBody>
      </p:sp>
      <p:sp>
        <p:nvSpPr>
          <p:cNvPr id="26" name="Text 23"/>
          <p:cNvSpPr/>
          <p:nvPr/>
        </p:nvSpPr>
        <p:spPr>
          <a:xfrm>
            <a:off x="8321040" y="5029200"/>
            <a:ext cx="7315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96167"/>
                </a:solidFill>
                <a:latin typeface="Microsoft JhengHei UI" pitchFamily="34" charset="0"/>
                <a:ea typeface="Microsoft JhengHei UI" pitchFamily="34" charset="-122"/>
                <a:cs typeface="Microsoft JhengHei UI" pitchFamily="34" charset="-120"/>
              </a:rPr>
              <a:t>12%</a:t>
            </a:r>
            <a:endParaRPr lang="en-US" sz="1400" dirty="0"/>
          </a:p>
        </p:txBody>
      </p:sp>
      <p:sp>
        <p:nvSpPr>
          <p:cNvPr id="27" name="Text 24"/>
          <p:cNvSpPr/>
          <p:nvPr/>
        </p:nvSpPr>
        <p:spPr>
          <a:xfrm>
            <a:off x="6766560" y="5349240"/>
            <a:ext cx="49377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475569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雙向溝通對稱為健康</a:t>
            </a:r>
            <a:endParaRPr lang="en-US" sz="1100" dirty="0"/>
          </a:p>
        </p:txBody>
      </p:sp>
      <p:sp>
        <p:nvSpPr>
          <p:cNvPr id="28" name="Shape 25"/>
          <p:cNvSpPr/>
          <p:nvPr/>
        </p:nvSpPr>
        <p:spPr>
          <a:xfrm>
            <a:off x="6400800" y="5806440"/>
            <a:ext cx="228600" cy="228600"/>
          </a:xfrm>
          <a:prstGeom prst="ellipse">
            <a:avLst/>
          </a:prstGeom>
          <a:solidFill>
            <a:srgbClr val="1E2761"/>
          </a:solidFill>
          <a:ln/>
        </p:spPr>
      </p:sp>
      <p:sp>
        <p:nvSpPr>
          <p:cNvPr id="29" name="Text 26"/>
          <p:cNvSpPr/>
          <p:nvPr/>
        </p:nvSpPr>
        <p:spPr>
          <a:xfrm>
            <a:off x="6766560" y="5669280"/>
            <a:ext cx="15544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E2761"/>
                </a:solidFill>
                <a:latin typeface="Microsoft JhengHei UI" pitchFamily="34" charset="0"/>
                <a:ea typeface="Microsoft JhengHei UI" pitchFamily="34" charset="-122"/>
                <a:cs typeface="Microsoft JhengHei UI" pitchFamily="34" charset="-120"/>
              </a:rPr>
              <a:t>週報品質</a:t>
            </a:r>
            <a:endParaRPr lang="en-US" sz="1600" dirty="0"/>
          </a:p>
        </p:txBody>
      </p:sp>
      <p:sp>
        <p:nvSpPr>
          <p:cNvPr id="30" name="Text 27"/>
          <p:cNvSpPr/>
          <p:nvPr/>
        </p:nvSpPr>
        <p:spPr>
          <a:xfrm>
            <a:off x="8321040" y="5669280"/>
            <a:ext cx="7315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96167"/>
                </a:solidFill>
                <a:latin typeface="Microsoft JhengHei UI" pitchFamily="34" charset="0"/>
                <a:ea typeface="Microsoft JhengHei UI" pitchFamily="34" charset="-122"/>
                <a:cs typeface="Microsoft JhengHei UI" pitchFamily="34" charset="-120"/>
              </a:rPr>
              <a:t>15%</a:t>
            </a:r>
            <a:endParaRPr lang="en-US" sz="1400" dirty="0"/>
          </a:p>
        </p:txBody>
      </p:sp>
      <p:sp>
        <p:nvSpPr>
          <p:cNvPr id="31" name="Text 28"/>
          <p:cNvSpPr/>
          <p:nvPr/>
        </p:nvSpPr>
        <p:spPr>
          <a:xfrm>
            <a:off x="6766560" y="5989320"/>
            <a:ext cx="49377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475569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繳交率 + 內容深度</a:t>
            </a:r>
            <a:endParaRPr lang="en-US" sz="1100" dirty="0"/>
          </a:p>
        </p:txBody>
      </p:sp>
      <p:sp>
        <p:nvSpPr>
          <p:cNvPr id="32" name="Shape 29"/>
          <p:cNvSpPr/>
          <p:nvPr/>
        </p:nvSpPr>
        <p:spPr>
          <a:xfrm>
            <a:off x="457200" y="6537960"/>
            <a:ext cx="11247120" cy="0"/>
          </a:xfrm>
          <a:prstGeom prst="line">
            <a:avLst/>
          </a:prstGeom>
          <a:noFill/>
          <a:ln w="9525">
            <a:solidFill>
              <a:srgbClr val="CADCFC"/>
            </a:solidFill>
            <a:prstDash val="solid"/>
          </a:ln>
        </p:spPr>
      </p:sp>
      <p:sp>
        <p:nvSpPr>
          <p:cNvPr id="33" name="Text 30"/>
          <p:cNvSpPr/>
          <p:nvPr/>
        </p:nvSpPr>
        <p:spPr>
          <a:xfrm>
            <a:off x="457200" y="6583680"/>
            <a:ext cx="54864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94A3B8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串連系統 v2.2 · Chuanlien System</a:t>
            </a:r>
            <a:endParaRPr lang="en-US" sz="900" dirty="0"/>
          </a:p>
        </p:txBody>
      </p:sp>
      <p:sp>
        <p:nvSpPr>
          <p:cNvPr id="34" name="Text 31"/>
          <p:cNvSpPr/>
          <p:nvPr/>
        </p:nvSpPr>
        <p:spPr>
          <a:xfrm>
            <a:off x="10789920" y="6583680"/>
            <a:ext cx="9144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94A3B8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5 / 14</a:t>
            </a:r>
            <a:endParaRPr lang="en-US" sz="9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457200"/>
            <a:ext cx="548640" cy="320040"/>
          </a:xfrm>
          <a:prstGeom prst="rect">
            <a:avLst/>
          </a:prstGeom>
          <a:solidFill>
            <a:srgbClr val="1E2761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457200"/>
            <a:ext cx="5486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Microsoft JhengHei UI" pitchFamily="34" charset="0"/>
                <a:ea typeface="Microsoft JhengHei UI" pitchFamily="34" charset="-122"/>
                <a:cs typeface="Microsoft JhengHei UI" pitchFamily="34" charset="-120"/>
              </a:rPr>
              <a:t>05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1188720" y="457200"/>
            <a:ext cx="100584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spc="400" kern="0" dirty="0">
                <a:solidFill>
                  <a:srgbClr val="94A3B8"/>
                </a:solidFill>
                <a:latin typeface="Microsoft JhengHei UI" pitchFamily="34" charset="0"/>
                <a:ea typeface="Microsoft JhengHei UI" pitchFamily="34" charset="-122"/>
                <a:cs typeface="Microsoft JhengHei UI" pitchFamily="34" charset="-120"/>
              </a:rPr>
              <a:t>亮點二</a:t>
            </a:r>
            <a:endParaRPr lang="en-US" sz="1400" dirty="0"/>
          </a:p>
        </p:txBody>
      </p:sp>
      <p:sp>
        <p:nvSpPr>
          <p:cNvPr id="5" name="Text 3"/>
          <p:cNvSpPr/>
          <p:nvPr/>
        </p:nvSpPr>
        <p:spPr>
          <a:xfrm>
            <a:off x="457200" y="914400"/>
            <a:ext cx="1097280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4200" b="1" dirty="0">
                <a:solidFill>
                  <a:srgbClr val="1E2761"/>
                </a:solidFill>
                <a:latin typeface="Microsoft JhengHei UI" pitchFamily="34" charset="0"/>
                <a:ea typeface="Microsoft JhengHei UI" pitchFamily="34" charset="-122"/>
                <a:cs typeface="Microsoft JhengHei UI" pitchFamily="34" charset="-120"/>
              </a:rPr>
              <a:t>BM25F 智能案件推薦</a:t>
            </a:r>
            <a:endParaRPr lang="en-US" sz="4200" dirty="0"/>
          </a:p>
        </p:txBody>
      </p:sp>
      <p:sp>
        <p:nvSpPr>
          <p:cNvPr id="6" name="Text 4"/>
          <p:cNvSpPr/>
          <p:nvPr/>
        </p:nvSpPr>
        <p:spPr>
          <a:xfrm>
            <a:off x="457200" y="1828800"/>
            <a:ext cx="109728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475569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用 Elasticsearch / Lucene 同款演算法，推薦過去 3 筆最相似案件</a:t>
            </a:r>
            <a:endParaRPr lang="en-US" sz="1600" dirty="0"/>
          </a:p>
        </p:txBody>
      </p:sp>
      <p:pic>
        <p:nvPicPr>
          <p:cNvPr id="7" name="Image 0" descr="docs/images/01_bm25_tf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48640" y="2377440"/>
            <a:ext cx="5486400" cy="2926080"/>
          </a:xfrm>
          <a:prstGeom prst="rect">
            <a:avLst/>
          </a:prstGeom>
        </p:spPr>
      </p:pic>
      <p:sp>
        <p:nvSpPr>
          <p:cNvPr id="8" name="Shape 5"/>
          <p:cNvSpPr/>
          <p:nvPr/>
        </p:nvSpPr>
        <p:spPr>
          <a:xfrm>
            <a:off x="6583680" y="2468880"/>
            <a:ext cx="73152" cy="640080"/>
          </a:xfrm>
          <a:prstGeom prst="rect">
            <a:avLst/>
          </a:prstGeom>
          <a:solidFill>
            <a:srgbClr val="1E2761"/>
          </a:solidFill>
          <a:ln/>
        </p:spPr>
      </p:sp>
      <p:sp>
        <p:nvSpPr>
          <p:cNvPr id="9" name="Text 6"/>
          <p:cNvSpPr/>
          <p:nvPr/>
        </p:nvSpPr>
        <p:spPr>
          <a:xfrm>
            <a:off x="6766560" y="2468880"/>
            <a:ext cx="49377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E2761"/>
                </a:solidFill>
                <a:latin typeface="Microsoft JhengHei UI" pitchFamily="34" charset="0"/>
                <a:ea typeface="Microsoft JhengHei UI" pitchFamily="34" charset="-122"/>
                <a:cs typeface="Microsoft JhengHei UI" pitchFamily="34" charset="-120"/>
              </a:rPr>
              <a:t>TF 飽和函數</a:t>
            </a:r>
            <a:endParaRPr lang="en-US" sz="1600" dirty="0"/>
          </a:p>
        </p:txBody>
      </p:sp>
      <p:sp>
        <p:nvSpPr>
          <p:cNvPr id="10" name="Text 7"/>
          <p:cNvSpPr/>
          <p:nvPr/>
        </p:nvSpPr>
        <p:spPr>
          <a:xfrm>
            <a:off x="6766560" y="2788920"/>
            <a:ext cx="49377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475569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出現 5 次 vs 50 次，相關性差距收斂</a:t>
            </a:r>
            <a:endParaRPr lang="en-US" sz="1200" dirty="0"/>
          </a:p>
        </p:txBody>
      </p:sp>
      <p:sp>
        <p:nvSpPr>
          <p:cNvPr id="11" name="Shape 8"/>
          <p:cNvSpPr/>
          <p:nvPr/>
        </p:nvSpPr>
        <p:spPr>
          <a:xfrm>
            <a:off x="6583680" y="3200400"/>
            <a:ext cx="73152" cy="640080"/>
          </a:xfrm>
          <a:prstGeom prst="rect">
            <a:avLst/>
          </a:prstGeom>
          <a:solidFill>
            <a:srgbClr val="1E2761"/>
          </a:solidFill>
          <a:ln/>
        </p:spPr>
      </p:sp>
      <p:sp>
        <p:nvSpPr>
          <p:cNvPr id="12" name="Text 9"/>
          <p:cNvSpPr/>
          <p:nvPr/>
        </p:nvSpPr>
        <p:spPr>
          <a:xfrm>
            <a:off x="6766560" y="3200400"/>
            <a:ext cx="49377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E2761"/>
                </a:solidFill>
                <a:latin typeface="Microsoft JhengHei UI" pitchFamily="34" charset="0"/>
                <a:ea typeface="Microsoft JhengHei UI" pitchFamily="34" charset="-122"/>
                <a:cs typeface="Microsoft JhengHei UI" pitchFamily="34" charset="-120"/>
              </a:rPr>
              <a:t>欄位權重</a:t>
            </a:r>
            <a:endParaRPr lang="en-US" sz="1600" dirty="0"/>
          </a:p>
        </p:txBody>
      </p:sp>
      <p:sp>
        <p:nvSpPr>
          <p:cNvPr id="13" name="Text 10"/>
          <p:cNvSpPr/>
          <p:nvPr/>
        </p:nvSpPr>
        <p:spPr>
          <a:xfrm>
            <a:off x="6766560" y="3520440"/>
            <a:ext cx="49377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475569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標題 ×5、標籤 ×4、內文 ×1</a:t>
            </a:r>
            <a:endParaRPr lang="en-US" sz="1200" dirty="0"/>
          </a:p>
        </p:txBody>
      </p:sp>
      <p:sp>
        <p:nvSpPr>
          <p:cNvPr id="14" name="Shape 11"/>
          <p:cNvSpPr/>
          <p:nvPr/>
        </p:nvSpPr>
        <p:spPr>
          <a:xfrm>
            <a:off x="6583680" y="3931920"/>
            <a:ext cx="73152" cy="640080"/>
          </a:xfrm>
          <a:prstGeom prst="rect">
            <a:avLst/>
          </a:prstGeom>
          <a:solidFill>
            <a:srgbClr val="1E2761"/>
          </a:solidFill>
          <a:ln/>
        </p:spPr>
      </p:sp>
      <p:sp>
        <p:nvSpPr>
          <p:cNvPr id="15" name="Text 12"/>
          <p:cNvSpPr/>
          <p:nvPr/>
        </p:nvSpPr>
        <p:spPr>
          <a:xfrm>
            <a:off x="6766560" y="3931920"/>
            <a:ext cx="49377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E2761"/>
                </a:solidFill>
                <a:latin typeface="Microsoft JhengHei UI" pitchFamily="34" charset="0"/>
                <a:ea typeface="Microsoft JhengHei UI" pitchFamily="34" charset="-122"/>
                <a:cs typeface="Microsoft JhengHei UI" pitchFamily="34" charset="-120"/>
              </a:rPr>
              <a:t>1+2+3-gram</a:t>
            </a:r>
            <a:endParaRPr lang="en-US" sz="1600" dirty="0"/>
          </a:p>
        </p:txBody>
      </p:sp>
      <p:sp>
        <p:nvSpPr>
          <p:cNvPr id="16" name="Text 13"/>
          <p:cNvSpPr/>
          <p:nvPr/>
        </p:nvSpPr>
        <p:spPr>
          <a:xfrm>
            <a:off x="6766560" y="4251960"/>
            <a:ext cx="49377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475569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中文無詞界，混合切詞精準召回</a:t>
            </a:r>
            <a:endParaRPr lang="en-US" sz="1200" dirty="0"/>
          </a:p>
        </p:txBody>
      </p:sp>
      <p:sp>
        <p:nvSpPr>
          <p:cNvPr id="17" name="Shape 14"/>
          <p:cNvSpPr/>
          <p:nvPr/>
        </p:nvSpPr>
        <p:spPr>
          <a:xfrm>
            <a:off x="6583680" y="4663440"/>
            <a:ext cx="73152" cy="640080"/>
          </a:xfrm>
          <a:prstGeom prst="rect">
            <a:avLst/>
          </a:prstGeom>
          <a:solidFill>
            <a:srgbClr val="1E2761"/>
          </a:solidFill>
          <a:ln/>
        </p:spPr>
      </p:sp>
      <p:sp>
        <p:nvSpPr>
          <p:cNvPr id="18" name="Text 15"/>
          <p:cNvSpPr/>
          <p:nvPr/>
        </p:nvSpPr>
        <p:spPr>
          <a:xfrm>
            <a:off x="6766560" y="4663440"/>
            <a:ext cx="49377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E2761"/>
                </a:solidFill>
                <a:latin typeface="Microsoft JhengHei UI" pitchFamily="34" charset="0"/>
                <a:ea typeface="Microsoft JhengHei UI" pitchFamily="34" charset="-122"/>
                <a:cs typeface="Microsoft JhengHei UI" pitchFamily="34" charset="-120"/>
              </a:rPr>
              <a:t>同義詞</a:t>
            </a:r>
            <a:endParaRPr lang="en-US" sz="1600" dirty="0"/>
          </a:p>
        </p:txBody>
      </p:sp>
      <p:sp>
        <p:nvSpPr>
          <p:cNvPr id="19" name="Text 16"/>
          <p:cNvSpPr/>
          <p:nvPr/>
        </p:nvSpPr>
        <p:spPr>
          <a:xfrm>
            <a:off x="6766560" y="4983480"/>
            <a:ext cx="49377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475569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募資 ≈ 融資 ≈ DD ≈ Due Diligence</a:t>
            </a:r>
            <a:endParaRPr lang="en-US" sz="1200" dirty="0"/>
          </a:p>
        </p:txBody>
      </p:sp>
      <p:sp>
        <p:nvSpPr>
          <p:cNvPr id="20" name="Shape 17"/>
          <p:cNvSpPr/>
          <p:nvPr/>
        </p:nvSpPr>
        <p:spPr>
          <a:xfrm>
            <a:off x="548640" y="5577840"/>
            <a:ext cx="11064240" cy="731520"/>
          </a:xfrm>
          <a:prstGeom prst="rect">
            <a:avLst/>
          </a:prstGeom>
          <a:solidFill>
            <a:srgbClr val="F1F5F9"/>
          </a:solidFill>
          <a:ln/>
        </p:spPr>
      </p:sp>
      <p:sp>
        <p:nvSpPr>
          <p:cNvPr id="21" name="Text 18"/>
          <p:cNvSpPr/>
          <p:nvPr/>
        </p:nvSpPr>
        <p:spPr>
          <a:xfrm>
            <a:off x="731520" y="5577840"/>
            <a:ext cx="1078992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E2761"/>
                </a:solidFill>
                <a:latin typeface="Microsoft JhengHei UI" pitchFamily="34" charset="0"/>
                <a:ea typeface="Microsoft JhengHei UI" pitchFamily="34" charset="-122"/>
                <a:cs typeface="Microsoft JhengHei UI" pitchFamily="34" charset="-120"/>
              </a:rPr>
              <a:t>結果：</a:t>
            </a:r>
            <a:pPr indent="0" marL="0">
              <a:buNone/>
            </a:pPr>
            <a:r>
              <a:rPr lang="en-US" sz="1300" dirty="0">
                <a:solidFill>
                  <a:srgbClr val="475569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卡點 / 交接展開時，自動跑 BM25F 推薦過去 3 筆最相似案件 + 平均解決天數，</a:t>
            </a:r>
            <a:pPr indent="0" marL="0">
              <a:buNone/>
            </a:pPr>
            <a:r>
              <a:rPr lang="en-US" sz="1300" b="1" dirty="0">
                <a:solidFill>
                  <a:srgbClr val="1E2761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把搜尋從被動工具變成主動決策輔助。</a:t>
            </a:r>
            <a:endParaRPr lang="en-US" sz="1300" dirty="0"/>
          </a:p>
        </p:txBody>
      </p:sp>
      <p:sp>
        <p:nvSpPr>
          <p:cNvPr id="22" name="Shape 19"/>
          <p:cNvSpPr/>
          <p:nvPr/>
        </p:nvSpPr>
        <p:spPr>
          <a:xfrm>
            <a:off x="457200" y="6537960"/>
            <a:ext cx="11247120" cy="0"/>
          </a:xfrm>
          <a:prstGeom prst="line">
            <a:avLst/>
          </a:prstGeom>
          <a:noFill/>
          <a:ln w="9525">
            <a:solidFill>
              <a:srgbClr val="CADCFC"/>
            </a:solidFill>
            <a:prstDash val="solid"/>
          </a:ln>
        </p:spPr>
      </p:sp>
      <p:sp>
        <p:nvSpPr>
          <p:cNvPr id="23" name="Text 20"/>
          <p:cNvSpPr/>
          <p:nvPr/>
        </p:nvSpPr>
        <p:spPr>
          <a:xfrm>
            <a:off x="457200" y="6583680"/>
            <a:ext cx="54864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94A3B8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串連系統 v2.2 · Chuanlien System</a:t>
            </a:r>
            <a:endParaRPr lang="en-US" sz="900" dirty="0"/>
          </a:p>
        </p:txBody>
      </p:sp>
      <p:sp>
        <p:nvSpPr>
          <p:cNvPr id="24" name="Text 21"/>
          <p:cNvSpPr/>
          <p:nvPr/>
        </p:nvSpPr>
        <p:spPr>
          <a:xfrm>
            <a:off x="10789920" y="6583680"/>
            <a:ext cx="9144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94A3B8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6 / 14</a:t>
            </a:r>
            <a:endParaRPr lang="en-US" sz="9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1E276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457200"/>
            <a:ext cx="548640" cy="320040"/>
          </a:xfrm>
          <a:prstGeom prst="rect">
            <a:avLst/>
          </a:prstGeom>
          <a:solidFill>
            <a:srgbClr val="F96167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457200"/>
            <a:ext cx="5486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Microsoft JhengHei UI" pitchFamily="34" charset="0"/>
                <a:ea typeface="Microsoft JhengHei UI" pitchFamily="34" charset="-122"/>
                <a:cs typeface="Microsoft JhengHei UI" pitchFamily="34" charset="-120"/>
              </a:rPr>
              <a:t>06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1188720" y="457200"/>
            <a:ext cx="100584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spc="400" kern="0" dirty="0">
                <a:solidFill>
                  <a:srgbClr val="CADCFC"/>
                </a:solidFill>
                <a:latin typeface="Microsoft JhengHei UI" pitchFamily="34" charset="0"/>
                <a:ea typeface="Microsoft JhengHei UI" pitchFamily="34" charset="-122"/>
                <a:cs typeface="Microsoft JhengHei UI" pitchFamily="34" charset="-120"/>
              </a:rPr>
              <a:t>亮點三</a:t>
            </a:r>
            <a:endParaRPr lang="en-US" sz="1400" dirty="0"/>
          </a:p>
        </p:txBody>
      </p:sp>
      <p:sp>
        <p:nvSpPr>
          <p:cNvPr id="5" name="Text 3"/>
          <p:cNvSpPr/>
          <p:nvPr/>
        </p:nvSpPr>
        <p:spPr>
          <a:xfrm>
            <a:off x="457200" y="914400"/>
            <a:ext cx="1097280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4200" b="1" dirty="0">
                <a:solidFill>
                  <a:srgbClr val="FFFFFF"/>
                </a:solidFill>
                <a:latin typeface="Microsoft JhengHei UI" pitchFamily="34" charset="0"/>
                <a:ea typeface="Microsoft JhengHei UI" pitchFamily="34" charset="-122"/>
                <a:cs typeface="Microsoft JhengHei UI" pitchFamily="34" charset="-120"/>
              </a:rPr>
              <a:t>What-if 決策模擬器</a:t>
            </a:r>
            <a:endParaRPr lang="en-US" sz="4200" dirty="0"/>
          </a:p>
        </p:txBody>
      </p:sp>
      <p:sp>
        <p:nvSpPr>
          <p:cNvPr id="6" name="Text 4"/>
          <p:cNvSpPr/>
          <p:nvPr/>
        </p:nvSpPr>
        <p:spPr>
          <a:xfrm>
            <a:off x="457200" y="1828800"/>
            <a:ext cx="109728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i="1" dirty="0">
                <a:solidFill>
                  <a:srgbClr val="CADCFC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做決策前，先看後果。</a:t>
            </a:r>
            <a:endParaRPr lang="en-US" sz="1800" dirty="0"/>
          </a:p>
        </p:txBody>
      </p:sp>
      <p:pic>
        <p:nvPicPr>
          <p:cNvPr id="7" name="Image 0" descr="docs/images/14_whatif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57200" y="2468880"/>
            <a:ext cx="6858000" cy="3749040"/>
          </a:xfrm>
          <a:prstGeom prst="rect">
            <a:avLst/>
          </a:prstGeom>
        </p:spPr>
      </p:pic>
      <p:sp>
        <p:nvSpPr>
          <p:cNvPr id="8" name="Text 5"/>
          <p:cNvSpPr/>
          <p:nvPr/>
        </p:nvSpPr>
        <p:spPr>
          <a:xfrm>
            <a:off x="7680960" y="2468880"/>
            <a:ext cx="41148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Microsoft JhengHei UI" pitchFamily="34" charset="0"/>
                <a:ea typeface="Microsoft JhengHei UI" pitchFamily="34" charset="-122"/>
                <a:cs typeface="Microsoft JhengHei UI" pitchFamily="34" charset="-120"/>
              </a:rPr>
              <a:t>Δ-Score 建議</a:t>
            </a:r>
            <a:endParaRPr lang="en-US" sz="1800" dirty="0"/>
          </a:p>
        </p:txBody>
      </p:sp>
      <p:sp>
        <p:nvSpPr>
          <p:cNvPr id="9" name="Shape 6"/>
          <p:cNvSpPr/>
          <p:nvPr/>
        </p:nvSpPr>
        <p:spPr>
          <a:xfrm>
            <a:off x="7680960" y="3108960"/>
            <a:ext cx="1371600" cy="457200"/>
          </a:xfrm>
          <a:prstGeom prst="rect">
            <a:avLst/>
          </a:prstGeom>
          <a:solidFill>
            <a:srgbClr val="10B981"/>
          </a:solidFill>
          <a:ln/>
        </p:spPr>
      </p:sp>
      <p:sp>
        <p:nvSpPr>
          <p:cNvPr id="10" name="Text 7"/>
          <p:cNvSpPr/>
          <p:nvPr/>
        </p:nvSpPr>
        <p:spPr>
          <a:xfrm>
            <a:off x="7680960" y="3108960"/>
            <a:ext cx="1371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1E276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Δ ≥ +5</a:t>
            </a:r>
            <a:endParaRPr lang="en-US" sz="1200" dirty="0"/>
          </a:p>
        </p:txBody>
      </p:sp>
      <p:sp>
        <p:nvSpPr>
          <p:cNvPr id="11" name="Text 8"/>
          <p:cNvSpPr/>
          <p:nvPr/>
        </p:nvSpPr>
        <p:spPr>
          <a:xfrm>
            <a:off x="9189720" y="3108960"/>
            <a:ext cx="25603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FFFFFF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顯著改善 ✨</a:t>
            </a:r>
            <a:endParaRPr lang="en-US" sz="1300" dirty="0"/>
          </a:p>
        </p:txBody>
      </p:sp>
      <p:sp>
        <p:nvSpPr>
          <p:cNvPr id="12" name="Shape 9"/>
          <p:cNvSpPr/>
          <p:nvPr/>
        </p:nvSpPr>
        <p:spPr>
          <a:xfrm>
            <a:off x="7680960" y="3657600"/>
            <a:ext cx="1371600" cy="457200"/>
          </a:xfrm>
          <a:prstGeom prst="rect">
            <a:avLst/>
          </a:prstGeom>
          <a:solidFill>
            <a:srgbClr val="FFC857"/>
          </a:solidFill>
          <a:ln/>
        </p:spPr>
      </p:sp>
      <p:sp>
        <p:nvSpPr>
          <p:cNvPr id="13" name="Text 10"/>
          <p:cNvSpPr/>
          <p:nvPr/>
        </p:nvSpPr>
        <p:spPr>
          <a:xfrm>
            <a:off x="7680960" y="3657600"/>
            <a:ext cx="1371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1E276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Δ +2~+5</a:t>
            </a:r>
            <a:endParaRPr lang="en-US" sz="1200" dirty="0"/>
          </a:p>
        </p:txBody>
      </p:sp>
      <p:sp>
        <p:nvSpPr>
          <p:cNvPr id="14" name="Text 11"/>
          <p:cNvSpPr/>
          <p:nvPr/>
        </p:nvSpPr>
        <p:spPr>
          <a:xfrm>
            <a:off x="9189720" y="3657600"/>
            <a:ext cx="25603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FFFFFF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可考慮執行</a:t>
            </a:r>
            <a:endParaRPr lang="en-US" sz="1300" dirty="0"/>
          </a:p>
        </p:txBody>
      </p:sp>
      <p:sp>
        <p:nvSpPr>
          <p:cNvPr id="15" name="Shape 12"/>
          <p:cNvSpPr/>
          <p:nvPr/>
        </p:nvSpPr>
        <p:spPr>
          <a:xfrm>
            <a:off x="7680960" y="4206240"/>
            <a:ext cx="1371600" cy="457200"/>
          </a:xfrm>
          <a:prstGeom prst="rect">
            <a:avLst/>
          </a:prstGeom>
          <a:solidFill>
            <a:srgbClr val="CADCFC"/>
          </a:solidFill>
          <a:ln/>
        </p:spPr>
      </p:sp>
      <p:sp>
        <p:nvSpPr>
          <p:cNvPr id="16" name="Text 13"/>
          <p:cNvSpPr/>
          <p:nvPr/>
        </p:nvSpPr>
        <p:spPr>
          <a:xfrm>
            <a:off x="7680960" y="4206240"/>
            <a:ext cx="1371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1E276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Δ −2~+2</a:t>
            </a:r>
            <a:endParaRPr lang="en-US" sz="1200" dirty="0"/>
          </a:p>
        </p:txBody>
      </p:sp>
      <p:sp>
        <p:nvSpPr>
          <p:cNvPr id="17" name="Text 14"/>
          <p:cNvSpPr/>
          <p:nvPr/>
        </p:nvSpPr>
        <p:spPr>
          <a:xfrm>
            <a:off x="9189720" y="4206240"/>
            <a:ext cx="25603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FFFFFF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影響不大</a:t>
            </a:r>
            <a:endParaRPr lang="en-US" sz="1300" dirty="0"/>
          </a:p>
        </p:txBody>
      </p:sp>
      <p:sp>
        <p:nvSpPr>
          <p:cNvPr id="18" name="Shape 15"/>
          <p:cNvSpPr/>
          <p:nvPr/>
        </p:nvSpPr>
        <p:spPr>
          <a:xfrm>
            <a:off x="7680960" y="4754880"/>
            <a:ext cx="1371600" cy="457200"/>
          </a:xfrm>
          <a:prstGeom prst="rect">
            <a:avLst/>
          </a:prstGeom>
          <a:solidFill>
            <a:srgbClr val="FFA07A"/>
          </a:solidFill>
          <a:ln/>
        </p:spPr>
      </p:sp>
      <p:sp>
        <p:nvSpPr>
          <p:cNvPr id="19" name="Text 16"/>
          <p:cNvSpPr/>
          <p:nvPr/>
        </p:nvSpPr>
        <p:spPr>
          <a:xfrm>
            <a:off x="7680960" y="4754880"/>
            <a:ext cx="1371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1E276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Δ −5~−2</a:t>
            </a:r>
            <a:endParaRPr lang="en-US" sz="1200" dirty="0"/>
          </a:p>
        </p:txBody>
      </p:sp>
      <p:sp>
        <p:nvSpPr>
          <p:cNvPr id="20" name="Text 17"/>
          <p:cNvSpPr/>
          <p:nvPr/>
        </p:nvSpPr>
        <p:spPr>
          <a:xfrm>
            <a:off x="9189720" y="4754880"/>
            <a:ext cx="25603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FFFFFF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需評估</a:t>
            </a:r>
            <a:endParaRPr lang="en-US" sz="1300" dirty="0"/>
          </a:p>
        </p:txBody>
      </p:sp>
      <p:sp>
        <p:nvSpPr>
          <p:cNvPr id="21" name="Shape 18"/>
          <p:cNvSpPr/>
          <p:nvPr/>
        </p:nvSpPr>
        <p:spPr>
          <a:xfrm>
            <a:off x="7680960" y="5303520"/>
            <a:ext cx="1371600" cy="457200"/>
          </a:xfrm>
          <a:prstGeom prst="rect">
            <a:avLst/>
          </a:prstGeom>
          <a:solidFill>
            <a:srgbClr val="F96167"/>
          </a:solidFill>
          <a:ln/>
        </p:spPr>
      </p:sp>
      <p:sp>
        <p:nvSpPr>
          <p:cNvPr id="22" name="Text 19"/>
          <p:cNvSpPr/>
          <p:nvPr/>
        </p:nvSpPr>
        <p:spPr>
          <a:xfrm>
            <a:off x="7680960" y="5303520"/>
            <a:ext cx="1371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1E276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Δ ≤ −5</a:t>
            </a:r>
            <a:endParaRPr lang="en-US" sz="1200" dirty="0"/>
          </a:p>
        </p:txBody>
      </p:sp>
      <p:sp>
        <p:nvSpPr>
          <p:cNvPr id="23" name="Text 20"/>
          <p:cNvSpPr/>
          <p:nvPr/>
        </p:nvSpPr>
        <p:spPr>
          <a:xfrm>
            <a:off x="9189720" y="5303520"/>
            <a:ext cx="25603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FFFFFF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⚠️ 不建議</a:t>
            </a:r>
            <a:endParaRPr lang="en-US" sz="1300" dirty="0"/>
          </a:p>
        </p:txBody>
      </p:sp>
      <p:sp>
        <p:nvSpPr>
          <p:cNvPr id="24" name="Shape 21"/>
          <p:cNvSpPr/>
          <p:nvPr/>
        </p:nvSpPr>
        <p:spPr>
          <a:xfrm>
            <a:off x="457200" y="6537960"/>
            <a:ext cx="11247120" cy="0"/>
          </a:xfrm>
          <a:prstGeom prst="line">
            <a:avLst/>
          </a:prstGeom>
          <a:noFill/>
          <a:ln w="9525">
            <a:solidFill>
              <a:srgbClr val="CADCFC"/>
            </a:solidFill>
            <a:prstDash val="solid"/>
          </a:ln>
        </p:spPr>
      </p:sp>
      <p:sp>
        <p:nvSpPr>
          <p:cNvPr id="25" name="Text 22"/>
          <p:cNvSpPr/>
          <p:nvPr/>
        </p:nvSpPr>
        <p:spPr>
          <a:xfrm>
            <a:off x="457200" y="6583680"/>
            <a:ext cx="54864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94A3B8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串連系統 v2.2 · Chuanlien System</a:t>
            </a:r>
            <a:endParaRPr lang="en-US" sz="900" dirty="0"/>
          </a:p>
        </p:txBody>
      </p:sp>
      <p:sp>
        <p:nvSpPr>
          <p:cNvPr id="26" name="Text 23"/>
          <p:cNvSpPr/>
          <p:nvPr/>
        </p:nvSpPr>
        <p:spPr>
          <a:xfrm>
            <a:off x="10789920" y="6583680"/>
            <a:ext cx="9144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94A3B8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7 / 14</a:t>
            </a:r>
            <a:endParaRPr lang="en-US" sz="9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457200"/>
            <a:ext cx="548640" cy="320040"/>
          </a:xfrm>
          <a:prstGeom prst="rect">
            <a:avLst/>
          </a:prstGeom>
          <a:solidFill>
            <a:srgbClr val="F96167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457200"/>
            <a:ext cx="5486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Microsoft JhengHei UI" pitchFamily="34" charset="0"/>
                <a:ea typeface="Microsoft JhengHei UI" pitchFamily="34" charset="-122"/>
                <a:cs typeface="Microsoft JhengHei UI" pitchFamily="34" charset="-120"/>
              </a:rPr>
              <a:t>07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1188720" y="457200"/>
            <a:ext cx="100584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spc="400" kern="0" dirty="0">
                <a:solidFill>
                  <a:srgbClr val="94A3B8"/>
                </a:solidFill>
                <a:latin typeface="Microsoft JhengHei UI" pitchFamily="34" charset="0"/>
                <a:ea typeface="Microsoft JhengHei UI" pitchFamily="34" charset="-122"/>
                <a:cs typeface="Microsoft JhengHei UI" pitchFamily="34" charset="-120"/>
              </a:rPr>
              <a:t>亮點四（v2.2 學術創舉）</a:t>
            </a:r>
            <a:endParaRPr lang="en-US" sz="1400" dirty="0"/>
          </a:p>
        </p:txBody>
      </p:sp>
      <p:sp>
        <p:nvSpPr>
          <p:cNvPr id="5" name="Text 3"/>
          <p:cNvSpPr/>
          <p:nvPr/>
        </p:nvSpPr>
        <p:spPr>
          <a:xfrm>
            <a:off x="457200" y="914400"/>
            <a:ext cx="1097280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4200" b="1" dirty="0">
                <a:solidFill>
                  <a:srgbClr val="1E2761"/>
                </a:solidFill>
                <a:latin typeface="Microsoft JhengHei UI" pitchFamily="34" charset="0"/>
                <a:ea typeface="Microsoft JhengHei UI" pitchFamily="34" charset="-122"/>
                <a:cs typeface="Microsoft JhengHei UI" pitchFamily="34" charset="-120"/>
              </a:rPr>
              <a:t>Cohort Adjustment</a:t>
            </a:r>
            <a:endParaRPr lang="en-US" sz="4200" dirty="0"/>
          </a:p>
        </p:txBody>
      </p:sp>
      <p:sp>
        <p:nvSpPr>
          <p:cNvPr id="6" name="Text 4"/>
          <p:cNvSpPr/>
          <p:nvPr/>
        </p:nvSpPr>
        <p:spPr>
          <a:xfrm>
            <a:off x="457200" y="1828800"/>
            <a:ext cx="109728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475569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解決「全部決策都被冤枉變負分」的因果歸因問題</a:t>
            </a:r>
            <a:endParaRPr lang="en-US" sz="1600" dirty="0"/>
          </a:p>
        </p:txBody>
      </p:sp>
      <p:sp>
        <p:nvSpPr>
          <p:cNvPr id="7" name="Text 5"/>
          <p:cNvSpPr/>
          <p:nvPr/>
        </p:nvSpPr>
        <p:spPr>
          <a:xfrm>
            <a:off x="548640" y="2468880"/>
            <a:ext cx="53035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96167"/>
                </a:solidFill>
                <a:latin typeface="Microsoft JhengHei UI" pitchFamily="34" charset="0"/>
                <a:ea typeface="Microsoft JhengHei UI" pitchFamily="34" charset="-122"/>
                <a:cs typeface="Microsoft JhengHei UI" pitchFamily="34" charset="-120"/>
              </a:rPr>
              <a:t>⚠️ 問題</a:t>
            </a:r>
            <a:endParaRPr lang="en-US" sz="1600" dirty="0"/>
          </a:p>
        </p:txBody>
      </p:sp>
      <p:sp>
        <p:nvSpPr>
          <p:cNvPr id="8" name="Text 6"/>
          <p:cNvSpPr/>
          <p:nvPr/>
        </p:nvSpPr>
        <p:spPr>
          <a:xfrm>
            <a:off x="548640" y="2880360"/>
            <a:ext cx="530352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475569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若整體組織趨勢下滑期間，所有決策的 delta 都會被冤枉變成負分。例如：</a:t>
            </a:r>
            <a:endParaRPr lang="en-US" sz="1300" dirty="0"/>
          </a:p>
        </p:txBody>
      </p:sp>
      <p:sp>
        <p:nvSpPr>
          <p:cNvPr id="9" name="Shape 7"/>
          <p:cNvSpPr/>
          <p:nvPr/>
        </p:nvSpPr>
        <p:spPr>
          <a:xfrm>
            <a:off x="548640" y="3611880"/>
            <a:ext cx="5303520" cy="1371600"/>
          </a:xfrm>
          <a:prstGeom prst="rect">
            <a:avLst/>
          </a:prstGeom>
          <a:solidFill>
            <a:srgbClr val="FEE2E2"/>
          </a:solidFill>
          <a:ln w="12700">
            <a:solidFill>
              <a:srgbClr val="F96167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777240" y="3703320"/>
            <a:ext cx="5029200" cy="11887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E2761"/>
                </a:solidFill>
                <a:latin typeface="Microsoft JhengHei UI" pitchFamily="34" charset="0"/>
                <a:ea typeface="Microsoft JhengHei UI" pitchFamily="34" charset="-122"/>
                <a:cs typeface="Microsoft JhengHei UI" pitchFamily="34" charset="-120"/>
              </a:rPr>
              <a:t>原本（v2.1）
</a:t>
            </a: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1E276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score = after − before
</a:t>
            </a:r>
            <a:endParaRPr lang="en-US" sz="1300" dirty="0"/>
          </a:p>
          <a:p>
            <a:pPr indent="0" marL="0">
              <a:buNone/>
            </a:pPr>
            <a:r>
              <a:rPr lang="en-US" sz="1300" b="1" dirty="0">
                <a:solidFill>
                  <a:srgbClr val="F9616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= 54 − 90 = −36 ❌
</a:t>
            </a:r>
            <a:endParaRPr lang="en-US" sz="1300" dirty="0"/>
          </a:p>
          <a:p>
            <a:pPr indent="0" marL="0">
              <a:buNone/>
            </a:pPr>
            <a:r>
              <a:rPr lang="en-US" sz="1300" i="1" dirty="0">
                <a:solidFill>
                  <a:srgbClr val="475569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決策被冤枉：其實整體大環境本來就在惡化</a:t>
            </a:r>
            <a:endParaRPr lang="en-US" sz="1300" dirty="0"/>
          </a:p>
        </p:txBody>
      </p:sp>
      <p:sp>
        <p:nvSpPr>
          <p:cNvPr id="11" name="Text 9"/>
          <p:cNvSpPr/>
          <p:nvPr/>
        </p:nvSpPr>
        <p:spPr>
          <a:xfrm>
            <a:off x="6309360" y="2468880"/>
            <a:ext cx="53035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0B981"/>
                </a:solidFill>
                <a:latin typeface="Microsoft JhengHei UI" pitchFamily="34" charset="0"/>
                <a:ea typeface="Microsoft JhengHei UI" pitchFamily="34" charset="-122"/>
                <a:cs typeface="Microsoft JhengHei UI" pitchFamily="34" charset="-120"/>
              </a:rPr>
              <a:t>✓ 解法</a:t>
            </a:r>
            <a:endParaRPr lang="en-US" sz="1600" dirty="0"/>
          </a:p>
        </p:txBody>
      </p:sp>
      <p:sp>
        <p:nvSpPr>
          <p:cNvPr id="12" name="Text 10"/>
          <p:cNvSpPr/>
          <p:nvPr/>
        </p:nvSpPr>
        <p:spPr>
          <a:xfrm>
            <a:off x="6309360" y="2880360"/>
            <a:ext cx="530352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475569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用 12 週線性回歸算大盤每日漂移率，扣掉「同期基準漂移」：</a:t>
            </a:r>
            <a:endParaRPr lang="en-US" sz="1300" dirty="0"/>
          </a:p>
        </p:txBody>
      </p:sp>
      <p:sp>
        <p:nvSpPr>
          <p:cNvPr id="13" name="Shape 11"/>
          <p:cNvSpPr/>
          <p:nvPr/>
        </p:nvSpPr>
        <p:spPr>
          <a:xfrm>
            <a:off x="6309360" y="3611880"/>
            <a:ext cx="5303520" cy="1371600"/>
          </a:xfrm>
          <a:prstGeom prst="rect">
            <a:avLst/>
          </a:prstGeom>
          <a:solidFill>
            <a:srgbClr val="D1FAE5"/>
          </a:solidFill>
          <a:ln w="12700">
            <a:solidFill>
              <a:srgbClr val="10B981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6537960" y="3703320"/>
            <a:ext cx="5029200" cy="11887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E2761"/>
                </a:solidFill>
                <a:latin typeface="Microsoft JhengHei UI" pitchFamily="34" charset="0"/>
                <a:ea typeface="Microsoft JhengHei UI" pitchFamily="34" charset="-122"/>
                <a:cs typeface="Microsoft JhengHei UI" pitchFamily="34" charset="-120"/>
              </a:rPr>
              <a:t>新版（v2.2 Cohort Adjustment）
</a:t>
            </a: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1E276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adjustedDelta = decisionDelta − baselineDrift
</a:t>
            </a:r>
            <a:endParaRPr lang="en-US" sz="1300" dirty="0"/>
          </a:p>
          <a:p>
            <a:pPr indent="0" marL="0">
              <a:buNone/>
            </a:pPr>
            <a:r>
              <a:rPr lang="en-US" sz="1300" b="1" dirty="0">
                <a:solidFill>
                  <a:srgbClr val="10B98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     = −36 − (−42) = +6 ✓
</a:t>
            </a:r>
            <a:endParaRPr lang="en-US" sz="1300" dirty="0"/>
          </a:p>
          <a:p>
            <a:pPr indent="0" marL="0">
              <a:buNone/>
            </a:pPr>
            <a:r>
              <a:rPr lang="en-US" sz="1300" i="1" dirty="0">
                <a:solidFill>
                  <a:srgbClr val="475569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決策實際上比基準好 6 分</a:t>
            </a:r>
            <a:endParaRPr lang="en-US" sz="1300" dirty="0"/>
          </a:p>
        </p:txBody>
      </p:sp>
      <p:sp>
        <p:nvSpPr>
          <p:cNvPr id="15" name="Shape 13"/>
          <p:cNvSpPr/>
          <p:nvPr/>
        </p:nvSpPr>
        <p:spPr>
          <a:xfrm>
            <a:off x="548640" y="5212080"/>
            <a:ext cx="11064240" cy="1097280"/>
          </a:xfrm>
          <a:prstGeom prst="rect">
            <a:avLst/>
          </a:prstGeom>
          <a:solidFill>
            <a:srgbClr val="1E2761"/>
          </a:solidFill>
          <a:ln/>
        </p:spPr>
      </p:sp>
      <p:sp>
        <p:nvSpPr>
          <p:cNvPr id="16" name="Text 14"/>
          <p:cNvSpPr/>
          <p:nvPr/>
        </p:nvSpPr>
        <p:spPr>
          <a:xfrm>
            <a:off x="777240" y="5349240"/>
            <a:ext cx="3657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C857"/>
                </a:solidFill>
                <a:latin typeface="Microsoft JhengHei UI" pitchFamily="34" charset="0"/>
                <a:ea typeface="Microsoft JhengHei UI" pitchFamily="34" charset="-122"/>
                <a:cs typeface="Microsoft JhengHei UI" pitchFamily="34" charset="-120"/>
              </a:rPr>
              <a:t>🎓 答辯關鍵字</a:t>
            </a:r>
            <a:endParaRPr lang="en-US" sz="1300" dirty="0"/>
          </a:p>
        </p:txBody>
      </p:sp>
      <p:sp>
        <p:nvSpPr>
          <p:cNvPr id="17" name="Text 15"/>
          <p:cNvSpPr/>
          <p:nvPr/>
        </p:nvSpPr>
        <p:spPr>
          <a:xfrm>
            <a:off x="777240" y="5669280"/>
            <a:ext cx="1078992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i="1" dirty="0">
                <a:solidFill>
                  <a:srgbClr val="FFFFFF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大環境在掉、決策幫忙少掉 → 「逆境止血」；</a:t>
            </a:r>
            <a:pPr indent="0" marL="0">
              <a:buNone/>
            </a:pPr>
            <a:r>
              <a:rPr lang="en-US" sz="1400" i="1" dirty="0">
                <a:solidFill>
                  <a:srgbClr val="FFFFFF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大環境在漲、決策漲得比大盤慢 → 「順風失職」</a:t>
            </a:r>
            <a:endParaRPr lang="en-US" sz="1400" dirty="0"/>
          </a:p>
        </p:txBody>
      </p:sp>
      <p:sp>
        <p:nvSpPr>
          <p:cNvPr id="18" name="Shape 16"/>
          <p:cNvSpPr/>
          <p:nvPr/>
        </p:nvSpPr>
        <p:spPr>
          <a:xfrm>
            <a:off x="457200" y="6537960"/>
            <a:ext cx="11247120" cy="0"/>
          </a:xfrm>
          <a:prstGeom prst="line">
            <a:avLst/>
          </a:prstGeom>
          <a:noFill/>
          <a:ln w="9525">
            <a:solidFill>
              <a:srgbClr val="CADCFC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457200" y="6583680"/>
            <a:ext cx="54864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94A3B8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串連系統 v2.2 · Chuanlien System</a:t>
            </a:r>
            <a:endParaRPr lang="en-US" sz="900" dirty="0"/>
          </a:p>
        </p:txBody>
      </p:sp>
      <p:sp>
        <p:nvSpPr>
          <p:cNvPr id="20" name="Text 18"/>
          <p:cNvSpPr/>
          <p:nvPr/>
        </p:nvSpPr>
        <p:spPr>
          <a:xfrm>
            <a:off x="10789920" y="6583680"/>
            <a:ext cx="9144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94A3B8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8 / 14</a:t>
            </a:r>
            <a:endParaRPr lang="en-US" sz="9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457200"/>
            <a:ext cx="548640" cy="320040"/>
          </a:xfrm>
          <a:prstGeom prst="rect">
            <a:avLst/>
          </a:prstGeom>
          <a:solidFill>
            <a:srgbClr val="1E2761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457200"/>
            <a:ext cx="5486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Microsoft JhengHei UI" pitchFamily="34" charset="0"/>
                <a:ea typeface="Microsoft JhengHei UI" pitchFamily="34" charset="-122"/>
                <a:cs typeface="Microsoft JhengHei UI" pitchFamily="34" charset="-120"/>
              </a:rPr>
              <a:t>08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1188720" y="457200"/>
            <a:ext cx="100584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spc="400" kern="0" dirty="0">
                <a:solidFill>
                  <a:srgbClr val="94A3B8"/>
                </a:solidFill>
                <a:latin typeface="Microsoft JhengHei UI" pitchFamily="34" charset="0"/>
                <a:ea typeface="Microsoft JhengHei UI" pitchFamily="34" charset="-122"/>
                <a:cs typeface="Microsoft JhengHei UI" pitchFamily="34" charset="-120"/>
              </a:rPr>
              <a:t>技術深度</a:t>
            </a:r>
            <a:endParaRPr lang="en-US" sz="1400" dirty="0"/>
          </a:p>
        </p:txBody>
      </p:sp>
      <p:sp>
        <p:nvSpPr>
          <p:cNvPr id="5" name="Text 3"/>
          <p:cNvSpPr/>
          <p:nvPr/>
        </p:nvSpPr>
        <p:spPr>
          <a:xfrm>
            <a:off x="457200" y="914400"/>
            <a:ext cx="1097280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4200" b="1" dirty="0">
                <a:solidFill>
                  <a:srgbClr val="1E2761"/>
                </a:solidFill>
                <a:latin typeface="Microsoft JhengHei UI" pitchFamily="34" charset="0"/>
                <a:ea typeface="Microsoft JhengHei UI" pitchFamily="34" charset="-122"/>
                <a:cs typeface="Microsoft JhengHei UI" pitchFamily="34" charset="-120"/>
              </a:rPr>
              <a:t>25 個演算法分 7 類</a:t>
            </a:r>
            <a:endParaRPr lang="en-US" sz="4200" dirty="0"/>
          </a:p>
        </p:txBody>
      </p:sp>
      <p:sp>
        <p:nvSpPr>
          <p:cNvPr id="6" name="Shape 4"/>
          <p:cNvSpPr/>
          <p:nvPr/>
        </p:nvSpPr>
        <p:spPr>
          <a:xfrm>
            <a:off x="548640" y="2011680"/>
            <a:ext cx="731520" cy="502920"/>
          </a:xfrm>
          <a:prstGeom prst="rect">
            <a:avLst/>
          </a:prstGeom>
          <a:solidFill>
            <a:srgbClr val="1E2761"/>
          </a:solidFill>
          <a:ln/>
        </p:spPr>
      </p:sp>
      <p:sp>
        <p:nvSpPr>
          <p:cNvPr id="7" name="Text 5"/>
          <p:cNvSpPr/>
          <p:nvPr/>
        </p:nvSpPr>
        <p:spPr>
          <a:xfrm>
            <a:off x="548640" y="2011680"/>
            <a:ext cx="7315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Microsoft JhengHei UI" pitchFamily="34" charset="0"/>
                <a:ea typeface="Microsoft JhengHei UI" pitchFamily="34" charset="-122"/>
                <a:cs typeface="Microsoft JhengHei UI" pitchFamily="34" charset="-120"/>
              </a:rPr>
              <a:t>6</a:t>
            </a:r>
            <a:endParaRPr lang="en-US" sz="2400" dirty="0"/>
          </a:p>
        </p:txBody>
      </p:sp>
      <p:sp>
        <p:nvSpPr>
          <p:cNvPr id="8" name="Text 6"/>
          <p:cNvSpPr/>
          <p:nvPr/>
        </p:nvSpPr>
        <p:spPr>
          <a:xfrm>
            <a:off x="1463040" y="2057400"/>
            <a:ext cx="18288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1E2761"/>
                </a:solidFill>
                <a:latin typeface="Microsoft JhengHei UI" pitchFamily="34" charset="0"/>
                <a:ea typeface="Microsoft JhengHei UI" pitchFamily="34" charset="-122"/>
                <a:cs typeface="Microsoft JhengHei UI" pitchFamily="34" charset="-120"/>
              </a:rPr>
              <a:t>資訊檢索</a:t>
            </a:r>
            <a:endParaRPr lang="en-US" sz="1800" dirty="0"/>
          </a:p>
        </p:txBody>
      </p:sp>
      <p:sp>
        <p:nvSpPr>
          <p:cNvPr id="9" name="Text 7"/>
          <p:cNvSpPr/>
          <p:nvPr/>
        </p:nvSpPr>
        <p:spPr>
          <a:xfrm>
            <a:off x="3474720" y="2103120"/>
            <a:ext cx="8229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475569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BM25F、RSJ IDF、n-gram、Substring、同義詞、Cosine</a:t>
            </a:r>
            <a:endParaRPr lang="en-US" sz="1200" dirty="0"/>
          </a:p>
        </p:txBody>
      </p:sp>
      <p:sp>
        <p:nvSpPr>
          <p:cNvPr id="10" name="Shape 8"/>
          <p:cNvSpPr/>
          <p:nvPr/>
        </p:nvSpPr>
        <p:spPr>
          <a:xfrm>
            <a:off x="548640" y="2606040"/>
            <a:ext cx="731520" cy="502920"/>
          </a:xfrm>
          <a:prstGeom prst="rect">
            <a:avLst/>
          </a:prstGeom>
          <a:solidFill>
            <a:srgbClr val="2A3B7C"/>
          </a:solidFill>
          <a:ln/>
        </p:spPr>
      </p:sp>
      <p:sp>
        <p:nvSpPr>
          <p:cNvPr id="11" name="Text 9"/>
          <p:cNvSpPr/>
          <p:nvPr/>
        </p:nvSpPr>
        <p:spPr>
          <a:xfrm>
            <a:off x="548640" y="2606040"/>
            <a:ext cx="7315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Microsoft JhengHei UI" pitchFamily="34" charset="0"/>
                <a:ea typeface="Microsoft JhengHei UI" pitchFamily="34" charset="-122"/>
                <a:cs typeface="Microsoft JhengHei UI" pitchFamily="34" charset="-120"/>
              </a:rPr>
              <a:t>3</a:t>
            </a:r>
            <a:endParaRPr lang="en-US" sz="2400" dirty="0"/>
          </a:p>
        </p:txBody>
      </p:sp>
      <p:sp>
        <p:nvSpPr>
          <p:cNvPr id="12" name="Text 10"/>
          <p:cNvSpPr/>
          <p:nvPr/>
        </p:nvSpPr>
        <p:spPr>
          <a:xfrm>
            <a:off x="1463040" y="2651760"/>
            <a:ext cx="18288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1E2761"/>
                </a:solidFill>
                <a:latin typeface="Microsoft JhengHei UI" pitchFamily="34" charset="0"/>
                <a:ea typeface="Microsoft JhengHei UI" pitchFamily="34" charset="-122"/>
                <a:cs typeface="Microsoft JhengHei UI" pitchFamily="34" charset="-120"/>
              </a:rPr>
              <a:t>統計分析</a:t>
            </a:r>
            <a:endParaRPr lang="en-US" sz="1800" dirty="0"/>
          </a:p>
        </p:txBody>
      </p:sp>
      <p:sp>
        <p:nvSpPr>
          <p:cNvPr id="13" name="Text 11"/>
          <p:cNvSpPr/>
          <p:nvPr/>
        </p:nvSpPr>
        <p:spPr>
          <a:xfrm>
            <a:off x="3474720" y="2697480"/>
            <a:ext cx="8229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475569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Empirical Percentile、Gini、敘述統計</a:t>
            </a:r>
            <a:endParaRPr lang="en-US" sz="1200" dirty="0"/>
          </a:p>
        </p:txBody>
      </p:sp>
      <p:sp>
        <p:nvSpPr>
          <p:cNvPr id="14" name="Shape 12"/>
          <p:cNvSpPr/>
          <p:nvPr/>
        </p:nvSpPr>
        <p:spPr>
          <a:xfrm>
            <a:off x="548640" y="3200400"/>
            <a:ext cx="731520" cy="502920"/>
          </a:xfrm>
          <a:prstGeom prst="rect">
            <a:avLst/>
          </a:prstGeom>
          <a:solidFill>
            <a:srgbClr val="1E2761"/>
          </a:solidFill>
          <a:ln/>
        </p:spPr>
      </p:sp>
      <p:sp>
        <p:nvSpPr>
          <p:cNvPr id="15" name="Text 13"/>
          <p:cNvSpPr/>
          <p:nvPr/>
        </p:nvSpPr>
        <p:spPr>
          <a:xfrm>
            <a:off x="548640" y="3200400"/>
            <a:ext cx="7315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Microsoft JhengHei UI" pitchFamily="34" charset="0"/>
                <a:ea typeface="Microsoft JhengHei UI" pitchFamily="34" charset="-122"/>
                <a:cs typeface="Microsoft JhengHei UI" pitchFamily="34" charset="-120"/>
              </a:rPr>
              <a:t>4</a:t>
            </a:r>
            <a:endParaRPr lang="en-US" sz="2400" dirty="0"/>
          </a:p>
        </p:txBody>
      </p:sp>
      <p:sp>
        <p:nvSpPr>
          <p:cNvPr id="16" name="Text 14"/>
          <p:cNvSpPr/>
          <p:nvPr/>
        </p:nvSpPr>
        <p:spPr>
          <a:xfrm>
            <a:off x="1463040" y="3246120"/>
            <a:ext cx="18288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1E2761"/>
                </a:solidFill>
                <a:latin typeface="Microsoft JhengHei UI" pitchFamily="34" charset="0"/>
                <a:ea typeface="Microsoft JhengHei UI" pitchFamily="34" charset="-122"/>
                <a:cs typeface="Microsoft JhengHei UI" pitchFamily="34" charset="-120"/>
              </a:rPr>
              <a:t>時間序列</a:t>
            </a:r>
            <a:endParaRPr lang="en-US" sz="1800" dirty="0"/>
          </a:p>
        </p:txBody>
      </p:sp>
      <p:sp>
        <p:nvSpPr>
          <p:cNvPr id="17" name="Text 15"/>
          <p:cNvSpPr/>
          <p:nvPr/>
        </p:nvSpPr>
        <p:spPr>
          <a:xfrm>
            <a:off x="3474720" y="3291840"/>
            <a:ext cx="8229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475569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Exp Decay、asOf Snapshot、Local Minima、Weekly Series</a:t>
            </a:r>
            <a:endParaRPr lang="en-US" sz="1200" dirty="0"/>
          </a:p>
        </p:txBody>
      </p:sp>
      <p:sp>
        <p:nvSpPr>
          <p:cNvPr id="18" name="Shape 16"/>
          <p:cNvSpPr/>
          <p:nvPr/>
        </p:nvSpPr>
        <p:spPr>
          <a:xfrm>
            <a:off x="548640" y="3794760"/>
            <a:ext cx="731520" cy="502920"/>
          </a:xfrm>
          <a:prstGeom prst="rect">
            <a:avLst/>
          </a:prstGeom>
          <a:solidFill>
            <a:srgbClr val="F96167"/>
          </a:solidFill>
          <a:ln/>
        </p:spPr>
      </p:sp>
      <p:sp>
        <p:nvSpPr>
          <p:cNvPr id="19" name="Text 17"/>
          <p:cNvSpPr/>
          <p:nvPr/>
        </p:nvSpPr>
        <p:spPr>
          <a:xfrm>
            <a:off x="548640" y="3794760"/>
            <a:ext cx="7315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Microsoft JhengHei UI" pitchFamily="34" charset="0"/>
                <a:ea typeface="Microsoft JhengHei UI" pitchFamily="34" charset="-122"/>
                <a:cs typeface="Microsoft JhengHei UI" pitchFamily="34" charset="-120"/>
              </a:rPr>
              <a:t>5</a:t>
            </a:r>
            <a:endParaRPr lang="en-US" sz="2400" dirty="0"/>
          </a:p>
        </p:txBody>
      </p:sp>
      <p:sp>
        <p:nvSpPr>
          <p:cNvPr id="20" name="Text 18"/>
          <p:cNvSpPr/>
          <p:nvPr/>
        </p:nvSpPr>
        <p:spPr>
          <a:xfrm>
            <a:off x="1463040" y="3840480"/>
            <a:ext cx="18288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1E2761"/>
                </a:solidFill>
                <a:latin typeface="Microsoft JhengHei UI" pitchFamily="34" charset="0"/>
                <a:ea typeface="Microsoft JhengHei UI" pitchFamily="34" charset="-122"/>
                <a:cs typeface="Microsoft JhengHei UI" pitchFamily="34" charset="-120"/>
              </a:rPr>
              <a:t>加權評分</a:t>
            </a:r>
            <a:endParaRPr lang="en-US" sz="1800" dirty="0"/>
          </a:p>
        </p:txBody>
      </p:sp>
      <p:sp>
        <p:nvSpPr>
          <p:cNvPr id="21" name="Text 19"/>
          <p:cNvSpPr/>
          <p:nvPr/>
        </p:nvSpPr>
        <p:spPr>
          <a:xfrm>
            <a:off x="3474720" y="3886200"/>
            <a:ext cx="8229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475569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Load Score、ORI、Health 6D、Decision Impact、Leader Score</a:t>
            </a:r>
            <a:endParaRPr lang="en-US" sz="1200" dirty="0"/>
          </a:p>
        </p:txBody>
      </p:sp>
      <p:sp>
        <p:nvSpPr>
          <p:cNvPr id="22" name="Shape 20"/>
          <p:cNvSpPr/>
          <p:nvPr/>
        </p:nvSpPr>
        <p:spPr>
          <a:xfrm>
            <a:off x="548640" y="4389120"/>
            <a:ext cx="731520" cy="502920"/>
          </a:xfrm>
          <a:prstGeom prst="rect">
            <a:avLst/>
          </a:prstGeom>
          <a:solidFill>
            <a:srgbClr val="2A3B7C"/>
          </a:solidFill>
          <a:ln/>
        </p:spPr>
      </p:sp>
      <p:sp>
        <p:nvSpPr>
          <p:cNvPr id="23" name="Text 21"/>
          <p:cNvSpPr/>
          <p:nvPr/>
        </p:nvSpPr>
        <p:spPr>
          <a:xfrm>
            <a:off x="548640" y="4389120"/>
            <a:ext cx="7315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Microsoft JhengHei UI" pitchFamily="34" charset="0"/>
                <a:ea typeface="Microsoft JhengHei UI" pitchFamily="34" charset="-122"/>
                <a:cs typeface="Microsoft JhengHei UI" pitchFamily="34" charset="-120"/>
              </a:rPr>
              <a:t>3</a:t>
            </a:r>
            <a:endParaRPr lang="en-US" sz="2400" dirty="0"/>
          </a:p>
        </p:txBody>
      </p:sp>
      <p:sp>
        <p:nvSpPr>
          <p:cNvPr id="24" name="Text 22"/>
          <p:cNvSpPr/>
          <p:nvPr/>
        </p:nvSpPr>
        <p:spPr>
          <a:xfrm>
            <a:off x="1463040" y="4434840"/>
            <a:ext cx="18288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1E2761"/>
                </a:solidFill>
                <a:latin typeface="Microsoft JhengHei UI" pitchFamily="34" charset="0"/>
                <a:ea typeface="Microsoft JhengHei UI" pitchFamily="34" charset="-122"/>
                <a:cs typeface="Microsoft JhengHei UI" pitchFamily="34" charset="-120"/>
              </a:rPr>
              <a:t>圖論網絡</a:t>
            </a:r>
            <a:endParaRPr lang="en-US" sz="1800" dirty="0"/>
          </a:p>
        </p:txBody>
      </p:sp>
      <p:sp>
        <p:nvSpPr>
          <p:cNvPr id="25" name="Text 23"/>
          <p:cNvSpPr/>
          <p:nvPr/>
        </p:nvSpPr>
        <p:spPr>
          <a:xfrm>
            <a:off x="3474720" y="4480560"/>
            <a:ext cx="8229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475569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Adjacency Matrix、Force-directed、Asymmetric Detection</a:t>
            </a:r>
            <a:endParaRPr lang="en-US" sz="1200" dirty="0"/>
          </a:p>
        </p:txBody>
      </p:sp>
      <p:sp>
        <p:nvSpPr>
          <p:cNvPr id="26" name="Shape 24"/>
          <p:cNvSpPr/>
          <p:nvPr/>
        </p:nvSpPr>
        <p:spPr>
          <a:xfrm>
            <a:off x="548640" y="4983480"/>
            <a:ext cx="731520" cy="502920"/>
          </a:xfrm>
          <a:prstGeom prst="rect">
            <a:avLst/>
          </a:prstGeom>
          <a:solidFill>
            <a:srgbClr val="1E2761"/>
          </a:solidFill>
          <a:ln/>
        </p:spPr>
      </p:sp>
      <p:sp>
        <p:nvSpPr>
          <p:cNvPr id="27" name="Text 25"/>
          <p:cNvSpPr/>
          <p:nvPr/>
        </p:nvSpPr>
        <p:spPr>
          <a:xfrm>
            <a:off x="548640" y="4983480"/>
            <a:ext cx="7315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Microsoft JhengHei UI" pitchFamily="34" charset="0"/>
                <a:ea typeface="Microsoft JhengHei UI" pitchFamily="34" charset="-122"/>
                <a:cs typeface="Microsoft JhengHei UI" pitchFamily="34" charset="-120"/>
              </a:rPr>
              <a:t>2</a:t>
            </a:r>
            <a:endParaRPr lang="en-US" sz="2400" dirty="0"/>
          </a:p>
        </p:txBody>
      </p:sp>
      <p:sp>
        <p:nvSpPr>
          <p:cNvPr id="28" name="Text 26"/>
          <p:cNvSpPr/>
          <p:nvPr/>
        </p:nvSpPr>
        <p:spPr>
          <a:xfrm>
            <a:off x="1463040" y="5029200"/>
            <a:ext cx="18288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1E2761"/>
                </a:solidFill>
                <a:latin typeface="Microsoft JhengHei UI" pitchFamily="34" charset="0"/>
                <a:ea typeface="Microsoft JhengHei UI" pitchFamily="34" charset="-122"/>
                <a:cs typeface="Microsoft JhengHei UI" pitchFamily="34" charset="-120"/>
              </a:rPr>
              <a:t>狀態判定</a:t>
            </a:r>
            <a:endParaRPr lang="en-US" sz="1800" dirty="0"/>
          </a:p>
        </p:txBody>
      </p:sp>
      <p:sp>
        <p:nvSpPr>
          <p:cNvPr id="29" name="Text 27"/>
          <p:cNvSpPr/>
          <p:nvPr/>
        </p:nvSpPr>
        <p:spPr>
          <a:xfrm>
            <a:off x="3474720" y="5074920"/>
            <a:ext cx="8229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475569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Decision Helpers、Risk/Load/Health Level</a:t>
            </a:r>
            <a:endParaRPr lang="en-US" sz="1200" dirty="0"/>
          </a:p>
        </p:txBody>
      </p:sp>
      <p:sp>
        <p:nvSpPr>
          <p:cNvPr id="30" name="Shape 28"/>
          <p:cNvSpPr/>
          <p:nvPr/>
        </p:nvSpPr>
        <p:spPr>
          <a:xfrm>
            <a:off x="548640" y="5577840"/>
            <a:ext cx="731520" cy="502920"/>
          </a:xfrm>
          <a:prstGeom prst="rect">
            <a:avLst/>
          </a:prstGeom>
          <a:solidFill>
            <a:srgbClr val="2A3B7C"/>
          </a:solidFill>
          <a:ln/>
        </p:spPr>
      </p:sp>
      <p:sp>
        <p:nvSpPr>
          <p:cNvPr id="31" name="Text 29"/>
          <p:cNvSpPr/>
          <p:nvPr/>
        </p:nvSpPr>
        <p:spPr>
          <a:xfrm>
            <a:off x="548640" y="5577840"/>
            <a:ext cx="7315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Microsoft JhengHei UI" pitchFamily="34" charset="0"/>
                <a:ea typeface="Microsoft JhengHei UI" pitchFamily="34" charset="-122"/>
                <a:cs typeface="Microsoft JhengHei UI" pitchFamily="34" charset="-120"/>
              </a:rPr>
              <a:t>2</a:t>
            </a:r>
            <a:endParaRPr lang="en-US" sz="2400" dirty="0"/>
          </a:p>
        </p:txBody>
      </p:sp>
      <p:sp>
        <p:nvSpPr>
          <p:cNvPr id="32" name="Text 30"/>
          <p:cNvSpPr/>
          <p:nvPr/>
        </p:nvSpPr>
        <p:spPr>
          <a:xfrm>
            <a:off x="1463040" y="5623560"/>
            <a:ext cx="18288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1E2761"/>
                </a:solidFill>
                <a:latin typeface="Microsoft JhengHei UI" pitchFamily="34" charset="0"/>
                <a:ea typeface="Microsoft JhengHei UI" pitchFamily="34" charset="-122"/>
                <a:cs typeface="Microsoft JhengHei UI" pitchFamily="34" charset="-120"/>
              </a:rPr>
              <a:t>預測模擬</a:t>
            </a:r>
            <a:endParaRPr lang="en-US" sz="1800" dirty="0"/>
          </a:p>
        </p:txBody>
      </p:sp>
      <p:sp>
        <p:nvSpPr>
          <p:cNvPr id="33" name="Text 31"/>
          <p:cNvSpPr/>
          <p:nvPr/>
        </p:nvSpPr>
        <p:spPr>
          <a:xfrm>
            <a:off x="3474720" y="5669280"/>
            <a:ext cx="8229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475569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What-if Simulation、Smart Suggestion</a:t>
            </a:r>
            <a:endParaRPr lang="en-US" sz="1200" dirty="0"/>
          </a:p>
        </p:txBody>
      </p:sp>
      <p:sp>
        <p:nvSpPr>
          <p:cNvPr id="34" name="Shape 32"/>
          <p:cNvSpPr/>
          <p:nvPr/>
        </p:nvSpPr>
        <p:spPr>
          <a:xfrm>
            <a:off x="457200" y="6537960"/>
            <a:ext cx="11247120" cy="0"/>
          </a:xfrm>
          <a:prstGeom prst="line">
            <a:avLst/>
          </a:prstGeom>
          <a:noFill/>
          <a:ln w="9525">
            <a:solidFill>
              <a:srgbClr val="CADCFC"/>
            </a:solidFill>
            <a:prstDash val="solid"/>
          </a:ln>
        </p:spPr>
      </p:sp>
      <p:sp>
        <p:nvSpPr>
          <p:cNvPr id="35" name="Text 33"/>
          <p:cNvSpPr/>
          <p:nvPr/>
        </p:nvSpPr>
        <p:spPr>
          <a:xfrm>
            <a:off x="457200" y="6583680"/>
            <a:ext cx="54864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94A3B8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串連系統 v2.2 · Chuanlien System</a:t>
            </a:r>
            <a:endParaRPr lang="en-US" sz="900" dirty="0"/>
          </a:p>
        </p:txBody>
      </p:sp>
      <p:sp>
        <p:nvSpPr>
          <p:cNvPr id="36" name="Text 34"/>
          <p:cNvSpPr/>
          <p:nvPr/>
        </p:nvSpPr>
        <p:spPr>
          <a:xfrm>
            <a:off x="10789920" y="6583680"/>
            <a:ext cx="9144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94A3B8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9 / 14</a:t>
            </a:r>
            <a:endParaRPr lang="en-US" sz="9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457200"/>
            <a:ext cx="548640" cy="320040"/>
          </a:xfrm>
          <a:prstGeom prst="rect">
            <a:avLst/>
          </a:prstGeom>
          <a:solidFill>
            <a:srgbClr val="1E2761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457200"/>
            <a:ext cx="5486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Microsoft JhengHei UI" pitchFamily="34" charset="0"/>
                <a:ea typeface="Microsoft JhengHei UI" pitchFamily="34" charset="-122"/>
                <a:cs typeface="Microsoft JhengHei UI" pitchFamily="34" charset="-120"/>
              </a:rPr>
              <a:t>09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1188720" y="457200"/>
            <a:ext cx="100584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spc="400" kern="0" dirty="0">
                <a:solidFill>
                  <a:srgbClr val="94A3B8"/>
                </a:solidFill>
                <a:latin typeface="Microsoft JhengHei UI" pitchFamily="34" charset="0"/>
                <a:ea typeface="Microsoft JhengHei UI" pitchFamily="34" charset="-122"/>
                <a:cs typeface="Microsoft JhengHei UI" pitchFamily="34" charset="-120"/>
              </a:rPr>
              <a:t>視覺化</a:t>
            </a:r>
            <a:endParaRPr lang="en-US" sz="1400" dirty="0"/>
          </a:p>
        </p:txBody>
      </p:sp>
      <p:sp>
        <p:nvSpPr>
          <p:cNvPr id="5" name="Text 3"/>
          <p:cNvSpPr/>
          <p:nvPr/>
        </p:nvSpPr>
        <p:spPr>
          <a:xfrm>
            <a:off x="457200" y="914400"/>
            <a:ext cx="1097280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4200" b="1" dirty="0">
                <a:solidFill>
                  <a:srgbClr val="1E2761"/>
                </a:solidFill>
                <a:latin typeface="Microsoft JhengHei UI" pitchFamily="34" charset="0"/>
                <a:ea typeface="Microsoft JhengHei UI" pitchFamily="34" charset="-122"/>
                <a:cs typeface="Microsoft JhengHei UI" pitchFamily="34" charset="-120"/>
              </a:rPr>
              <a:t>12 週趨勢 + 拐點偵測</a:t>
            </a:r>
            <a:endParaRPr lang="en-US" sz="4200" dirty="0"/>
          </a:p>
        </p:txBody>
      </p:sp>
      <p:sp>
        <p:nvSpPr>
          <p:cNvPr id="6" name="Text 4"/>
          <p:cNvSpPr/>
          <p:nvPr/>
        </p:nvSpPr>
        <p:spPr>
          <a:xfrm>
            <a:off x="457200" y="1828800"/>
            <a:ext cx="109728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475569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點任一週 → 顯示當週發生的事件 → 點事件 → inline 展開實際清單</a:t>
            </a:r>
            <a:endParaRPr lang="en-US" sz="1600" dirty="0"/>
          </a:p>
        </p:txBody>
      </p:sp>
      <p:pic>
        <p:nvPicPr>
          <p:cNvPr id="7" name="Image 0" descr="docs/images/07_local_minima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48640" y="2377440"/>
            <a:ext cx="7315200" cy="3931920"/>
          </a:xfrm>
          <a:prstGeom prst="rect">
            <a:avLst/>
          </a:prstGeom>
        </p:spPr>
      </p:pic>
      <p:sp>
        <p:nvSpPr>
          <p:cNvPr id="8" name="Shape 5"/>
          <p:cNvSpPr/>
          <p:nvPr/>
        </p:nvSpPr>
        <p:spPr>
          <a:xfrm>
            <a:off x="8229600" y="2468880"/>
            <a:ext cx="548640" cy="548640"/>
          </a:xfrm>
          <a:prstGeom prst="ellipse">
            <a:avLst/>
          </a:prstGeom>
          <a:solidFill>
            <a:srgbClr val="F96167"/>
          </a:solidFill>
          <a:ln/>
        </p:spPr>
      </p:sp>
      <p:sp>
        <p:nvSpPr>
          <p:cNvPr id="9" name="Text 6"/>
          <p:cNvSpPr/>
          <p:nvPr/>
        </p:nvSpPr>
        <p:spPr>
          <a:xfrm>
            <a:off x="8229600" y="2468880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Microsoft JhengHei UI" pitchFamily="34" charset="0"/>
                <a:ea typeface="Microsoft JhengHei UI" pitchFamily="34" charset="-122"/>
                <a:cs typeface="Microsoft JhengHei UI" pitchFamily="34" charset="-120"/>
              </a:rPr>
              <a:t>1</a:t>
            </a:r>
            <a:endParaRPr lang="en-US" sz="2000" dirty="0"/>
          </a:p>
        </p:txBody>
      </p:sp>
      <p:sp>
        <p:nvSpPr>
          <p:cNvPr id="10" name="Text 7"/>
          <p:cNvSpPr/>
          <p:nvPr/>
        </p:nvSpPr>
        <p:spPr>
          <a:xfrm>
            <a:off x="9006840" y="2468880"/>
            <a:ext cx="30175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E2761"/>
                </a:solidFill>
                <a:latin typeface="Microsoft JhengHei UI" pitchFamily="34" charset="0"/>
                <a:ea typeface="Microsoft JhengHei UI" pitchFamily="34" charset="-122"/>
                <a:cs typeface="Microsoft JhengHei UI" pitchFamily="34" charset="-120"/>
              </a:rPr>
              <a:t>自動偵測 V 型谷底</a:t>
            </a:r>
            <a:endParaRPr lang="en-US" sz="1500" dirty="0"/>
          </a:p>
        </p:txBody>
      </p:sp>
      <p:sp>
        <p:nvSpPr>
          <p:cNvPr id="11" name="Text 8"/>
          <p:cNvSpPr/>
          <p:nvPr/>
        </p:nvSpPr>
        <p:spPr>
          <a:xfrm>
            <a:off x="9006840" y="2834640"/>
            <a:ext cx="301752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475569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雙邊閾值 −3 分過濾雜訊</a:t>
            </a:r>
            <a:endParaRPr lang="en-US" sz="1200" dirty="0"/>
          </a:p>
        </p:txBody>
      </p:sp>
      <p:sp>
        <p:nvSpPr>
          <p:cNvPr id="12" name="Shape 9"/>
          <p:cNvSpPr/>
          <p:nvPr/>
        </p:nvSpPr>
        <p:spPr>
          <a:xfrm>
            <a:off x="8229600" y="3749040"/>
            <a:ext cx="548640" cy="548640"/>
          </a:xfrm>
          <a:prstGeom prst="ellipse">
            <a:avLst/>
          </a:prstGeom>
          <a:solidFill>
            <a:srgbClr val="F96167"/>
          </a:solidFill>
          <a:ln/>
        </p:spPr>
      </p:sp>
      <p:sp>
        <p:nvSpPr>
          <p:cNvPr id="13" name="Text 10"/>
          <p:cNvSpPr/>
          <p:nvPr/>
        </p:nvSpPr>
        <p:spPr>
          <a:xfrm>
            <a:off x="8229600" y="3749040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Microsoft JhengHei UI" pitchFamily="34" charset="0"/>
                <a:ea typeface="Microsoft JhengHei UI" pitchFamily="34" charset="-122"/>
                <a:cs typeface="Microsoft JhengHei UI" pitchFamily="34" charset="-120"/>
              </a:rPr>
              <a:t>2</a:t>
            </a:r>
            <a:endParaRPr lang="en-US" sz="2000" dirty="0"/>
          </a:p>
        </p:txBody>
      </p:sp>
      <p:sp>
        <p:nvSpPr>
          <p:cNvPr id="14" name="Text 11"/>
          <p:cNvSpPr/>
          <p:nvPr/>
        </p:nvSpPr>
        <p:spPr>
          <a:xfrm>
            <a:off x="9006840" y="3749040"/>
            <a:ext cx="30175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E2761"/>
                </a:solidFill>
                <a:latin typeface="Microsoft JhengHei UI" pitchFamily="34" charset="0"/>
                <a:ea typeface="Microsoft JhengHei UI" pitchFamily="34" charset="-122"/>
                <a:cs typeface="Microsoft JhengHei UI" pitchFamily="34" charset="-120"/>
              </a:rPr>
              <a:t>點擊 pin 住事件</a:t>
            </a:r>
            <a:endParaRPr lang="en-US" sz="1500" dirty="0"/>
          </a:p>
        </p:txBody>
      </p:sp>
      <p:sp>
        <p:nvSpPr>
          <p:cNvPr id="15" name="Text 12"/>
          <p:cNvSpPr/>
          <p:nvPr/>
        </p:nvSpPr>
        <p:spPr>
          <a:xfrm>
            <a:off x="9006840" y="4114800"/>
            <a:ext cx="301752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475569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顯示該週的卡點/決策/負載</a:t>
            </a:r>
            <a:endParaRPr lang="en-US" sz="1200" dirty="0"/>
          </a:p>
        </p:txBody>
      </p:sp>
      <p:sp>
        <p:nvSpPr>
          <p:cNvPr id="16" name="Shape 13"/>
          <p:cNvSpPr/>
          <p:nvPr/>
        </p:nvSpPr>
        <p:spPr>
          <a:xfrm>
            <a:off x="8229600" y="5029200"/>
            <a:ext cx="548640" cy="548640"/>
          </a:xfrm>
          <a:prstGeom prst="ellipse">
            <a:avLst/>
          </a:prstGeom>
          <a:solidFill>
            <a:srgbClr val="F96167"/>
          </a:solidFill>
          <a:ln/>
        </p:spPr>
      </p:sp>
      <p:sp>
        <p:nvSpPr>
          <p:cNvPr id="17" name="Text 14"/>
          <p:cNvSpPr/>
          <p:nvPr/>
        </p:nvSpPr>
        <p:spPr>
          <a:xfrm>
            <a:off x="8229600" y="5029200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Microsoft JhengHei UI" pitchFamily="34" charset="0"/>
                <a:ea typeface="Microsoft JhengHei UI" pitchFamily="34" charset="-122"/>
                <a:cs typeface="Microsoft JhengHei UI" pitchFamily="34" charset="-120"/>
              </a:rPr>
              <a:t>3</a:t>
            </a:r>
            <a:endParaRPr lang="en-US" sz="2000" dirty="0"/>
          </a:p>
        </p:txBody>
      </p:sp>
      <p:sp>
        <p:nvSpPr>
          <p:cNvPr id="18" name="Text 15"/>
          <p:cNvSpPr/>
          <p:nvPr/>
        </p:nvSpPr>
        <p:spPr>
          <a:xfrm>
            <a:off x="9006840" y="5029200"/>
            <a:ext cx="30175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E2761"/>
                </a:solidFill>
                <a:latin typeface="Microsoft JhengHei UI" pitchFamily="34" charset="0"/>
                <a:ea typeface="Microsoft JhengHei UI" pitchFamily="34" charset="-122"/>
                <a:cs typeface="Microsoft JhengHei UI" pitchFamily="34" charset="-120"/>
              </a:rPr>
              <a:t>Inline 展開清單</a:t>
            </a:r>
            <a:endParaRPr lang="en-US" sz="1500" dirty="0"/>
          </a:p>
        </p:txBody>
      </p:sp>
      <p:sp>
        <p:nvSpPr>
          <p:cNvPr id="19" name="Text 16"/>
          <p:cNvSpPr/>
          <p:nvPr/>
        </p:nvSpPr>
        <p:spPr>
          <a:xfrm>
            <a:off x="9006840" y="5394960"/>
            <a:ext cx="301752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475569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不用跳頁就看到實際項目</a:t>
            </a:r>
            <a:endParaRPr lang="en-US" sz="1200" dirty="0"/>
          </a:p>
        </p:txBody>
      </p:sp>
      <p:sp>
        <p:nvSpPr>
          <p:cNvPr id="20" name="Shape 17"/>
          <p:cNvSpPr/>
          <p:nvPr/>
        </p:nvSpPr>
        <p:spPr>
          <a:xfrm>
            <a:off x="457200" y="6537960"/>
            <a:ext cx="11247120" cy="0"/>
          </a:xfrm>
          <a:prstGeom prst="line">
            <a:avLst/>
          </a:prstGeom>
          <a:noFill/>
          <a:ln w="9525">
            <a:solidFill>
              <a:srgbClr val="CADCFC"/>
            </a:solidFill>
            <a:prstDash val="solid"/>
          </a:ln>
        </p:spPr>
      </p:sp>
      <p:sp>
        <p:nvSpPr>
          <p:cNvPr id="21" name="Text 18"/>
          <p:cNvSpPr/>
          <p:nvPr/>
        </p:nvSpPr>
        <p:spPr>
          <a:xfrm>
            <a:off x="457200" y="6583680"/>
            <a:ext cx="54864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94A3B8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串連系統 v2.2 · Chuanlien System</a:t>
            </a:r>
            <a:endParaRPr lang="en-US" sz="900" dirty="0"/>
          </a:p>
        </p:txBody>
      </p:sp>
      <p:sp>
        <p:nvSpPr>
          <p:cNvPr id="22" name="Text 19"/>
          <p:cNvSpPr/>
          <p:nvPr/>
        </p:nvSpPr>
        <p:spPr>
          <a:xfrm>
            <a:off x="10789920" y="6583680"/>
            <a:ext cx="9144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94A3B8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10 / 14</a:t>
            </a:r>
            <a:endParaRPr lang="en-US" sz="9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457200"/>
            <a:ext cx="548640" cy="320040"/>
          </a:xfrm>
          <a:prstGeom prst="rect">
            <a:avLst/>
          </a:prstGeom>
          <a:solidFill>
            <a:srgbClr val="1E2761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457200"/>
            <a:ext cx="5486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Microsoft JhengHei UI" pitchFamily="34" charset="0"/>
                <a:ea typeface="Microsoft JhengHei UI" pitchFamily="34" charset="-122"/>
                <a:cs typeface="Microsoft JhengHei UI" pitchFamily="34" charset="-120"/>
              </a:rPr>
              <a:t>10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1188720" y="457200"/>
            <a:ext cx="100584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spc="400" kern="0" dirty="0">
                <a:solidFill>
                  <a:srgbClr val="94A3B8"/>
                </a:solidFill>
                <a:latin typeface="Microsoft JhengHei UI" pitchFamily="34" charset="0"/>
                <a:ea typeface="Microsoft JhengHei UI" pitchFamily="34" charset="-122"/>
                <a:cs typeface="Microsoft JhengHei UI" pitchFamily="34" charset="-120"/>
              </a:rPr>
              <a:t>整體框架</a:t>
            </a:r>
            <a:endParaRPr lang="en-US" sz="1400" dirty="0"/>
          </a:p>
        </p:txBody>
      </p:sp>
      <p:sp>
        <p:nvSpPr>
          <p:cNvPr id="5" name="Text 3"/>
          <p:cNvSpPr/>
          <p:nvPr/>
        </p:nvSpPr>
        <p:spPr>
          <a:xfrm>
            <a:off x="457200" y="914400"/>
            <a:ext cx="1097280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800" b="1" dirty="0">
                <a:solidFill>
                  <a:srgbClr val="1E2761"/>
                </a:solidFill>
                <a:latin typeface="Microsoft JhengHei UI" pitchFamily="34" charset="0"/>
                <a:ea typeface="Microsoft JhengHei UI" pitchFamily="34" charset="-122"/>
                <a:cs typeface="Microsoft JhengHei UI" pitchFamily="34" charset="-120"/>
              </a:rPr>
              <a:t>Plan → Decide → Track → Learn</a:t>
            </a:r>
            <a:endParaRPr lang="en-US" sz="3800" dirty="0"/>
          </a:p>
        </p:txBody>
      </p:sp>
      <p:sp>
        <p:nvSpPr>
          <p:cNvPr id="6" name="Text 4"/>
          <p:cNvSpPr/>
          <p:nvPr/>
        </p:nvSpPr>
        <p:spPr>
          <a:xfrm>
            <a:off x="457200" y="1828800"/>
            <a:ext cx="109728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475569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從現況觀察到決策模擬，從執行追蹤到效益回饋，形成完整閉環</a:t>
            </a:r>
            <a:endParaRPr lang="en-US" sz="1600" dirty="0"/>
          </a:p>
        </p:txBody>
      </p:sp>
      <p:sp>
        <p:nvSpPr>
          <p:cNvPr id="7" name="Text 5"/>
          <p:cNvSpPr/>
          <p:nvPr/>
        </p:nvSpPr>
        <p:spPr>
          <a:xfrm>
            <a:off x="640080" y="2743200"/>
            <a:ext cx="7315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6000" b="1" dirty="0">
                <a:solidFill>
                  <a:srgbClr val="1E2761"/>
                </a:solidFill>
                <a:latin typeface="Microsoft JhengHei UI" pitchFamily="34" charset="0"/>
                <a:ea typeface="Microsoft JhengHei UI" pitchFamily="34" charset="-122"/>
                <a:cs typeface="Microsoft JhengHei UI" pitchFamily="34" charset="-120"/>
              </a:rPr>
              <a:t>1</a:t>
            </a:r>
            <a:endParaRPr lang="en-US" sz="6000" dirty="0"/>
          </a:p>
        </p:txBody>
      </p:sp>
      <p:sp>
        <p:nvSpPr>
          <p:cNvPr id="8" name="Text 6"/>
          <p:cNvSpPr/>
          <p:nvPr/>
        </p:nvSpPr>
        <p:spPr>
          <a:xfrm>
            <a:off x="1371600" y="2834640"/>
            <a:ext cx="18288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1E2761"/>
                </a:solidFill>
                <a:latin typeface="Microsoft JhengHei UI" pitchFamily="34" charset="0"/>
                <a:ea typeface="Microsoft JhengHei UI" pitchFamily="34" charset="-122"/>
                <a:cs typeface="Microsoft JhengHei UI" pitchFamily="34" charset="-120"/>
              </a:rPr>
              <a:t>Plan</a:t>
            </a:r>
            <a:endParaRPr lang="en-US" sz="2200" dirty="0"/>
          </a:p>
        </p:txBody>
      </p:sp>
      <p:sp>
        <p:nvSpPr>
          <p:cNvPr id="9" name="Text 7"/>
          <p:cNvSpPr/>
          <p:nvPr/>
        </p:nvSpPr>
        <p:spPr>
          <a:xfrm>
            <a:off x="1371600" y="3246120"/>
            <a:ext cx="18288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475569"/>
                </a:solidFill>
                <a:latin typeface="Microsoft JhengHei UI" pitchFamily="34" charset="0"/>
                <a:ea typeface="Microsoft JhengHei UI" pitchFamily="34" charset="-122"/>
                <a:cs typeface="Microsoft JhengHei UI" pitchFamily="34" charset="-120"/>
              </a:rPr>
              <a:t>規劃</a:t>
            </a:r>
            <a:endParaRPr lang="en-US" sz="1400" dirty="0"/>
          </a:p>
        </p:txBody>
      </p:sp>
      <p:sp>
        <p:nvSpPr>
          <p:cNvPr id="10" name="Shape 8"/>
          <p:cNvSpPr/>
          <p:nvPr/>
        </p:nvSpPr>
        <p:spPr>
          <a:xfrm>
            <a:off x="640080" y="3840480"/>
            <a:ext cx="2560320" cy="2011680"/>
          </a:xfrm>
          <a:prstGeom prst="rect">
            <a:avLst/>
          </a:prstGeom>
          <a:solidFill>
            <a:srgbClr val="F1F5F9"/>
          </a:solidFill>
          <a:ln w="12700">
            <a:solidFill>
              <a:srgbClr val="CADCFC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640080" y="3840480"/>
            <a:ext cx="2560320" cy="109728"/>
          </a:xfrm>
          <a:prstGeom prst="rect">
            <a:avLst/>
          </a:prstGeom>
          <a:solidFill>
            <a:srgbClr val="1E2761"/>
          </a:solidFill>
          <a:ln/>
        </p:spPr>
      </p:sp>
      <p:sp>
        <p:nvSpPr>
          <p:cNvPr id="12" name="Text 10"/>
          <p:cNvSpPr/>
          <p:nvPr/>
        </p:nvSpPr>
        <p:spPr>
          <a:xfrm>
            <a:off x="822960" y="4114800"/>
            <a:ext cx="2194560" cy="16459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475569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卡點分析 + 員工負載 + 組織健康度 看現狀</a:t>
            </a:r>
            <a:endParaRPr lang="en-US" sz="1300" dirty="0"/>
          </a:p>
        </p:txBody>
      </p:sp>
      <p:sp>
        <p:nvSpPr>
          <p:cNvPr id="13" name="Text 11"/>
          <p:cNvSpPr/>
          <p:nvPr/>
        </p:nvSpPr>
        <p:spPr>
          <a:xfrm>
            <a:off x="3246120" y="4389120"/>
            <a:ext cx="36576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600" b="1" dirty="0">
                <a:solidFill>
                  <a:srgbClr val="CADCFC"/>
                </a:solidFill>
                <a:latin typeface="Microsoft JhengHei UI" pitchFamily="34" charset="0"/>
                <a:ea typeface="Microsoft JhengHei UI" pitchFamily="34" charset="-122"/>
                <a:cs typeface="Microsoft JhengHei UI" pitchFamily="34" charset="-120"/>
              </a:rPr>
              <a:t>→</a:t>
            </a:r>
            <a:endParaRPr lang="en-US" sz="3600" dirty="0"/>
          </a:p>
        </p:txBody>
      </p:sp>
      <p:sp>
        <p:nvSpPr>
          <p:cNvPr id="14" name="Text 12"/>
          <p:cNvSpPr/>
          <p:nvPr/>
        </p:nvSpPr>
        <p:spPr>
          <a:xfrm>
            <a:off x="3474720" y="2743200"/>
            <a:ext cx="7315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6000" b="1" dirty="0">
                <a:solidFill>
                  <a:srgbClr val="F96167"/>
                </a:solidFill>
                <a:latin typeface="Microsoft JhengHei UI" pitchFamily="34" charset="0"/>
                <a:ea typeface="Microsoft JhengHei UI" pitchFamily="34" charset="-122"/>
                <a:cs typeface="Microsoft JhengHei UI" pitchFamily="34" charset="-120"/>
              </a:rPr>
              <a:t>2</a:t>
            </a:r>
            <a:endParaRPr lang="en-US" sz="6000" dirty="0"/>
          </a:p>
        </p:txBody>
      </p:sp>
      <p:sp>
        <p:nvSpPr>
          <p:cNvPr id="15" name="Text 13"/>
          <p:cNvSpPr/>
          <p:nvPr/>
        </p:nvSpPr>
        <p:spPr>
          <a:xfrm>
            <a:off x="4206240" y="2834640"/>
            <a:ext cx="18288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96167"/>
                </a:solidFill>
                <a:latin typeface="Microsoft JhengHei UI" pitchFamily="34" charset="0"/>
                <a:ea typeface="Microsoft JhengHei UI" pitchFamily="34" charset="-122"/>
                <a:cs typeface="Microsoft JhengHei UI" pitchFamily="34" charset="-120"/>
              </a:rPr>
              <a:t>Decide</a:t>
            </a:r>
            <a:endParaRPr lang="en-US" sz="2200" dirty="0"/>
          </a:p>
        </p:txBody>
      </p:sp>
      <p:sp>
        <p:nvSpPr>
          <p:cNvPr id="16" name="Text 14"/>
          <p:cNvSpPr/>
          <p:nvPr/>
        </p:nvSpPr>
        <p:spPr>
          <a:xfrm>
            <a:off x="4206240" y="3246120"/>
            <a:ext cx="18288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475569"/>
                </a:solidFill>
                <a:latin typeface="Microsoft JhengHei UI" pitchFamily="34" charset="0"/>
                <a:ea typeface="Microsoft JhengHei UI" pitchFamily="34" charset="-122"/>
                <a:cs typeface="Microsoft JhengHei UI" pitchFamily="34" charset="-120"/>
              </a:rPr>
              <a:t>決策</a:t>
            </a:r>
            <a:endParaRPr lang="en-US" sz="1400" dirty="0"/>
          </a:p>
        </p:txBody>
      </p:sp>
      <p:sp>
        <p:nvSpPr>
          <p:cNvPr id="17" name="Shape 15"/>
          <p:cNvSpPr/>
          <p:nvPr/>
        </p:nvSpPr>
        <p:spPr>
          <a:xfrm>
            <a:off x="3474720" y="3840480"/>
            <a:ext cx="2560320" cy="2011680"/>
          </a:xfrm>
          <a:prstGeom prst="rect">
            <a:avLst/>
          </a:prstGeom>
          <a:solidFill>
            <a:srgbClr val="F1F5F9"/>
          </a:solidFill>
          <a:ln w="12700">
            <a:solidFill>
              <a:srgbClr val="CADCFC"/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3474720" y="3840480"/>
            <a:ext cx="2560320" cy="109728"/>
          </a:xfrm>
          <a:prstGeom prst="rect">
            <a:avLst/>
          </a:prstGeom>
          <a:solidFill>
            <a:srgbClr val="F96167"/>
          </a:solidFill>
          <a:ln/>
        </p:spPr>
      </p:sp>
      <p:sp>
        <p:nvSpPr>
          <p:cNvPr id="19" name="Text 17"/>
          <p:cNvSpPr/>
          <p:nvPr/>
        </p:nvSpPr>
        <p:spPr>
          <a:xfrm>
            <a:off x="3657600" y="4114800"/>
            <a:ext cx="2194560" cy="16459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475569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What-if 模擬器 決策前看後果</a:t>
            </a:r>
            <a:endParaRPr lang="en-US" sz="1300" dirty="0"/>
          </a:p>
        </p:txBody>
      </p:sp>
      <p:sp>
        <p:nvSpPr>
          <p:cNvPr id="20" name="Text 18"/>
          <p:cNvSpPr/>
          <p:nvPr/>
        </p:nvSpPr>
        <p:spPr>
          <a:xfrm>
            <a:off x="6080760" y="4389120"/>
            <a:ext cx="36576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600" b="1" dirty="0">
                <a:solidFill>
                  <a:srgbClr val="CADCFC"/>
                </a:solidFill>
                <a:latin typeface="Microsoft JhengHei UI" pitchFamily="34" charset="0"/>
                <a:ea typeface="Microsoft JhengHei UI" pitchFamily="34" charset="-122"/>
                <a:cs typeface="Microsoft JhengHei UI" pitchFamily="34" charset="-120"/>
              </a:rPr>
              <a:t>→</a:t>
            </a:r>
            <a:endParaRPr lang="en-US" sz="3600" dirty="0"/>
          </a:p>
        </p:txBody>
      </p:sp>
      <p:sp>
        <p:nvSpPr>
          <p:cNvPr id="21" name="Text 19"/>
          <p:cNvSpPr/>
          <p:nvPr/>
        </p:nvSpPr>
        <p:spPr>
          <a:xfrm>
            <a:off x="6309360" y="2743200"/>
            <a:ext cx="7315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6000" b="1" dirty="0">
                <a:solidFill>
                  <a:srgbClr val="2A3B7C"/>
                </a:solidFill>
                <a:latin typeface="Microsoft JhengHei UI" pitchFamily="34" charset="0"/>
                <a:ea typeface="Microsoft JhengHei UI" pitchFamily="34" charset="-122"/>
                <a:cs typeface="Microsoft JhengHei UI" pitchFamily="34" charset="-120"/>
              </a:rPr>
              <a:t>3</a:t>
            </a:r>
            <a:endParaRPr lang="en-US" sz="6000" dirty="0"/>
          </a:p>
        </p:txBody>
      </p:sp>
      <p:sp>
        <p:nvSpPr>
          <p:cNvPr id="22" name="Text 20"/>
          <p:cNvSpPr/>
          <p:nvPr/>
        </p:nvSpPr>
        <p:spPr>
          <a:xfrm>
            <a:off x="7040880" y="2834640"/>
            <a:ext cx="18288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2A3B7C"/>
                </a:solidFill>
                <a:latin typeface="Microsoft JhengHei UI" pitchFamily="34" charset="0"/>
                <a:ea typeface="Microsoft JhengHei UI" pitchFamily="34" charset="-122"/>
                <a:cs typeface="Microsoft JhengHei UI" pitchFamily="34" charset="-120"/>
              </a:rPr>
              <a:t>Track</a:t>
            </a:r>
            <a:endParaRPr lang="en-US" sz="2200" dirty="0"/>
          </a:p>
        </p:txBody>
      </p:sp>
      <p:sp>
        <p:nvSpPr>
          <p:cNvPr id="23" name="Text 21"/>
          <p:cNvSpPr/>
          <p:nvPr/>
        </p:nvSpPr>
        <p:spPr>
          <a:xfrm>
            <a:off x="7040880" y="3246120"/>
            <a:ext cx="18288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475569"/>
                </a:solidFill>
                <a:latin typeface="Microsoft JhengHei UI" pitchFamily="34" charset="0"/>
                <a:ea typeface="Microsoft JhengHei UI" pitchFamily="34" charset="-122"/>
                <a:cs typeface="Microsoft JhengHei UI" pitchFamily="34" charset="-120"/>
              </a:rPr>
              <a:t>執行</a:t>
            </a:r>
            <a:endParaRPr lang="en-US" sz="1400" dirty="0"/>
          </a:p>
        </p:txBody>
      </p:sp>
      <p:sp>
        <p:nvSpPr>
          <p:cNvPr id="24" name="Shape 22"/>
          <p:cNvSpPr/>
          <p:nvPr/>
        </p:nvSpPr>
        <p:spPr>
          <a:xfrm>
            <a:off x="6309360" y="3840480"/>
            <a:ext cx="2560320" cy="2011680"/>
          </a:xfrm>
          <a:prstGeom prst="rect">
            <a:avLst/>
          </a:prstGeom>
          <a:solidFill>
            <a:srgbClr val="F1F5F9"/>
          </a:solidFill>
          <a:ln w="12700">
            <a:solidFill>
              <a:srgbClr val="CADCFC"/>
            </a:solidFill>
            <a:prstDash val="solid"/>
          </a:ln>
        </p:spPr>
      </p:sp>
      <p:sp>
        <p:nvSpPr>
          <p:cNvPr id="25" name="Shape 23"/>
          <p:cNvSpPr/>
          <p:nvPr/>
        </p:nvSpPr>
        <p:spPr>
          <a:xfrm>
            <a:off x="6309360" y="3840480"/>
            <a:ext cx="2560320" cy="109728"/>
          </a:xfrm>
          <a:prstGeom prst="rect">
            <a:avLst/>
          </a:prstGeom>
          <a:solidFill>
            <a:srgbClr val="2A3B7C"/>
          </a:solidFill>
          <a:ln/>
        </p:spPr>
      </p:sp>
      <p:sp>
        <p:nvSpPr>
          <p:cNvPr id="26" name="Text 24"/>
          <p:cNvSpPr/>
          <p:nvPr/>
        </p:nvSpPr>
        <p:spPr>
          <a:xfrm>
            <a:off x="6492240" y="4114800"/>
            <a:ext cx="2194560" cy="16459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475569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決策追蹤 + 案件交接 + 週報填寫</a:t>
            </a:r>
            <a:endParaRPr lang="en-US" sz="1300" dirty="0"/>
          </a:p>
        </p:txBody>
      </p:sp>
      <p:sp>
        <p:nvSpPr>
          <p:cNvPr id="27" name="Text 25"/>
          <p:cNvSpPr/>
          <p:nvPr/>
        </p:nvSpPr>
        <p:spPr>
          <a:xfrm>
            <a:off x="8915400" y="4389120"/>
            <a:ext cx="36576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600" b="1" dirty="0">
                <a:solidFill>
                  <a:srgbClr val="CADCFC"/>
                </a:solidFill>
                <a:latin typeface="Microsoft JhengHei UI" pitchFamily="34" charset="0"/>
                <a:ea typeface="Microsoft JhengHei UI" pitchFamily="34" charset="-122"/>
                <a:cs typeface="Microsoft JhengHei UI" pitchFamily="34" charset="-120"/>
              </a:rPr>
              <a:t>→</a:t>
            </a:r>
            <a:endParaRPr lang="en-US" sz="3600" dirty="0"/>
          </a:p>
        </p:txBody>
      </p:sp>
      <p:sp>
        <p:nvSpPr>
          <p:cNvPr id="28" name="Text 26"/>
          <p:cNvSpPr/>
          <p:nvPr/>
        </p:nvSpPr>
        <p:spPr>
          <a:xfrm>
            <a:off x="9144000" y="2743200"/>
            <a:ext cx="7315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6000" b="1" dirty="0">
                <a:solidFill>
                  <a:srgbClr val="10B981"/>
                </a:solidFill>
                <a:latin typeface="Microsoft JhengHei UI" pitchFamily="34" charset="0"/>
                <a:ea typeface="Microsoft JhengHei UI" pitchFamily="34" charset="-122"/>
                <a:cs typeface="Microsoft JhengHei UI" pitchFamily="34" charset="-120"/>
              </a:rPr>
              <a:t>4</a:t>
            </a:r>
            <a:endParaRPr lang="en-US" sz="6000" dirty="0"/>
          </a:p>
        </p:txBody>
      </p:sp>
      <p:sp>
        <p:nvSpPr>
          <p:cNvPr id="29" name="Text 27"/>
          <p:cNvSpPr/>
          <p:nvPr/>
        </p:nvSpPr>
        <p:spPr>
          <a:xfrm>
            <a:off x="9875520" y="2834640"/>
            <a:ext cx="18288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10B981"/>
                </a:solidFill>
                <a:latin typeface="Microsoft JhengHei UI" pitchFamily="34" charset="0"/>
                <a:ea typeface="Microsoft JhengHei UI" pitchFamily="34" charset="-122"/>
                <a:cs typeface="Microsoft JhengHei UI" pitchFamily="34" charset="-120"/>
              </a:rPr>
              <a:t>Learn</a:t>
            </a:r>
            <a:endParaRPr lang="en-US" sz="2200" dirty="0"/>
          </a:p>
        </p:txBody>
      </p:sp>
      <p:sp>
        <p:nvSpPr>
          <p:cNvPr id="30" name="Text 28"/>
          <p:cNvSpPr/>
          <p:nvPr/>
        </p:nvSpPr>
        <p:spPr>
          <a:xfrm>
            <a:off x="9875520" y="3246120"/>
            <a:ext cx="18288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475569"/>
                </a:solidFill>
                <a:latin typeface="Microsoft JhengHei UI" pitchFamily="34" charset="0"/>
                <a:ea typeface="Microsoft JhengHei UI" pitchFamily="34" charset="-122"/>
                <a:cs typeface="Microsoft JhengHei UI" pitchFamily="34" charset="-120"/>
              </a:rPr>
              <a:t>學習</a:t>
            </a:r>
            <a:endParaRPr lang="en-US" sz="1400" dirty="0"/>
          </a:p>
        </p:txBody>
      </p:sp>
      <p:sp>
        <p:nvSpPr>
          <p:cNvPr id="31" name="Shape 29"/>
          <p:cNvSpPr/>
          <p:nvPr/>
        </p:nvSpPr>
        <p:spPr>
          <a:xfrm>
            <a:off x="9144000" y="3840480"/>
            <a:ext cx="2560320" cy="2011680"/>
          </a:xfrm>
          <a:prstGeom prst="rect">
            <a:avLst/>
          </a:prstGeom>
          <a:solidFill>
            <a:srgbClr val="F1F5F9"/>
          </a:solidFill>
          <a:ln w="12700">
            <a:solidFill>
              <a:srgbClr val="CADCFC"/>
            </a:solidFill>
            <a:prstDash val="solid"/>
          </a:ln>
        </p:spPr>
      </p:sp>
      <p:sp>
        <p:nvSpPr>
          <p:cNvPr id="32" name="Shape 30"/>
          <p:cNvSpPr/>
          <p:nvPr/>
        </p:nvSpPr>
        <p:spPr>
          <a:xfrm>
            <a:off x="9144000" y="3840480"/>
            <a:ext cx="2560320" cy="109728"/>
          </a:xfrm>
          <a:prstGeom prst="rect">
            <a:avLst/>
          </a:prstGeom>
          <a:solidFill>
            <a:srgbClr val="10B981"/>
          </a:solidFill>
          <a:ln/>
        </p:spPr>
      </p:sp>
      <p:sp>
        <p:nvSpPr>
          <p:cNvPr id="33" name="Text 31"/>
          <p:cNvSpPr/>
          <p:nvPr/>
        </p:nvSpPr>
        <p:spPr>
          <a:xfrm>
            <a:off x="9326880" y="4114800"/>
            <a:ext cx="2194560" cy="16459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475569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Decision Impact 量化效益 + Leader 排行</a:t>
            </a:r>
            <a:endParaRPr lang="en-US" sz="1300" dirty="0"/>
          </a:p>
        </p:txBody>
      </p:sp>
      <p:sp>
        <p:nvSpPr>
          <p:cNvPr id="34" name="Text 32"/>
          <p:cNvSpPr/>
          <p:nvPr/>
        </p:nvSpPr>
        <p:spPr>
          <a:xfrm>
            <a:off x="457200" y="6126480"/>
            <a:ext cx="109728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i="1" dirty="0">
                <a:solidFill>
                  <a:srgbClr val="1E2761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下次做決策時 → 系統用過去的 Impact 推薦類似類型 → 自我強化的決策智慧</a:t>
            </a:r>
            <a:endParaRPr lang="en-US" sz="1400" dirty="0"/>
          </a:p>
        </p:txBody>
      </p:sp>
      <p:sp>
        <p:nvSpPr>
          <p:cNvPr id="35" name="Shape 33"/>
          <p:cNvSpPr/>
          <p:nvPr/>
        </p:nvSpPr>
        <p:spPr>
          <a:xfrm>
            <a:off x="457200" y="6537960"/>
            <a:ext cx="11247120" cy="0"/>
          </a:xfrm>
          <a:prstGeom prst="line">
            <a:avLst/>
          </a:prstGeom>
          <a:noFill/>
          <a:ln w="9525">
            <a:solidFill>
              <a:srgbClr val="CADCFC"/>
            </a:solidFill>
            <a:prstDash val="solid"/>
          </a:ln>
        </p:spPr>
      </p:sp>
      <p:sp>
        <p:nvSpPr>
          <p:cNvPr id="36" name="Text 34"/>
          <p:cNvSpPr/>
          <p:nvPr/>
        </p:nvSpPr>
        <p:spPr>
          <a:xfrm>
            <a:off x="457200" y="6583680"/>
            <a:ext cx="54864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94A3B8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串連系統 v2.2 · Chuanlien System</a:t>
            </a:r>
            <a:endParaRPr lang="en-US" sz="900" dirty="0"/>
          </a:p>
        </p:txBody>
      </p:sp>
      <p:sp>
        <p:nvSpPr>
          <p:cNvPr id="37" name="Text 35"/>
          <p:cNvSpPr/>
          <p:nvPr/>
        </p:nvSpPr>
        <p:spPr>
          <a:xfrm>
            <a:off x="10789920" y="6583680"/>
            <a:ext cx="9144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94A3B8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11 / 14</a:t>
            </a:r>
            <a:endParaRPr lang="en-US" sz="9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457200"/>
            <a:ext cx="548640" cy="320040"/>
          </a:xfrm>
          <a:prstGeom prst="rect">
            <a:avLst/>
          </a:prstGeom>
          <a:solidFill>
            <a:srgbClr val="1E2761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457200"/>
            <a:ext cx="5486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Microsoft JhengHei UI" pitchFamily="34" charset="0"/>
                <a:ea typeface="Microsoft JhengHei UI" pitchFamily="34" charset="-122"/>
                <a:cs typeface="Microsoft JhengHei UI" pitchFamily="34" charset="-120"/>
              </a:rPr>
              <a:t>11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1188720" y="457200"/>
            <a:ext cx="100584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spc="400" kern="0" dirty="0">
                <a:solidFill>
                  <a:srgbClr val="94A3B8"/>
                </a:solidFill>
                <a:latin typeface="Microsoft JhengHei UI" pitchFamily="34" charset="0"/>
                <a:ea typeface="Microsoft JhengHei UI" pitchFamily="34" charset="-122"/>
                <a:cs typeface="Microsoft JhengHei UI" pitchFamily="34" charset="-120"/>
              </a:rPr>
              <a:t>工程品質</a:t>
            </a:r>
            <a:endParaRPr lang="en-US" sz="1400" dirty="0"/>
          </a:p>
        </p:txBody>
      </p:sp>
      <p:sp>
        <p:nvSpPr>
          <p:cNvPr id="5" name="Text 3"/>
          <p:cNvSpPr/>
          <p:nvPr/>
        </p:nvSpPr>
        <p:spPr>
          <a:xfrm>
            <a:off x="457200" y="914400"/>
            <a:ext cx="1097280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4200" b="1" dirty="0">
                <a:solidFill>
                  <a:srgbClr val="1E2761"/>
                </a:solidFill>
                <a:latin typeface="Microsoft JhengHei UI" pitchFamily="34" charset="0"/>
                <a:ea typeface="Microsoft JhengHei UI" pitchFamily="34" charset="-122"/>
                <a:cs typeface="Microsoft JhengHei UI" pitchFamily="34" charset="-120"/>
              </a:rPr>
              <a:t>12 件 Bug 修復記錄</a:t>
            </a:r>
            <a:endParaRPr lang="en-US" sz="4200" dirty="0"/>
          </a:p>
        </p:txBody>
      </p:sp>
      <p:sp>
        <p:nvSpPr>
          <p:cNvPr id="6" name="Text 4"/>
          <p:cNvSpPr/>
          <p:nvPr/>
        </p:nvSpPr>
        <p:spPr>
          <a:xfrm>
            <a:off x="457200" y="1828800"/>
            <a:ext cx="109728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475569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v2.0 → v2.2，跨頁面數據一致性、邊界保護、設計優化</a:t>
            </a:r>
            <a:endParaRPr lang="en-US" sz="1600" dirty="0"/>
          </a:p>
        </p:txBody>
      </p:sp>
      <p:sp>
        <p:nvSpPr>
          <p:cNvPr id="7" name="Shape 5"/>
          <p:cNvSpPr/>
          <p:nvPr/>
        </p:nvSpPr>
        <p:spPr>
          <a:xfrm>
            <a:off x="548640" y="2468880"/>
            <a:ext cx="3657600" cy="2286000"/>
          </a:xfrm>
          <a:prstGeom prst="rect">
            <a:avLst/>
          </a:prstGeom>
          <a:solidFill>
            <a:srgbClr val="F1F5F9"/>
          </a:solidFill>
          <a:ln w="12700">
            <a:solidFill>
              <a:srgbClr val="CADCFC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548640" y="2468880"/>
            <a:ext cx="3657600" cy="109728"/>
          </a:xfrm>
          <a:prstGeom prst="rect">
            <a:avLst/>
          </a:prstGeom>
          <a:solidFill>
            <a:srgbClr val="1E2761"/>
          </a:solidFill>
          <a:ln/>
        </p:spPr>
      </p:sp>
      <p:sp>
        <p:nvSpPr>
          <p:cNvPr id="9" name="Text 7"/>
          <p:cNvSpPr/>
          <p:nvPr/>
        </p:nvSpPr>
        <p:spPr>
          <a:xfrm>
            <a:off x="731520" y="2743200"/>
            <a:ext cx="182880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600" b="1" dirty="0">
                <a:solidFill>
                  <a:srgbClr val="1E2761"/>
                </a:solidFill>
                <a:latin typeface="Microsoft JhengHei UI" pitchFamily="34" charset="0"/>
                <a:ea typeface="Microsoft JhengHei UI" pitchFamily="34" charset="-122"/>
                <a:cs typeface="Microsoft JhengHei UI" pitchFamily="34" charset="-120"/>
              </a:rPr>
              <a:t>9</a:t>
            </a:r>
            <a:endParaRPr lang="en-US" sz="9600" dirty="0"/>
          </a:p>
        </p:txBody>
      </p:sp>
      <p:sp>
        <p:nvSpPr>
          <p:cNvPr id="10" name="Text 8"/>
          <p:cNvSpPr/>
          <p:nvPr/>
        </p:nvSpPr>
        <p:spPr>
          <a:xfrm>
            <a:off x="731520" y="4114800"/>
            <a:ext cx="32918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E2761"/>
                </a:solidFill>
                <a:latin typeface="Microsoft JhengHei UI" pitchFamily="34" charset="0"/>
                <a:ea typeface="Microsoft JhengHei UI" pitchFamily="34" charset="-122"/>
                <a:cs typeface="Microsoft JhengHei UI" pitchFamily="34" charset="-120"/>
              </a:rPr>
              <a:t>v2.1 系統性修復</a:t>
            </a:r>
            <a:endParaRPr lang="en-US" sz="1400" dirty="0"/>
          </a:p>
        </p:txBody>
      </p:sp>
      <p:sp>
        <p:nvSpPr>
          <p:cNvPr id="11" name="Text 9"/>
          <p:cNvSpPr/>
          <p:nvPr/>
        </p:nvSpPr>
        <p:spPr>
          <a:xfrm>
            <a:off x="731520" y="4434840"/>
            <a:ext cx="32918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475569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跨頁面數據一致性</a:t>
            </a:r>
            <a:endParaRPr lang="en-US" sz="1100" dirty="0"/>
          </a:p>
        </p:txBody>
      </p:sp>
      <p:sp>
        <p:nvSpPr>
          <p:cNvPr id="12" name="Shape 10"/>
          <p:cNvSpPr/>
          <p:nvPr/>
        </p:nvSpPr>
        <p:spPr>
          <a:xfrm>
            <a:off x="4343400" y="2468880"/>
            <a:ext cx="3657600" cy="2286000"/>
          </a:xfrm>
          <a:prstGeom prst="rect">
            <a:avLst/>
          </a:prstGeom>
          <a:solidFill>
            <a:srgbClr val="F1F5F9"/>
          </a:solidFill>
          <a:ln w="12700">
            <a:solidFill>
              <a:srgbClr val="CADCFC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4343400" y="2468880"/>
            <a:ext cx="3657600" cy="109728"/>
          </a:xfrm>
          <a:prstGeom prst="rect">
            <a:avLst/>
          </a:prstGeom>
          <a:solidFill>
            <a:srgbClr val="F96167"/>
          </a:solidFill>
          <a:ln/>
        </p:spPr>
      </p:sp>
      <p:sp>
        <p:nvSpPr>
          <p:cNvPr id="14" name="Text 12"/>
          <p:cNvSpPr/>
          <p:nvPr/>
        </p:nvSpPr>
        <p:spPr>
          <a:xfrm>
            <a:off x="4526280" y="2743200"/>
            <a:ext cx="182880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600" b="1" dirty="0">
                <a:solidFill>
                  <a:srgbClr val="F96167"/>
                </a:solidFill>
                <a:latin typeface="Microsoft JhengHei UI" pitchFamily="34" charset="0"/>
                <a:ea typeface="Microsoft JhengHei UI" pitchFamily="34" charset="-122"/>
                <a:cs typeface="Microsoft JhengHei UI" pitchFamily="34" charset="-120"/>
              </a:rPr>
              <a:t>3</a:t>
            </a:r>
            <a:endParaRPr lang="en-US" sz="9600" dirty="0"/>
          </a:p>
        </p:txBody>
      </p:sp>
      <p:sp>
        <p:nvSpPr>
          <p:cNvPr id="15" name="Text 13"/>
          <p:cNvSpPr/>
          <p:nvPr/>
        </p:nvSpPr>
        <p:spPr>
          <a:xfrm>
            <a:off x="4526280" y="4114800"/>
            <a:ext cx="32918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E2761"/>
                </a:solidFill>
                <a:latin typeface="Microsoft JhengHei UI" pitchFamily="34" charset="0"/>
                <a:ea typeface="Microsoft JhengHei UI" pitchFamily="34" charset="-122"/>
                <a:cs typeface="Microsoft JhengHei UI" pitchFamily="34" charset="-120"/>
              </a:rPr>
              <a:t>v2.2 進階修復</a:t>
            </a:r>
            <a:endParaRPr lang="en-US" sz="1400" dirty="0"/>
          </a:p>
        </p:txBody>
      </p:sp>
      <p:sp>
        <p:nvSpPr>
          <p:cNvPr id="16" name="Text 14"/>
          <p:cNvSpPr/>
          <p:nvPr/>
        </p:nvSpPr>
        <p:spPr>
          <a:xfrm>
            <a:off x="4526280" y="4434840"/>
            <a:ext cx="32918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475569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Cohort + asOf + Deferred</a:t>
            </a:r>
            <a:endParaRPr lang="en-US" sz="1100" dirty="0"/>
          </a:p>
        </p:txBody>
      </p:sp>
      <p:sp>
        <p:nvSpPr>
          <p:cNvPr id="17" name="Shape 15"/>
          <p:cNvSpPr/>
          <p:nvPr/>
        </p:nvSpPr>
        <p:spPr>
          <a:xfrm>
            <a:off x="8138160" y="2468880"/>
            <a:ext cx="3657600" cy="2286000"/>
          </a:xfrm>
          <a:prstGeom prst="rect">
            <a:avLst/>
          </a:prstGeom>
          <a:solidFill>
            <a:srgbClr val="F1F5F9"/>
          </a:solidFill>
          <a:ln w="12700">
            <a:solidFill>
              <a:srgbClr val="CADCFC"/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8138160" y="2468880"/>
            <a:ext cx="3657600" cy="109728"/>
          </a:xfrm>
          <a:prstGeom prst="rect">
            <a:avLst/>
          </a:prstGeom>
          <a:solidFill>
            <a:srgbClr val="10B981"/>
          </a:solidFill>
          <a:ln/>
        </p:spPr>
      </p:sp>
      <p:sp>
        <p:nvSpPr>
          <p:cNvPr id="19" name="Text 17"/>
          <p:cNvSpPr/>
          <p:nvPr/>
        </p:nvSpPr>
        <p:spPr>
          <a:xfrm>
            <a:off x="8321040" y="2743200"/>
            <a:ext cx="182880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600" b="1" dirty="0">
                <a:solidFill>
                  <a:srgbClr val="10B981"/>
                </a:solidFill>
                <a:latin typeface="Microsoft JhengHei UI" pitchFamily="34" charset="0"/>
                <a:ea typeface="Microsoft JhengHei UI" pitchFamily="34" charset="-122"/>
                <a:cs typeface="Microsoft JhengHei UI" pitchFamily="34" charset="-120"/>
              </a:rPr>
              <a:t>0</a:t>
            </a:r>
            <a:endParaRPr lang="en-US" sz="9600" dirty="0"/>
          </a:p>
        </p:txBody>
      </p:sp>
      <p:sp>
        <p:nvSpPr>
          <p:cNvPr id="20" name="Text 18"/>
          <p:cNvSpPr/>
          <p:nvPr/>
        </p:nvSpPr>
        <p:spPr>
          <a:xfrm>
            <a:off x="8321040" y="4114800"/>
            <a:ext cx="32918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E2761"/>
                </a:solidFill>
                <a:latin typeface="Microsoft JhengHei UI" pitchFamily="34" charset="0"/>
                <a:ea typeface="Microsoft JhengHei UI" pitchFamily="34" charset="-122"/>
                <a:cs typeface="Microsoft JhengHei UI" pitchFamily="34" charset="-120"/>
              </a:rPr>
              <a:t>目前剩餘 bug</a:t>
            </a:r>
            <a:endParaRPr lang="en-US" sz="1400" dirty="0"/>
          </a:p>
        </p:txBody>
      </p:sp>
      <p:sp>
        <p:nvSpPr>
          <p:cNvPr id="21" name="Text 19"/>
          <p:cNvSpPr/>
          <p:nvPr/>
        </p:nvSpPr>
        <p:spPr>
          <a:xfrm>
            <a:off x="8321040" y="4434840"/>
            <a:ext cx="32918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475569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全部解掉 ✓</a:t>
            </a:r>
            <a:endParaRPr lang="en-US" sz="1100" dirty="0"/>
          </a:p>
        </p:txBody>
      </p:sp>
      <p:sp>
        <p:nvSpPr>
          <p:cNvPr id="22" name="Text 20"/>
          <p:cNvSpPr/>
          <p:nvPr/>
        </p:nvSpPr>
        <p:spPr>
          <a:xfrm>
            <a:off x="548640" y="5029200"/>
            <a:ext cx="3657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E2761"/>
                </a:solidFill>
                <a:latin typeface="Microsoft JhengHei UI" pitchFamily="34" charset="0"/>
                <a:ea typeface="Microsoft JhengHei UI" pitchFamily="34" charset="-122"/>
                <a:cs typeface="Microsoft JhengHei UI" pitchFamily="34" charset="-120"/>
              </a:rPr>
              <a:t>關鍵修復</a:t>
            </a:r>
            <a:endParaRPr lang="en-US" sz="1400" dirty="0"/>
          </a:p>
        </p:txBody>
      </p:sp>
      <p:sp>
        <p:nvSpPr>
          <p:cNvPr id="23" name="Text 21"/>
          <p:cNvSpPr/>
          <p:nvPr/>
        </p:nvSpPr>
        <p:spPr>
          <a:xfrm>
            <a:off x="548640" y="5440680"/>
            <a:ext cx="110642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475569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B5 ★ analyzeBlockerRecord 接受 asOf 參數，歷史快照才會準確</a:t>
            </a:r>
            <a:endParaRPr lang="en-US" sz="1200" dirty="0"/>
          </a:p>
        </p:txBody>
      </p:sp>
      <p:sp>
        <p:nvSpPr>
          <p:cNvPr id="24" name="Text 22"/>
          <p:cNvSpPr/>
          <p:nvPr/>
        </p:nvSpPr>
        <p:spPr>
          <a:xfrm>
            <a:off x="548640" y="5760720"/>
            <a:ext cx="110642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475569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B2 ★ 統一逾期判定邏輯，所有頁面用同一個 helper 函式</a:t>
            </a:r>
            <a:endParaRPr lang="en-US" sz="1200" dirty="0"/>
          </a:p>
        </p:txBody>
      </p:sp>
      <p:sp>
        <p:nvSpPr>
          <p:cNvPr id="25" name="Text 23"/>
          <p:cNvSpPr/>
          <p:nvPr/>
        </p:nvSpPr>
        <p:spPr>
          <a:xfrm>
            <a:off x="548640" y="6080760"/>
            <a:ext cx="110642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475569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v2.2 ★ Decision Impact 加 Cohort Adjustment，告別「全部負分」</a:t>
            </a:r>
            <a:endParaRPr lang="en-US" sz="1200" dirty="0"/>
          </a:p>
        </p:txBody>
      </p:sp>
      <p:sp>
        <p:nvSpPr>
          <p:cNvPr id="26" name="Shape 24"/>
          <p:cNvSpPr/>
          <p:nvPr/>
        </p:nvSpPr>
        <p:spPr>
          <a:xfrm>
            <a:off x="457200" y="6537960"/>
            <a:ext cx="11247120" cy="0"/>
          </a:xfrm>
          <a:prstGeom prst="line">
            <a:avLst/>
          </a:prstGeom>
          <a:noFill/>
          <a:ln w="9525">
            <a:solidFill>
              <a:srgbClr val="CADCFC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457200" y="6583680"/>
            <a:ext cx="54864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94A3B8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串連系統 v2.2 · Chuanlien System</a:t>
            </a:r>
            <a:endParaRPr lang="en-US" sz="900" dirty="0"/>
          </a:p>
        </p:txBody>
      </p:sp>
      <p:sp>
        <p:nvSpPr>
          <p:cNvPr id="28" name="Text 26"/>
          <p:cNvSpPr/>
          <p:nvPr/>
        </p:nvSpPr>
        <p:spPr>
          <a:xfrm>
            <a:off x="10789920" y="6583680"/>
            <a:ext cx="9144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94A3B8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12 / 14</a:t>
            </a:r>
            <a:endParaRPr lang="en-US" sz="9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1E276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457200"/>
            <a:ext cx="548640" cy="320040"/>
          </a:xfrm>
          <a:prstGeom prst="rect">
            <a:avLst/>
          </a:prstGeom>
          <a:solidFill>
            <a:srgbClr val="F96167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457200"/>
            <a:ext cx="5486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Microsoft JhengHei UI" pitchFamily="34" charset="0"/>
                <a:ea typeface="Microsoft JhengHei UI" pitchFamily="34" charset="-122"/>
                <a:cs typeface="Microsoft JhengHei UI" pitchFamily="34" charset="-120"/>
              </a:rPr>
              <a:t>12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1188720" y="457200"/>
            <a:ext cx="100584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spc="400" kern="0" dirty="0">
                <a:solidFill>
                  <a:srgbClr val="CADCFC"/>
                </a:solidFill>
                <a:latin typeface="Microsoft JhengHei UI" pitchFamily="34" charset="0"/>
                <a:ea typeface="Microsoft JhengHei UI" pitchFamily="34" charset="-122"/>
                <a:cs typeface="Microsoft JhengHei UI" pitchFamily="34" charset="-120"/>
              </a:rPr>
              <a:t>Live Demo</a:t>
            </a:r>
            <a:endParaRPr lang="en-US" sz="1400" dirty="0"/>
          </a:p>
        </p:txBody>
      </p:sp>
      <p:sp>
        <p:nvSpPr>
          <p:cNvPr id="5" name="Text 3"/>
          <p:cNvSpPr/>
          <p:nvPr/>
        </p:nvSpPr>
        <p:spPr>
          <a:xfrm>
            <a:off x="457200" y="914400"/>
            <a:ext cx="1097280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4200" b="1" dirty="0">
                <a:solidFill>
                  <a:srgbClr val="FFFFFF"/>
                </a:solidFill>
                <a:latin typeface="Microsoft JhengHei UI" pitchFamily="34" charset="0"/>
                <a:ea typeface="Microsoft JhengHei UI" pitchFamily="34" charset="-122"/>
                <a:cs typeface="Microsoft JhengHei UI" pitchFamily="34" charset="-120"/>
              </a:rPr>
              <a:t>5 個 demo 重點</a:t>
            </a:r>
            <a:endParaRPr lang="en-US" sz="4200" dirty="0"/>
          </a:p>
        </p:txBody>
      </p:sp>
      <p:sp>
        <p:nvSpPr>
          <p:cNvPr id="6" name="Text 4"/>
          <p:cNvSpPr/>
          <p:nvPr/>
        </p:nvSpPr>
        <p:spPr>
          <a:xfrm>
            <a:off x="457200" y="1828800"/>
            <a:ext cx="109728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CADCFC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讓教授親自感受演算法的價值</a:t>
            </a:r>
            <a:endParaRPr lang="en-US" sz="1600" dirty="0"/>
          </a:p>
        </p:txBody>
      </p:sp>
      <p:sp>
        <p:nvSpPr>
          <p:cNvPr id="7" name="Shape 5"/>
          <p:cNvSpPr/>
          <p:nvPr/>
        </p:nvSpPr>
        <p:spPr>
          <a:xfrm>
            <a:off x="640080" y="2468880"/>
            <a:ext cx="640080" cy="640080"/>
          </a:xfrm>
          <a:prstGeom prst="ellipse">
            <a:avLst/>
          </a:prstGeom>
          <a:solidFill>
            <a:srgbClr val="FFC857"/>
          </a:solidFill>
          <a:ln/>
        </p:spPr>
      </p:sp>
      <p:sp>
        <p:nvSpPr>
          <p:cNvPr id="8" name="Text 6"/>
          <p:cNvSpPr/>
          <p:nvPr/>
        </p:nvSpPr>
        <p:spPr>
          <a:xfrm>
            <a:off x="640080" y="2468880"/>
            <a:ext cx="6400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1E2761"/>
                </a:solidFill>
                <a:latin typeface="Microsoft JhengHei UI" pitchFamily="34" charset="0"/>
                <a:ea typeface="Microsoft JhengHei UI" pitchFamily="34" charset="-122"/>
                <a:cs typeface="Microsoft JhengHei UI" pitchFamily="34" charset="-120"/>
              </a:rPr>
              <a:t>1</a:t>
            </a:r>
            <a:endParaRPr lang="en-US" sz="2400" dirty="0"/>
          </a:p>
        </p:txBody>
      </p:sp>
      <p:sp>
        <p:nvSpPr>
          <p:cNvPr id="9" name="Text 7"/>
          <p:cNvSpPr/>
          <p:nvPr/>
        </p:nvSpPr>
        <p:spPr>
          <a:xfrm>
            <a:off x="1463040" y="2487168"/>
            <a:ext cx="2743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Microsoft JhengHei UI" pitchFamily="34" charset="0"/>
                <a:ea typeface="Microsoft JhengHei UI" pitchFamily="34" charset="-122"/>
                <a:cs typeface="Microsoft JhengHei UI" pitchFamily="34" charset="-120"/>
              </a:rPr>
              <a:t>組織健康度雷達</a:t>
            </a:r>
            <a:endParaRPr lang="en-US" sz="1800" dirty="0"/>
          </a:p>
        </p:txBody>
      </p:sp>
      <p:sp>
        <p:nvSpPr>
          <p:cNvPr id="10" name="Text 8"/>
          <p:cNvSpPr/>
          <p:nvPr/>
        </p:nvSpPr>
        <p:spPr>
          <a:xfrm>
            <a:off x="4389120" y="2560320"/>
            <a:ext cx="73152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CADCFC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Dashboard → 滾到組織健康度卡片 → 點 12 週趨勢線的拐點 → 看當週事件</a:t>
            </a:r>
            <a:endParaRPr lang="en-US" sz="1300" dirty="0"/>
          </a:p>
        </p:txBody>
      </p:sp>
      <p:sp>
        <p:nvSpPr>
          <p:cNvPr id="11" name="Shape 9"/>
          <p:cNvSpPr/>
          <p:nvPr/>
        </p:nvSpPr>
        <p:spPr>
          <a:xfrm>
            <a:off x="640080" y="3200400"/>
            <a:ext cx="640080" cy="640080"/>
          </a:xfrm>
          <a:prstGeom prst="ellipse">
            <a:avLst/>
          </a:prstGeom>
          <a:solidFill>
            <a:srgbClr val="FFC857"/>
          </a:solidFill>
          <a:ln/>
        </p:spPr>
      </p:sp>
      <p:sp>
        <p:nvSpPr>
          <p:cNvPr id="12" name="Text 10"/>
          <p:cNvSpPr/>
          <p:nvPr/>
        </p:nvSpPr>
        <p:spPr>
          <a:xfrm>
            <a:off x="640080" y="3200400"/>
            <a:ext cx="6400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1E2761"/>
                </a:solidFill>
                <a:latin typeface="Microsoft JhengHei UI" pitchFamily="34" charset="0"/>
                <a:ea typeface="Microsoft JhengHei UI" pitchFamily="34" charset="-122"/>
                <a:cs typeface="Microsoft JhengHei UI" pitchFamily="34" charset="-120"/>
              </a:rPr>
              <a:t>2</a:t>
            </a:r>
            <a:endParaRPr lang="en-US" sz="2400" dirty="0"/>
          </a:p>
        </p:txBody>
      </p:sp>
      <p:sp>
        <p:nvSpPr>
          <p:cNvPr id="13" name="Text 11"/>
          <p:cNvSpPr/>
          <p:nvPr/>
        </p:nvSpPr>
        <p:spPr>
          <a:xfrm>
            <a:off x="1463040" y="3218688"/>
            <a:ext cx="2743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Microsoft JhengHei UI" pitchFamily="34" charset="0"/>
                <a:ea typeface="Microsoft JhengHei UI" pitchFamily="34" charset="-122"/>
                <a:cs typeface="Microsoft JhengHei UI" pitchFamily="34" charset="-120"/>
              </a:rPr>
              <a:t>智能案件推薦</a:t>
            </a:r>
            <a:endParaRPr lang="en-US" sz="1800" dirty="0"/>
          </a:p>
        </p:txBody>
      </p:sp>
      <p:sp>
        <p:nvSpPr>
          <p:cNvPr id="14" name="Text 12"/>
          <p:cNvSpPr/>
          <p:nvPr/>
        </p:nvSpPr>
        <p:spPr>
          <a:xfrm>
            <a:off x="4389120" y="3291840"/>
            <a:ext cx="73152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CADCFC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卡點分析 → 點田宮電機 → 滾到底部紫色推薦區 → 點過去類似案</a:t>
            </a:r>
            <a:endParaRPr lang="en-US" sz="1300" dirty="0"/>
          </a:p>
        </p:txBody>
      </p:sp>
      <p:sp>
        <p:nvSpPr>
          <p:cNvPr id="15" name="Shape 13"/>
          <p:cNvSpPr/>
          <p:nvPr/>
        </p:nvSpPr>
        <p:spPr>
          <a:xfrm>
            <a:off x="640080" y="3931920"/>
            <a:ext cx="640080" cy="640080"/>
          </a:xfrm>
          <a:prstGeom prst="ellipse">
            <a:avLst/>
          </a:prstGeom>
          <a:solidFill>
            <a:srgbClr val="F96167"/>
          </a:solidFill>
          <a:ln/>
        </p:spPr>
      </p:sp>
      <p:sp>
        <p:nvSpPr>
          <p:cNvPr id="16" name="Text 14"/>
          <p:cNvSpPr/>
          <p:nvPr/>
        </p:nvSpPr>
        <p:spPr>
          <a:xfrm>
            <a:off x="640080" y="3931920"/>
            <a:ext cx="6400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1E2761"/>
                </a:solidFill>
                <a:latin typeface="Microsoft JhengHei UI" pitchFamily="34" charset="0"/>
                <a:ea typeface="Microsoft JhengHei UI" pitchFamily="34" charset="-122"/>
                <a:cs typeface="Microsoft JhengHei UI" pitchFamily="34" charset="-120"/>
              </a:rPr>
              <a:t>3</a:t>
            </a:r>
            <a:endParaRPr lang="en-US" sz="2400" dirty="0"/>
          </a:p>
        </p:txBody>
      </p:sp>
      <p:sp>
        <p:nvSpPr>
          <p:cNvPr id="17" name="Text 15"/>
          <p:cNvSpPr/>
          <p:nvPr/>
        </p:nvSpPr>
        <p:spPr>
          <a:xfrm>
            <a:off x="1463040" y="3950208"/>
            <a:ext cx="2743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Microsoft JhengHei UI" pitchFamily="34" charset="0"/>
                <a:ea typeface="Microsoft JhengHei UI" pitchFamily="34" charset="-122"/>
                <a:cs typeface="Microsoft JhengHei UI" pitchFamily="34" charset="-120"/>
              </a:rPr>
              <a:t>What-if 模擬</a:t>
            </a:r>
            <a:endParaRPr lang="en-US" sz="1800" dirty="0"/>
          </a:p>
        </p:txBody>
      </p:sp>
      <p:sp>
        <p:nvSpPr>
          <p:cNvPr id="18" name="Text 16"/>
          <p:cNvSpPr/>
          <p:nvPr/>
        </p:nvSpPr>
        <p:spPr>
          <a:xfrm>
            <a:off x="4389120" y="4023360"/>
            <a:ext cx="73152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CADCFC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What-if 決策模擬 → 勾「解掉田宮電機」 → 看右側雷達從現況到模擬後變化</a:t>
            </a:r>
            <a:endParaRPr lang="en-US" sz="1300" dirty="0"/>
          </a:p>
        </p:txBody>
      </p:sp>
      <p:sp>
        <p:nvSpPr>
          <p:cNvPr id="19" name="Shape 17"/>
          <p:cNvSpPr/>
          <p:nvPr/>
        </p:nvSpPr>
        <p:spPr>
          <a:xfrm>
            <a:off x="640080" y="4663440"/>
            <a:ext cx="640080" cy="640080"/>
          </a:xfrm>
          <a:prstGeom prst="ellipse">
            <a:avLst/>
          </a:prstGeom>
          <a:solidFill>
            <a:srgbClr val="FFC857"/>
          </a:solidFill>
          <a:ln/>
        </p:spPr>
      </p:sp>
      <p:sp>
        <p:nvSpPr>
          <p:cNvPr id="20" name="Text 18"/>
          <p:cNvSpPr/>
          <p:nvPr/>
        </p:nvSpPr>
        <p:spPr>
          <a:xfrm>
            <a:off x="640080" y="4663440"/>
            <a:ext cx="6400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1E2761"/>
                </a:solidFill>
                <a:latin typeface="Microsoft JhengHei UI" pitchFamily="34" charset="0"/>
                <a:ea typeface="Microsoft JhengHei UI" pitchFamily="34" charset="-122"/>
                <a:cs typeface="Microsoft JhengHei UI" pitchFamily="34" charset="-120"/>
              </a:rPr>
              <a:t>4</a:t>
            </a:r>
            <a:endParaRPr lang="en-US" sz="2400" dirty="0"/>
          </a:p>
        </p:txBody>
      </p:sp>
      <p:sp>
        <p:nvSpPr>
          <p:cNvPr id="21" name="Text 19"/>
          <p:cNvSpPr/>
          <p:nvPr/>
        </p:nvSpPr>
        <p:spPr>
          <a:xfrm>
            <a:off x="1463040" y="4681728"/>
            <a:ext cx="2743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Microsoft JhengHei UI" pitchFamily="34" charset="0"/>
                <a:ea typeface="Microsoft JhengHei UI" pitchFamily="34" charset="-122"/>
                <a:cs typeface="Microsoft JhengHei UI" pitchFamily="34" charset="-120"/>
              </a:rPr>
              <a:t>歷史搜尋 BM25F</a:t>
            </a:r>
            <a:endParaRPr lang="en-US" sz="1800" dirty="0"/>
          </a:p>
        </p:txBody>
      </p:sp>
      <p:sp>
        <p:nvSpPr>
          <p:cNvPr id="22" name="Text 20"/>
          <p:cNvSpPr/>
          <p:nvPr/>
        </p:nvSpPr>
        <p:spPr>
          <a:xfrm>
            <a:off x="4389120" y="4754880"/>
            <a:ext cx="73152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CADCFC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歷史搜尋 → 輸入「東京中央銀行」→ 看到精準排序</a:t>
            </a:r>
            <a:endParaRPr lang="en-US" sz="1300" dirty="0"/>
          </a:p>
        </p:txBody>
      </p:sp>
      <p:sp>
        <p:nvSpPr>
          <p:cNvPr id="23" name="Shape 21"/>
          <p:cNvSpPr/>
          <p:nvPr/>
        </p:nvSpPr>
        <p:spPr>
          <a:xfrm>
            <a:off x="640080" y="5394960"/>
            <a:ext cx="640080" cy="640080"/>
          </a:xfrm>
          <a:prstGeom prst="ellipse">
            <a:avLst/>
          </a:prstGeom>
          <a:solidFill>
            <a:srgbClr val="FFC857"/>
          </a:solidFill>
          <a:ln/>
        </p:spPr>
      </p:sp>
      <p:sp>
        <p:nvSpPr>
          <p:cNvPr id="24" name="Text 22"/>
          <p:cNvSpPr/>
          <p:nvPr/>
        </p:nvSpPr>
        <p:spPr>
          <a:xfrm>
            <a:off x="640080" y="5394960"/>
            <a:ext cx="6400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1E2761"/>
                </a:solidFill>
                <a:latin typeface="Microsoft JhengHei UI" pitchFamily="34" charset="0"/>
                <a:ea typeface="Microsoft JhengHei UI" pitchFamily="34" charset="-122"/>
                <a:cs typeface="Microsoft JhengHei UI" pitchFamily="34" charset="-120"/>
              </a:rPr>
              <a:t>5</a:t>
            </a:r>
            <a:endParaRPr lang="en-US" sz="2400" dirty="0"/>
          </a:p>
        </p:txBody>
      </p:sp>
      <p:sp>
        <p:nvSpPr>
          <p:cNvPr id="25" name="Text 23"/>
          <p:cNvSpPr/>
          <p:nvPr/>
        </p:nvSpPr>
        <p:spPr>
          <a:xfrm>
            <a:off x="1463040" y="5413248"/>
            <a:ext cx="2743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Microsoft JhengHei UI" pitchFamily="34" charset="0"/>
                <a:ea typeface="Microsoft JhengHei UI" pitchFamily="34" charset="-122"/>
                <a:cs typeface="Microsoft JhengHei UI" pitchFamily="34" charset="-120"/>
              </a:rPr>
              <a:t>員工負載週次切換</a:t>
            </a:r>
            <a:endParaRPr lang="en-US" sz="1800" dirty="0"/>
          </a:p>
        </p:txBody>
      </p:sp>
      <p:sp>
        <p:nvSpPr>
          <p:cNvPr id="26" name="Text 24"/>
          <p:cNvSpPr/>
          <p:nvPr/>
        </p:nvSpPr>
        <p:spPr>
          <a:xfrm>
            <a:off x="4389120" y="5486400"/>
            <a:ext cx="73152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CADCFC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員工負載 → 切到「5 週前」→ 看過載員工名單會變</a:t>
            </a:r>
            <a:endParaRPr lang="en-US" sz="1300" dirty="0"/>
          </a:p>
        </p:txBody>
      </p:sp>
      <p:sp>
        <p:nvSpPr>
          <p:cNvPr id="27" name="Shape 25"/>
          <p:cNvSpPr/>
          <p:nvPr/>
        </p:nvSpPr>
        <p:spPr>
          <a:xfrm>
            <a:off x="457200" y="6537960"/>
            <a:ext cx="11247120" cy="0"/>
          </a:xfrm>
          <a:prstGeom prst="line">
            <a:avLst/>
          </a:prstGeom>
          <a:noFill/>
          <a:ln w="9525">
            <a:solidFill>
              <a:srgbClr val="CADCFC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457200" y="6583680"/>
            <a:ext cx="54864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94A3B8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串連系統 v2.2 · Chuanlien System</a:t>
            </a:r>
            <a:endParaRPr lang="en-US" sz="900" dirty="0"/>
          </a:p>
        </p:txBody>
      </p:sp>
      <p:sp>
        <p:nvSpPr>
          <p:cNvPr id="29" name="Text 27"/>
          <p:cNvSpPr/>
          <p:nvPr/>
        </p:nvSpPr>
        <p:spPr>
          <a:xfrm>
            <a:off x="10789920" y="6583680"/>
            <a:ext cx="9144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94A3B8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13 / 14</a:t>
            </a:r>
            <a:endParaRPr lang="en-US" sz="90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1E276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61520" cy="1371600"/>
          </a:xfrm>
          <a:prstGeom prst="rect">
            <a:avLst/>
          </a:prstGeom>
          <a:solidFill>
            <a:srgbClr val="F96167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274320"/>
            <a:ext cx="1097280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5600" b="1" dirty="0">
                <a:solidFill>
                  <a:srgbClr val="FFFFFF"/>
                </a:solidFill>
                <a:latin typeface="Microsoft JhengHei UI" pitchFamily="34" charset="0"/>
                <a:ea typeface="Microsoft JhengHei UI" pitchFamily="34" charset="-122"/>
                <a:cs typeface="Microsoft JhengHei UI" pitchFamily="34" charset="-120"/>
              </a:rPr>
              <a:t>謝謝聆聽</a:t>
            </a:r>
            <a:endParaRPr lang="en-US" sz="5600" dirty="0"/>
          </a:p>
        </p:txBody>
      </p:sp>
      <p:sp>
        <p:nvSpPr>
          <p:cNvPr id="4" name="Text 2"/>
          <p:cNvSpPr/>
          <p:nvPr/>
        </p:nvSpPr>
        <p:spPr>
          <a:xfrm>
            <a:off x="548640" y="1828800"/>
            <a:ext cx="54864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FFC857"/>
                </a:solidFill>
                <a:latin typeface="Microsoft JhengHei UI" pitchFamily="34" charset="0"/>
                <a:ea typeface="Microsoft JhengHei UI" pitchFamily="34" charset="-122"/>
                <a:cs typeface="Microsoft JhengHei UI" pitchFamily="34" charset="-120"/>
              </a:rPr>
              <a:t>3 條設計哲學</a:t>
            </a:r>
            <a:endParaRPr lang="en-US" sz="2000" dirty="0"/>
          </a:p>
        </p:txBody>
      </p:sp>
      <p:sp>
        <p:nvSpPr>
          <p:cNvPr id="5" name="Text 3"/>
          <p:cNvSpPr/>
          <p:nvPr/>
        </p:nvSpPr>
        <p:spPr>
          <a:xfrm>
            <a:off x="548640" y="2468880"/>
            <a:ext cx="109728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i="1" dirty="0">
                <a:solidFill>
                  <a:srgbClr val="FFFFFF"/>
                </a:solidFill>
                <a:latin typeface="Microsoft JhengHei UI" pitchFamily="34" charset="0"/>
                <a:ea typeface="Microsoft JhengHei UI" pitchFamily="34" charset="-122"/>
                <a:cs typeface="Microsoft JhengHei UI" pitchFamily="34" charset="-120"/>
              </a:rPr>
              <a:t>「資料越少，演算法的選擇越重要。」</a:t>
            </a:r>
            <a:endParaRPr lang="en-US" sz="2200" dirty="0"/>
          </a:p>
        </p:txBody>
      </p:sp>
      <p:sp>
        <p:nvSpPr>
          <p:cNvPr id="6" name="Text 4"/>
          <p:cNvSpPr/>
          <p:nvPr/>
        </p:nvSpPr>
        <p:spPr>
          <a:xfrm>
            <a:off x="548640" y="3108960"/>
            <a:ext cx="109728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i="1" dirty="0">
                <a:solidFill>
                  <a:srgbClr val="FFFFFF"/>
                </a:solidFill>
                <a:latin typeface="Microsoft JhengHei UI" pitchFamily="34" charset="0"/>
                <a:ea typeface="Microsoft JhengHei UI" pitchFamily="34" charset="-122"/>
                <a:cs typeface="Microsoft JhengHei UI" pitchFamily="34" charset="-120"/>
              </a:rPr>
              <a:t>「跨頁面的一致性，比單頁的炫技更重要。」</a:t>
            </a:r>
            <a:endParaRPr lang="en-US" sz="2200" dirty="0"/>
          </a:p>
        </p:txBody>
      </p:sp>
      <p:sp>
        <p:nvSpPr>
          <p:cNvPr id="7" name="Text 5"/>
          <p:cNvSpPr/>
          <p:nvPr/>
        </p:nvSpPr>
        <p:spPr>
          <a:xfrm>
            <a:off x="548640" y="3749040"/>
            <a:ext cx="109728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i="1" dirty="0">
                <a:solidFill>
                  <a:srgbClr val="FFFFFF"/>
                </a:solidFill>
                <a:latin typeface="Microsoft JhengHei UI" pitchFamily="34" charset="0"/>
                <a:ea typeface="Microsoft JhengHei UI" pitchFamily="34" charset="-122"/>
                <a:cs typeface="Microsoft JhengHei UI" pitchFamily="34" charset="-120"/>
              </a:rPr>
              <a:t>「能解釋的演算法，比準確 1% 的黑盒更值錢。」</a:t>
            </a:r>
            <a:endParaRPr lang="en-US" sz="2200" dirty="0"/>
          </a:p>
        </p:txBody>
      </p:sp>
      <p:sp>
        <p:nvSpPr>
          <p:cNvPr id="8" name="Shape 6"/>
          <p:cNvSpPr/>
          <p:nvPr/>
        </p:nvSpPr>
        <p:spPr>
          <a:xfrm>
            <a:off x="548640" y="4937760"/>
            <a:ext cx="3657600" cy="0"/>
          </a:xfrm>
          <a:prstGeom prst="line">
            <a:avLst/>
          </a:prstGeom>
          <a:noFill/>
          <a:ln w="19050">
            <a:solidFill>
              <a:srgbClr val="CADCFC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548640" y="512064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spc="300" kern="0" dirty="0">
                <a:solidFill>
                  <a:srgbClr val="FFC857"/>
                </a:solidFill>
                <a:latin typeface="Microsoft JhengHei UI" pitchFamily="34" charset="0"/>
                <a:ea typeface="Microsoft JhengHei UI" pitchFamily="34" charset="-122"/>
                <a:cs typeface="Microsoft JhengHei UI" pitchFamily="34" charset="-120"/>
              </a:rPr>
              <a:t>Tech Stack</a:t>
            </a:r>
            <a:endParaRPr lang="en-US" sz="1100" dirty="0"/>
          </a:p>
        </p:txBody>
      </p:sp>
      <p:sp>
        <p:nvSpPr>
          <p:cNvPr id="10" name="Text 8"/>
          <p:cNvSpPr/>
          <p:nvPr/>
        </p:nvSpPr>
        <p:spPr>
          <a:xfrm>
            <a:off x="548640" y="5394960"/>
            <a:ext cx="5486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CADCFC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React 19 · TypeScript · Vite 6 · Tailwind v4 · Recharts · Firebase</a:t>
            </a:r>
            <a:endParaRPr lang="en-US" sz="1300" dirty="0"/>
          </a:p>
        </p:txBody>
      </p:sp>
      <p:sp>
        <p:nvSpPr>
          <p:cNvPr id="11" name="Text 9"/>
          <p:cNvSpPr/>
          <p:nvPr/>
        </p:nvSpPr>
        <p:spPr>
          <a:xfrm>
            <a:off x="6400800" y="512064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spc="300" kern="0" dirty="0">
                <a:solidFill>
                  <a:srgbClr val="FFC857"/>
                </a:solidFill>
                <a:latin typeface="Microsoft JhengHei UI" pitchFamily="34" charset="0"/>
                <a:ea typeface="Microsoft JhengHei UI" pitchFamily="34" charset="-122"/>
                <a:cs typeface="Microsoft JhengHei UI" pitchFamily="34" charset="-120"/>
              </a:rPr>
              <a:t>Algorithms</a:t>
            </a:r>
            <a:endParaRPr lang="en-US" sz="1100" dirty="0"/>
          </a:p>
        </p:txBody>
      </p:sp>
      <p:sp>
        <p:nvSpPr>
          <p:cNvPr id="12" name="Text 10"/>
          <p:cNvSpPr/>
          <p:nvPr/>
        </p:nvSpPr>
        <p:spPr>
          <a:xfrm>
            <a:off x="6400800" y="5394960"/>
            <a:ext cx="5486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CADCFC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BM25F · Gini · Empirical Percentile · Cohort Adjustment · 25 項</a:t>
            </a:r>
            <a:endParaRPr lang="en-US" sz="1300" dirty="0"/>
          </a:p>
        </p:txBody>
      </p:sp>
      <p:sp>
        <p:nvSpPr>
          <p:cNvPr id="13" name="Shape 11"/>
          <p:cNvSpPr/>
          <p:nvPr/>
        </p:nvSpPr>
        <p:spPr>
          <a:xfrm>
            <a:off x="10058400" y="5760720"/>
            <a:ext cx="1645920" cy="822960"/>
          </a:xfrm>
          <a:prstGeom prst="ellipse">
            <a:avLst/>
          </a:prstGeom>
          <a:solidFill>
            <a:srgbClr val="FFC857"/>
          </a:solidFill>
          <a:ln/>
        </p:spPr>
      </p:sp>
      <p:sp>
        <p:nvSpPr>
          <p:cNvPr id="14" name="Text 12"/>
          <p:cNvSpPr/>
          <p:nvPr/>
        </p:nvSpPr>
        <p:spPr>
          <a:xfrm>
            <a:off x="10058400" y="5760720"/>
            <a:ext cx="164592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1E2761"/>
                </a:solidFill>
                <a:latin typeface="Microsoft JhengHei UI" pitchFamily="34" charset="0"/>
                <a:ea typeface="Microsoft JhengHei UI" pitchFamily="34" charset="-122"/>
                <a:cs typeface="Microsoft JhengHei UI" pitchFamily="34" charset="-120"/>
              </a:rPr>
              <a:t>Q &amp; A</a:t>
            </a:r>
            <a:endParaRPr lang="en-US" sz="2200" dirty="0"/>
          </a:p>
        </p:txBody>
      </p:sp>
      <p:sp>
        <p:nvSpPr>
          <p:cNvPr id="15" name="Text 13"/>
          <p:cNvSpPr/>
          <p:nvPr/>
        </p:nvSpPr>
        <p:spPr>
          <a:xfrm>
            <a:off x="457200" y="6400800"/>
            <a:ext cx="8229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CADCFC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資管導論 第 13 組  ·  Chuanlien System v2.2  ·  2026-05</a:t>
            </a:r>
            <a:endParaRPr lang="en-US" sz="10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14</Slides>
  <Notes>14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14</vt:i4>
      </vt:variant>
    </vt:vector>
  </HeadingPairs>
  <TitlesOfParts>
    <vt:vector size="17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串連系統 v2.2 — 投資公司管理層決策輔助</dc:title>
  <dc:subject>PptxGenJS Presentation</dc:subject>
  <dc:creator>資管導論 第 13 組</dc:creator>
  <cp:lastModifiedBy>資管導論 第 13 組</cp:lastModifiedBy>
  <cp:revision>1</cp:revision>
  <dcterms:created xsi:type="dcterms:W3CDTF">2026-05-19T03:25:11Z</dcterms:created>
  <dcterms:modified xsi:type="dcterms:W3CDTF">2026-05-19T03:25:11Z</dcterms:modified>
</cp:coreProperties>
</file>