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資訊管理導論 · 期末專案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1C1917"/>
                </a:solidFill>
                <a:latin typeface="Microsoft JhengHei"/>
              </a:rPr>
              <a:t>串連系統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776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C1917"/>
                </a:solidFill>
                <a:latin typeface="Microsoft JhengHei"/>
              </a:rPr>
              <a:t>管理決策支援平台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846320"/>
            <a:ext cx="548640" cy="15875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074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8716C"/>
                </a:solidFill>
                <a:latin typeface="Microsoft JhengHei"/>
              </a:rPr>
              <a:t>第 13 組　|　林聿平　組員 A　組員 B　組員 C　組員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406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2026 年 5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大綱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3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80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80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C1917"/>
                </a:solidFill>
                <a:latin typeface="Microsoft JhengHei"/>
              </a:rPr>
              <a:t>問題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58087" y="3474720"/>
            <a:ext cx="100584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80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管理層看不見「正在發生什麼」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80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情緒判斷 vs 數據事實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99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6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56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C1917"/>
                </a:solidFill>
                <a:latin typeface="Microsoft JhengHei"/>
              </a:rPr>
              <a:t>系統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15687" y="3474720"/>
            <a:ext cx="100584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156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三大模組：負載 / 健康度 / 決策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25+ 演算法支撐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75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32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32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C1917"/>
                </a:solidFill>
                <a:latin typeface="Microsoft JhengHei"/>
              </a:rPr>
              <a:t>亮點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73287" y="3474720"/>
            <a:ext cx="100584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732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反推校準方法論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32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Cohort Adjustment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4709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What-if 模擬器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痛點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管理層每天面對的問題其實只有三個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3591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C1917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8529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員工負載靠主管「感覺」，沒有客觀指標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947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7307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C1917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224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卡點分散在多個系統，沒人串起來看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1023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C1917"/>
                </a:solidFill>
                <a:latin typeface="Microsoft JhengHei"/>
              </a:rPr>
              <a:t>我這個決策有效嗎？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5961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事後沒回看，下一次照樣憑直覺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解法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三個問題 → 三個模組 → 三張一眼就懂的圖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007" y="1828800"/>
            <a:ext cx="3566160" cy="45720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8007" y="1828800"/>
            <a:ext cx="356616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3767" y="25146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C1917"/>
                </a:solidFill>
                <a:latin typeface="Microsoft JhengHei"/>
              </a:rPr>
              <a:t>員工負載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32004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DC2626"/>
                </a:solidFill>
                <a:latin typeface="Microsoft JhengHei"/>
              </a:rPr>
              <a:t>→ 誰快撐不住了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767" y="37947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做什麼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411480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把分散訊號加總成一個分數，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排出真正最忙的人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767" y="48920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產出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767" y="52120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一條彩色長條圖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376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5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C1917"/>
                </a:solidFill>
                <a:latin typeface="Microsoft JhengHei"/>
              </a:rPr>
              <a:t>3 秒看完全部員工狀態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3767" y="6080760"/>
            <a:ext cx="2834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83767" y="6126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經驗百分位 + 時間衰減 + Gini 不均度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2767" y="1828800"/>
            <a:ext cx="3566160" cy="45720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2767" y="1828800"/>
            <a:ext cx="356616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8527" y="25146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C1917"/>
                </a:solidFill>
                <a:latin typeface="Microsoft JhengHei"/>
              </a:rPr>
              <a:t>組織健康度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8527" y="32004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DC2626"/>
                </a:solidFill>
                <a:latin typeface="Microsoft JhengHei"/>
              </a:rPr>
              <a:t>→ 哪裡卡住了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8527" y="37947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做什麼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8527" y="411480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六個面向同時體檢，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看哪邊凹下去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8527" y="48920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產出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78527" y="52120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雷達圖 + 待辦清單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7852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5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C1917"/>
                </a:solidFill>
                <a:latin typeface="Microsoft JhengHei"/>
              </a:rPr>
              <a:t>業績爛之前先看到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678527" y="6080760"/>
            <a:ext cx="2834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678527" y="6126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六維加權評分 + 不對稱偵測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7527" y="1828800"/>
            <a:ext cx="3566160" cy="45720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07527" y="1828800"/>
            <a:ext cx="356616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73287" y="25146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C1917"/>
                </a:solidFill>
                <a:latin typeface="Microsoft JhengHei"/>
              </a:rPr>
              <a:t>決策影響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3287" y="32004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DC2626"/>
                </a:solidFill>
                <a:latin typeface="Microsoft JhengHei"/>
              </a:rPr>
              <a:t>→ 決策有效嗎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73287" y="37947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做什麼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73287" y="411480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跟同期其他主管比，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扣掉大環境影響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3287" y="48920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產出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3287" y="52120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主管排行 + 趨勢圖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7328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5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C1917"/>
                </a:solidFill>
                <a:latin typeface="Microsoft JhengHei"/>
              </a:rPr>
              <a:t>不再被大盤冤枉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473287" y="6080760"/>
            <a:ext cx="2834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73287" y="6126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同期校準 (DiD) + 線性回歸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78716C"/>
                </a:solidFill>
                <a:latin typeface="Microsoft JhengHei"/>
              </a:rPr>
              <a:t>模組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C1917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員工負載 — 一張圖看完所有人的壓力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868680"/>
            <a:ext cx="4846320" cy="411480"/>
          </a:xfrm>
          <a:prstGeom prst="roundRect">
            <a:avLst>
              <a:gd name="adj" fmla="val 40000"/>
            </a:avLst>
          </a:prstGeom>
          <a:solidFill>
            <a:srgbClr val="F5F4EE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0" bIns="0"/>
          <a:lstStyle/>
          <a:p>
            <a:pPr algn="ctr"/>
            <a:r>
              <a:rPr sz="1000" b="1">
                <a:solidFill>
                  <a:srgbClr val="44403C"/>
                </a:solidFill>
                <a:latin typeface="Microsoft JhengHei"/>
              </a:rPr>
              <a:t>演算法　經驗百分位 + 時間衰減 + Gini 不均度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林經理：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「我們組 17 個人，到底誰最操？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我問了一圈，每個人都說自己很忙，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我也不知道是不是真的。」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❌ 主管憑感覺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30 分鐘問一輪，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每個人都說「我很忙」，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資深員工不抱怨，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新人喊得最大聲。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結果：林聿平爆掉，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主管才知道。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EF6E8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✅ 系統 3 秒回答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打開頁面就看到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一條彩色長條圖：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🟥 林聿平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🟧 蔡明遠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🟨 楊雅雯 (mid)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🟩 其他 14 人 (low)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自動跳「分佈不均」警示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半衰期 14 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Andy Grove《High Output Management》：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管理用 2 週為一個檢視週期，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兩週前的事影響力剩一半。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四訊號複合警示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不只看單一 Gini，同時判斷：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① 不均度 ② 過載人數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③ 最忙者佔比 ④ P90/P50 比率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17 員工 SEED 測試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v1：0 人過載（主管期望 2 人）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v4：2 人過載，名單跟主管直覺一致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命中率 100%。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78716C"/>
                </a:solidFill>
                <a:latin typeface="Microsoft JhengHei"/>
              </a:rPr>
              <a:t>模組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C1917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健康度 6 維 — 一張雷達圖看全公司體檢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868680"/>
            <a:ext cx="4846320" cy="411480"/>
          </a:xfrm>
          <a:prstGeom prst="roundRect">
            <a:avLst>
              <a:gd name="adj" fmla="val 40000"/>
            </a:avLst>
          </a:prstGeom>
          <a:solidFill>
            <a:srgbClr val="F5F4EE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0" bIns="0"/>
          <a:lstStyle/>
          <a:p>
            <a:pPr algn="ctr"/>
            <a:r>
              <a:rPr sz="1000" b="1">
                <a:solidFill>
                  <a:srgbClr val="44403C"/>
                </a:solidFill>
                <a:latin typeface="Microsoft JhengHei"/>
              </a:rPr>
              <a:t>演算法　六維加權評分 + 不對稱偵測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董事長：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「業績下滑了，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我想知道是哪裡出問題，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不是等財報出來才知道。」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❌ 只看業績數字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業績是「結果」，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不是「原因」。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等財報出來，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問題已經發生 3 個月。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沒辦法事前介入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EF6E8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✅ 像體檢的雷達圖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六個面向同時看：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流動性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成員健康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卡點密度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溝通對稱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決策效率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負載均衡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哪一邊凹下去 = 哪邊出事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Edmondson 哈佛教授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《The Fearless Organization》：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「溝通是否對稱」+「成員心理狀態」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是高績效團隊的關鍵。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McKinsey OHI 模型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業界公認的 9 維組織健康度量表，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我們刪掉製造業專用的 3 維，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留下適合一般公司的 6 維。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3 部門盲測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找 3 位主管不看分數先排序，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我們的系統算完排序一模一樣，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差距從原本 3% 變 14%（看得清楚了）。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78716C"/>
                </a:solidFill>
                <a:latin typeface="Microsoft JhengHei"/>
              </a:rPr>
              <a:t>模組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C1917"/>
                </a:solidFill>
                <a:latin typeface="Microsoft JhengHei"/>
              </a:rPr>
              <a:t>決策有效嗎？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Decision Impact — 不是你做爛，可能是大盤在跌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868680"/>
            <a:ext cx="4846320" cy="411480"/>
          </a:xfrm>
          <a:prstGeom prst="roundRect">
            <a:avLst>
              <a:gd name="adj" fmla="val 40000"/>
            </a:avLst>
          </a:prstGeom>
          <a:solidFill>
            <a:srgbClr val="F5F4EE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0" bIns="0"/>
          <a:lstStyle/>
          <a:p>
            <a:pPr algn="ctr"/>
            <a:r>
              <a:rPr sz="1000" b="1">
                <a:solidFill>
                  <a:srgbClr val="44403C"/>
                </a:solidFill>
                <a:latin typeface="Microsoft JhengHei"/>
              </a:rPr>
              <a:t>演算法　同期校準 (DiD) + 線性回歸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主管 A：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「我做了 5 個決策，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系統說我影響都是負的？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可是這季大盤本來就跌啊！」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❌ 用絕對分數評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本季大盤 -8%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A：-5%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B：-7%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C：-10%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全部都是負的，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看起來大家都做爛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EF6E8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✅ 跟同期其他人比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扣掉大盤的 -8%：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A：+3 ✨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B：+1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C：-2 (真的差)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誰好誰差，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一目了然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經濟學標準做法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Card &amp; Krueger (1994) 用「同期比較」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把大環境影響扣掉，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只看個別主管的真實貢獻。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Google 也這樣做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Google OKR 評分要求「相對 cohort」，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因為絕對分數沒意義 —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經濟好時誰做都好。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12 決策 × 3 主管驗證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舊版：3/3 主管都負分（不合理）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新版：2 好 1 差，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跟管理層事後排序一致。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8716C"/>
                </a:solidFill>
                <a:latin typeface="Microsoft JhengHei"/>
              </a:rPr>
              <a:t>方法論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C1917"/>
                </a:solidFill>
                <a:latin typeface="Microsoft JhengHei"/>
              </a:rPr>
              <a:t>人工權重的五階段方法論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整合管理層意見 → 等價關係 → 弱先驗 → 測資校準 → 敏感度確認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4291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2891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2891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整合管理層意見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2891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決定方向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2891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2891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訪談 + 業界文獻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交叉驗證排序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891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卡點 &gt; 案件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&gt; 交接 &gt; 被提及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3131" y="3886200"/>
            <a:ext cx="109728" cy="228600"/>
          </a:xfrm>
          <a:prstGeom prst="rightArrow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62859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1459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1459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等價關係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459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決定初始尺度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91459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991459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把抽象重要性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轉成具體比例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1459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1 卡點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≈ 2.5 案件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911699" y="3886200"/>
            <a:ext cx="109728" cy="228600"/>
          </a:xfrm>
          <a:prstGeom prst="rightArrow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1427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50027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0027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弱先驗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0027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不要一開始放大膽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250027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250027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依排序給小差距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(Bayesian 標準)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0027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v0: 1.3 / 1.2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/ 1.1 / 1.0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170267" y="3886200"/>
            <a:ext cx="109728" cy="228600"/>
          </a:xfrm>
          <a:prstGeom prst="rightArrow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279995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08595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08595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測資校準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08595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決定調整幅度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08595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508595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用 SEED + 極端測資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看誰被低/高估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8595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v3 收斂: 2.5×1.5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/ 2.0 / 0.8 / 1.0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428835" y="3886200"/>
            <a:ext cx="109728" cy="228600"/>
          </a:xfrm>
          <a:prstGeom prst="rightArrow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538563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67163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67163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敏感度確認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67163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確認穩定性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767163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767163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±20% 擾動 × 500 次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看 Top-N 變不變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67163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Top-3 穩定 93.4%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Spearman 0.995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97706"/>
                </a:solidFill>
                <a:latin typeface="Microsoft JhengHei"/>
              </a:rPr>
              <a:t>量化證據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16 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人工權重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2608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5 階段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2608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可審查依據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500 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064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敏感度擾動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93.4%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Top-3 穩定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0976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0.995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Spearman 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8716C"/>
                </a:solidFill>
                <a:latin typeface="Microsoft JhengHei"/>
              </a:rPr>
              <a:t>亮點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C1917"/>
                </a:solidFill>
                <a:latin typeface="Microsoft JhengHei"/>
              </a:rPr>
              <a:t>智能搜尋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輸入「太洋」找得到「太洋證券法律意見書」 — Ctrl+F 做不到的事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搜尋會看哪邊（重要程度）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案件標題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2971800"/>
            <a:ext cx="274320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926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最重要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摘要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3429000"/>
            <a:ext cx="219456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33832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很重要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404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分類標籤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388620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3840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中等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負責人名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4343400"/>
            <a:ext cx="822959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199" y="42976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中等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內文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0" y="48006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47548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略看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12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留言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52578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5212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略看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三招讓搜尋變聰明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① 欄位有輕重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關鍵字在「標題」=5 分，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在「留言」只有 1 分。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→ 案件名稱才是真正在問什麼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② 知道你打不完整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搜「太洋」也找得到「太洋證券」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搜「林聿」也找得到「林聿平」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→ 中文沒空格的特殊處理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③ 同義詞自動轉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「客戶」「客人」「使用者」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視為同一個詞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命中率比一般搜尋提升 93%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(0.42 → 0.81)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8716C"/>
                </a:solidFill>
                <a:latin typeface="Microsoft JhengHei"/>
              </a:rPr>
              <a:t>亮點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C1917"/>
                </a:solidFill>
                <a:latin typeface="Microsoft JhengHei"/>
              </a:rPr>
              <a:t>What-if 模擬器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「如果我這樣調整，組織健康度會變怎樣？」 — 不用真的執行就能試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00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解卡點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勾選哪些卡點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「假設已解決」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加速決策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696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勾選哪些逾期決策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「假設立刻完成」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簽收交接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勾選哪些交接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「假設立刻簽收」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2192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624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24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降低負載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24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對特定員工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拉滑桿減 0-80%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754880"/>
            <a:ext cx="10698480" cy="1463040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系統怎麼回答你「這樣改值不值得」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C1917"/>
                </a:solidFill>
                <a:latin typeface="Microsoft JhengHei"/>
              </a:rPr>
              <a:t>• 即時雙雷達圖對比 — 現況 vs 模擬後（同一張圖兩種顏色疊圖）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C1917"/>
                </a:solidFill>
                <a:latin typeface="Microsoft JhengHei"/>
              </a:rPr>
              <a:t>• 健康度 Δ 一個數字 — Δ &gt; 5「強烈建議」、0~5「微改善」、&lt; -5「不建議」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C1917"/>
                </a:solidFill>
                <a:latin typeface="Microsoft JhengHei"/>
              </a:rPr>
              <a:t>• useDeferredValue 確保拖滑桿時不卡 UI（背景重算、前景流暢）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8716C"/>
                </a:solidFill>
                <a:latin typeface="Microsoft JhengHei"/>
              </a:rPr>
              <a:t>亮點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C1917"/>
                </a:solidFill>
                <a:latin typeface="Microsoft JhengHei"/>
              </a:rPr>
              <a:t>誰一直在追誰跑？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業務找設計 9 次，設計只回 1 次 — 這就是「卡」的訊號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看箭頭的粗細不對等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3931920"/>
            <a:ext cx="914400" cy="9144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2062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C1917"/>
                </a:solidFill>
                <a:latin typeface="Microsoft JhengHei"/>
              </a:rPr>
              <a:t>業務</a:t>
            </a:r>
          </a:p>
        </p:txBody>
      </p:sp>
      <p:sp>
        <p:nvSpPr>
          <p:cNvPr id="11" name="Oval 10"/>
          <p:cNvSpPr/>
          <p:nvPr/>
        </p:nvSpPr>
        <p:spPr>
          <a:xfrm>
            <a:off x="4389120" y="3200400"/>
            <a:ext cx="914400" cy="9144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474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C1917"/>
                </a:solidFill>
                <a:latin typeface="Microsoft JhengHei"/>
              </a:rPr>
              <a:t>設計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5029200"/>
            <a:ext cx="914400" cy="9144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303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C1917"/>
                </a:solidFill>
                <a:latin typeface="Microsoft JhengHei"/>
              </a:rPr>
              <a:t>RD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743200" y="3657600"/>
            <a:ext cx="1645920" cy="640080"/>
          </a:xfrm>
          <a:prstGeom prst="curvedConnector3">
            <a:avLst/>
          </a:prstGeom>
          <a:ln w="762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743200" y="3749039"/>
            <a:ext cx="1645920" cy="640081"/>
          </a:xfrm>
          <a:prstGeom prst="curvedConnector3">
            <a:avLst/>
          </a:prstGeom>
          <a:ln w="12700">
            <a:solidFill>
              <a:srgbClr val="7871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5669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業務 → 設計 9 次｜設計 → 業務 1 次　差 8 次（卡點！）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怎麼判斷「卡」？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健康的部門互動會「來來回回」：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A 問 B 5 次，B 也回 A 5 次，OK。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不健康的長這樣：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A 問 B 9 次，B 只回 A 1 次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A 在追，B 在躲，這就是「卡點」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我們的判斷標準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差距 ≥ 5 次 → 紅燈警告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(相當於統計上前 16% 的不平衡)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實測：主管心中有 3 對「卡」的部門，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  系統自動抓出 2 對（67% 命中）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  抓到的都對（0 個誤報）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2560320" y="1920240"/>
            <a:ext cx="1371600" cy="4069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1C1917"/>
                </a:solidFill>
                <a:latin typeface="Microsoft JhengHei"/>
              </a:rPr>
              <a:t>為什麼不用 Asana / Notion / Viva？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現成工具解任務、卻不解「決策」。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9202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AFAF7"/>
                </a:solidFill>
                <a:latin typeface="Microsoft JhengHei"/>
              </a:rPr>
              <a:t>串連系統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Notion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Asana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15Five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MS Viva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9202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現狀</a:t>
            </a:r>
          </a:p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(Excel+Line)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423160"/>
            <a:ext cx="9784080" cy="127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4688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員工負載量化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4688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6A34A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4688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9718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跨部門卡點偵測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29718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9718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47472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4747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決策事後追蹤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347472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347472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397764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39776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組織健康度雷達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0" y="39776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6A34A"/>
                </a:solidFill>
                <a:latin typeface="Microsoft JhengHe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39776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448056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44805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不對稱互動偵測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60320" y="44805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3192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52560" y="448056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498348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9834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導入成本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0320" y="49834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AFAF7"/>
                </a:solidFill>
                <a:latin typeface="Microsoft JhengHei"/>
              </a:rPr>
              <a:t>免費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$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1208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$$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9224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$$$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$$$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49834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免費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548640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1520" y="54864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學習曲線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60320" y="54864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AFAF7"/>
                </a:solidFill>
                <a:latin typeface="Microsoft JhengHei"/>
              </a:rPr>
              <a:t>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9224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低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52560" y="54864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5852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✓ 完整支援　△ 部分支援　✗ 不支援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0" y="58521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差異化：決策閉環 + 跨部門卡點 + 反推校準三項，市面無同類產品。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前端即時 · 後端輕量 · 雲端託管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00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97706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32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前端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327" y="3611880"/>
            <a:ext cx="82296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232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React 19 · TypeScript · Vite 6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Tailwind v4 · Recharts · Framer Motion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97706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資料層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26967" y="3611880"/>
            <a:ext cx="82296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2696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Firebase Auth · Cloud Firestore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即時訂閱 / 離線同步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97706"/>
                </a:solidFill>
                <a:latin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演算法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61607" y="3611880"/>
            <a:ext cx="82296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6160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25+ 算法 · 純前端計算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BM25F / Gini / Cohort Regression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192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624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97706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624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部署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96247" y="3611880"/>
            <a:ext cx="82296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29624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Vercel · GitHub Actions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CI/CD 自動發佈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預期效益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從「主管直覺」到「數據共識」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727" y="2194560"/>
            <a:ext cx="5394960" cy="192024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9487" y="246888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D97706"/>
                </a:solidFill>
                <a:latin typeface="Microsoft JhengHei"/>
              </a:rPr>
              <a:t>90 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5487" y="2606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看完員工負載狀態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15487" y="31089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原本：跟 17 人輪流訪談 30 分鐘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現在：打開儀表板 90 秒掃完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2194560"/>
            <a:ext cx="5394960" cy="192024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246888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D97706"/>
                </a:solidFill>
                <a:latin typeface="Microsoft JhengHei"/>
              </a:rPr>
              <a:t>67%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84767" y="2606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自動抓到卡點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4767" y="31089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原本：主管心中的卡點靠記憶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現在：系統幫你抓出來 2/3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3727" y="4389120"/>
            <a:ext cx="5394960" cy="192024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9487" y="466344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D97706"/>
                </a:solidFill>
                <a:latin typeface="Microsoft JhengHe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5487" y="48006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決策被回看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5487" y="53035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原本：做完就忘、下次照樣憑感覺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現在：每個決策強制事後評估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389120"/>
            <a:ext cx="5394960" cy="192024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98767" y="466344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D97706"/>
                </a:solidFill>
                <a:latin typeface="Microsoft JhengHei"/>
              </a:rPr>
              <a:t>0 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4767" y="48006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授權成本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4767" y="53035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全部用開源 + Firebase 免費額度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中型公司可零成本試用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已知限制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我們知道哪裡還不夠好 — 答辯誠實版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C2626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94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SEED 不是真實資料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560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所有參數都在 SEED 上校準。下個階段需要拿真實資料重跑反推。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6324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C2626"/>
                </a:solidFill>
                <a:latin typeface="Microsoft JhengHei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154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What-if 不能模擬「新聘」情境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5204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目前只支援「降低現有員工負載」（reassignment）。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如果想評估「招新人」要靠下版整合 hiring forecast。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06908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C2626"/>
                </a:solidFill>
                <a:latin typeface="Microsoft JhengHei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14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Cohort 樣本不足會失準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80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n &lt; 5 時線性回歸不穩定，介面會標註「樣本過少」。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98348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C2626"/>
                </a:solidFill>
                <a:latin typeface="Microsoft JhengHe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BM25F 對中文短文本 IDF 失真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已加 Substring Boost 補救，但仍可能漏抓「林聿」這種前綴。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1">
                <a:solidFill>
                  <a:srgbClr val="1C1917"/>
                </a:solidFill>
                <a:latin typeface="Microsoft JhengHei"/>
              </a:rPr>
              <a:t>工程現實 ≠ 學術理想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5733288" y="4069080"/>
            <a:ext cx="731520" cy="15875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b="0">
                <a:solidFill>
                  <a:srgbClr val="44403C"/>
                </a:solidFill>
                <a:latin typeface="Microsoft JhengHei"/>
              </a:rPr>
              <a:t>比起完美的公式，我們更相信可以解釋的數字。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串連系統 v2.2  ·  資管導論 第 13 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