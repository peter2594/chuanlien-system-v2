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資訊管理導論 · 期末專案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1A1A1A"/>
                </a:solidFill>
                <a:latin typeface="Microsoft JhengHei"/>
              </a:rPr>
              <a:t>串連系統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Microsoft JhengHei"/>
              </a:rPr>
              <a:t>管理決策支援平台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46320"/>
            <a:ext cx="548640" cy="15875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第 13 組　|　林聿平　組員 A　組員 B　組員 C　組員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40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3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99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75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合作對象與動機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6B6B6B"/>
                </a:solidFill>
                <a:latin typeface="Microsoft JhengHei"/>
              </a:rPr>
              <a:t>與「串聯」中型投資公司實際合作 — 痛點來自 5 位管理層問卷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5486400" cy="41148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合作公司 ──「串聯」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49377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中型投資公司　|　約 17 員工　|　3 業務部門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組織架構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管理層：董事會 / 投資委員會 / 營運會議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投資研究部　7 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業務開發部　6 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資產管理部　4 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經營特性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決策密度高（每週 5-10 件）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跨部門協作頻繁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案件週期長（盡調 → 投決 → 退場）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103120"/>
            <a:ext cx="5394960" cy="41148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合作方式與動機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合作方式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訪談對象：5 位管理層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形式：簡易結構化問卷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範圍：聚焦痛點蒐集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為什麼是「串聯」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投資產業決策密度高、跨部門協作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頻繁，「主管憑直覺管理」的損失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最容易被量化展示。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取得的資訊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三大痛點（負載 / 卡點 / 決策）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組織結構與角色定義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未取得真實營運資料（保密）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面臨問題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5661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9377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三個問題 → 三個模組 → 三張一眼就懂的圖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把分散訊號加總成一個分數，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排出真正最忙的人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76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一條彩色長條圖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376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3 秒看完全部員工狀態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376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8376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經驗百分位 + 時間衰減 + Gini 不均度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276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76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852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852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852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852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六個面向同時體檢，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看哪邊凹下去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852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852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雷達圖 + 待辦清單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7852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業績爛之前先看到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7852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67852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六維加權評分 + 不對稱偵測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0752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0752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328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決策影響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328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328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7328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跟同期其他主管比，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扣掉大環境影響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328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328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主管排行 + 趨勢圖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7328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不再被大盤冤枉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7328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7328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同期校準 (DiD) + 線性回歸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A1A1A"/>
                </a:solidFill>
                <a:latin typeface="Microsoft JhengHei"/>
              </a:rPr>
              <a:t>人工權重的五階段方法論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整合管理層意見 → 等價關係 → 弱先驗 → 測資校準 → 敏感度確認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504291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2891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891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整合管理層意見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891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決定方向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2891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2891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訪談 + 業界文獻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交叉驗證排序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891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卡點 &gt; 案件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&gt; 交接 &gt; 被提及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131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62859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459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1459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等價關係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459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決定初始尺度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91459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91459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把抽象重要性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轉成具體比例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1459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1 卡點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≈ 2.5 案件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11699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1427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0027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027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弱先驗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0027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不要一開始放大膽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0027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50027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依排序給小差距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(Bayesian 標準)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0027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v0: 1.3 / 1.2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/ 1.1 / 1.0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70267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79995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08595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8595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測資校準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8595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決定調整幅度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595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595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用 SEED + 極端測資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看誰被低/高估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5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v3 收斂: 2.5×1.5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/ 2.0 / 0.8 / 1.0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428835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38563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67163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67163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敏感度確認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7163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確認穩定性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7163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67163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±20% 擾動 × 500 次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看 Top-N 變不變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67163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Top-3 穩定 93.4%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Spearman 0.995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67E22"/>
                </a:solidFill>
                <a:latin typeface="Microsoft JhengHei"/>
              </a:rPr>
              <a:t>量化證據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16 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人工權重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5 階段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可審查依據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500 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敏感度擾動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93.4%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Top-3 穩定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0.995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Spearman 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48640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2971800"/>
            <a:ext cx="274320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429000"/>
            <a:ext cx="219456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3886200"/>
            <a:ext cx="109728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4343400"/>
            <a:ext cx="822959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4800600"/>
            <a:ext cx="54864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5257800"/>
            <a:ext cx="54864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194560"/>
            <a:ext cx="521208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關鍵字在「標題」=5 分、「留言」=1 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「客戶」「客人」「使用者」視為同一個詞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0" y="5440680"/>
            <a:ext cx="438912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0" y="55321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67E22"/>
                </a:solidFill>
                <a:latin typeface="Microsoft JhengHei"/>
              </a:rPr>
              <a:t>公式 (簡化版)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8064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A1A1A"/>
                </a:solidFill>
                <a:latin typeface="Consolas"/>
              </a:rPr>
              <a:t>score = Σ wᶠ · IDF · TF / (TF + k₁(1−b+b·dl/avgdl))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60807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欄位加權 × 詞稀有度 × 詞頻飽和 × 長度修正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00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264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728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192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754880"/>
            <a:ext cx="10698480" cy="14630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48640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194560"/>
            <a:ext cx="521208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不健康：A 問 9 次、B 只回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A 在追、B 在躲 = 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判斷標準：差距 ≥ 5 次 → 紅燈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(相當於統計上前 16% 的不平衡)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0" y="5440680"/>
            <a:ext cx="438912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0" y="55321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67E22"/>
                </a:solidFill>
                <a:latin typeface="Microsoft JhengHei"/>
              </a:rPr>
              <a:t>公式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8064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A1A1A"/>
                </a:solidFill>
                <a:latin typeface="Consolas"/>
              </a:rPr>
              <a:t>Δ = (A → B) − (B → A)　|　閾值 = 1σ ≈ 5 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0807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經驗分佈標準差 σ ≈ 4.8 → 取 5 抓 top 16%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1A1A1A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4F1ED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4A6741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4A6741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4F1ED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4F1ED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系統架構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6B6B6B"/>
                </a:solidFill>
                <a:latin typeface="Microsoft JhengHei"/>
              </a:rPr>
              <a:t>三層分離 — 使用者 / 介面 / 演算法 / 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678027" y="2377440"/>
            <a:ext cx="246888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8027" y="2377440"/>
            <a:ext cx="246888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0907" y="24505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8107" y="2450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使用者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6627" y="30175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Microsoft JhengHei"/>
              </a:rPr>
              <a:t>管理層 / 主管 / 員工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" y="365760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三種角色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三種視角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6907" y="3657600"/>
            <a:ext cx="320040" cy="0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466947" y="2377440"/>
            <a:ext cx="246888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6947" y="2377440"/>
            <a:ext cx="246888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49827" y="24505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7027" y="2450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前端介面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5547" y="30175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Microsoft JhengHei"/>
              </a:rPr>
              <a:t>React 19 + 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5547" y="365760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Dashboard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What-if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智能搜尋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35827" y="3657600"/>
            <a:ext cx="320040" cy="0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255867" y="2377440"/>
            <a:ext cx="246888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55867" y="2377440"/>
            <a:ext cx="246888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8747" y="24505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5947" y="2450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演算法層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4467" y="30175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Microsoft JhengHei"/>
              </a:rPr>
              <a:t>純前端計算 · 25+ 演算法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4467" y="365760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BM25F · Gini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Cohort · Time Decay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724747" y="3657600"/>
            <a:ext cx="320040" cy="0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9044787" y="2377440"/>
            <a:ext cx="246888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44787" y="2377440"/>
            <a:ext cx="246888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27667" y="24505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4867" y="2450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資料儲存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3387" y="30175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Microsoft JhengHei"/>
              </a:rPr>
              <a:t>Cloud Firestore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3387" y="365760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即時訂閱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離線同步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8 個 collection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492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資料流：使用者 → 前端 React 介面 → 演算法層即時計算 → Firestore 儲存與訂閱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設計優勢：演算法與資料分離，未來換 DB 或加新演算法都不影響其他模組。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264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192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90 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548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看完員工負載狀態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548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原本：跟 17 人輪流訪談 30 分鐘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現在：打開儀表板 90 秒掃完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19456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476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自動抓到卡點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476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原本：主管心中的卡點靠記憶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現在：系統幫你抓出來 2/3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3727" y="438912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48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548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決策被回看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548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原本：做完就忘、下次照樣憑感覺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現在：每個決策強制事後評估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38912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876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0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476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476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全部用開源 + Firebase 免費額度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中型公司可零成本試用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06324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>
                <a:solidFill>
                  <a:srgbClr val="1A1A1A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733288" y="4069080"/>
            <a:ext cx="731520" cy="15875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3D3D3D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串連系統 v2.2  ·  資管導論 第 13 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